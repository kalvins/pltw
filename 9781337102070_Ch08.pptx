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882" r:id="rId1"/>
  </p:sldMasterIdLst>
  <p:notesMasterIdLst>
    <p:notesMasterId r:id="rId54"/>
  </p:notesMasterIdLst>
  <p:handoutMasterIdLst>
    <p:handoutMasterId r:id="rId55"/>
  </p:handoutMasterIdLst>
  <p:sldIdLst>
    <p:sldId id="923" r:id="rId2"/>
    <p:sldId id="257" r:id="rId3"/>
    <p:sldId id="849" r:id="rId4"/>
    <p:sldId id="859" r:id="rId5"/>
    <p:sldId id="860" r:id="rId6"/>
    <p:sldId id="861" r:id="rId7"/>
    <p:sldId id="850" r:id="rId8"/>
    <p:sldId id="851" r:id="rId9"/>
    <p:sldId id="862" r:id="rId10"/>
    <p:sldId id="884" r:id="rId11"/>
    <p:sldId id="899" r:id="rId12"/>
    <p:sldId id="900" r:id="rId13"/>
    <p:sldId id="901" r:id="rId14"/>
    <p:sldId id="852" r:id="rId15"/>
    <p:sldId id="903" r:id="rId16"/>
    <p:sldId id="919" r:id="rId17"/>
    <p:sldId id="926" r:id="rId18"/>
    <p:sldId id="853" r:id="rId19"/>
    <p:sldId id="886" r:id="rId20"/>
    <p:sldId id="904" r:id="rId21"/>
    <p:sldId id="927" r:id="rId22"/>
    <p:sldId id="928" r:id="rId23"/>
    <p:sldId id="887" r:id="rId24"/>
    <p:sldId id="905" r:id="rId25"/>
    <p:sldId id="920" r:id="rId26"/>
    <p:sldId id="921" r:id="rId27"/>
    <p:sldId id="885" r:id="rId28"/>
    <p:sldId id="929" r:id="rId29"/>
    <p:sldId id="906" r:id="rId30"/>
    <p:sldId id="854" r:id="rId31"/>
    <p:sldId id="922" r:id="rId32"/>
    <p:sldId id="924" r:id="rId33"/>
    <p:sldId id="930" r:id="rId34"/>
    <p:sldId id="855" r:id="rId35"/>
    <p:sldId id="907" r:id="rId36"/>
    <p:sldId id="909" r:id="rId37"/>
    <p:sldId id="910" r:id="rId38"/>
    <p:sldId id="931" r:id="rId39"/>
    <p:sldId id="912" r:id="rId40"/>
    <p:sldId id="913" r:id="rId41"/>
    <p:sldId id="932" r:id="rId42"/>
    <p:sldId id="933" r:id="rId43"/>
    <p:sldId id="863" r:id="rId44"/>
    <p:sldId id="914" r:id="rId45"/>
    <p:sldId id="915" r:id="rId46"/>
    <p:sldId id="916" r:id="rId47"/>
    <p:sldId id="893" r:id="rId48"/>
    <p:sldId id="857" r:id="rId49"/>
    <p:sldId id="918" r:id="rId50"/>
    <p:sldId id="848" r:id="rId51"/>
    <p:sldId id="898" r:id="rId52"/>
    <p:sldId id="925" r:id="rId5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3300"/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0" autoAdjust="0"/>
    <p:restoredTop sz="94500" autoAdjust="0"/>
  </p:normalViewPr>
  <p:slideViewPr>
    <p:cSldViewPr>
      <p:cViewPr varScale="1">
        <p:scale>
          <a:sx n="87" d="100"/>
          <a:sy n="87" d="100"/>
        </p:scale>
        <p:origin x="131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252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fld id="{6BA85960-FF8D-4966-AFCE-76588880AEA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9300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fld id="{E117145D-B78F-4F40-B0E2-55542D9A63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000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53ABD-6A60-42B9-BFED-40EF7C91BC9B}" type="slidenum">
              <a:rPr lang="en-US" smtClean="0"/>
              <a:pPr>
                <a:defRPr/>
              </a:pPr>
              <a:t>2</a:t>
            </a:fld>
            <a:endParaRPr lang="en-US" dirty="0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396608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AC90A4-38AA-460A-AE59-E4EBB584B382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749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90946B-D037-4EE6-9007-A953BC9EBBE8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32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0DD6110-8DEF-4536-A8A8-A7351812BA08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649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ECACEA-3A71-4EFB-BC72-F34E4F8071A8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80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102A0A-9B1B-495B-A692-1695563020A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83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25BC65-E4DC-4A7A-9E3C-EF3B6F53141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183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674518-B63F-483F-BAA6-38E6FC3F0F6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739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674518-B63F-483F-BAA6-38E6FC3F0F6C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151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674518-B63F-483F-BAA6-38E6FC3F0F6C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14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674518-B63F-483F-BAA6-38E6FC3F0F6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118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674518-B63F-483F-BAA6-38E6FC3F0F6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619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B2787E-ED7D-4431-A83A-4827CDD953DD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0842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B2787E-ED7D-4431-A83A-4827CDD953DD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950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674518-B63F-483F-BAA6-38E6FC3F0F6C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3582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674518-B63F-483F-BAA6-38E6FC3F0F6C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344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8D6E9C-B7C7-43B9-93A3-6460897D1EC2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3859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8D6E9C-B7C7-43B9-93A3-6460897D1EC2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5601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8D6E9C-B7C7-43B9-93A3-6460897D1EC2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145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8D6E9C-B7C7-43B9-93A3-6460897D1EC2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0389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8D6E9C-B7C7-43B9-93A3-6460897D1EC2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1180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8D6E9C-B7C7-43B9-93A3-6460897D1EC2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0119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8D6E9C-B7C7-43B9-93A3-6460897D1EC2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3514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8D6E9C-B7C7-43B9-93A3-6460897D1EC2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3590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8D6E9C-B7C7-43B9-93A3-6460897D1EC2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2923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8D6E9C-B7C7-43B9-93A3-6460897D1EC2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5581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8D6E9C-B7C7-43B9-93A3-6460897D1EC2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4030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8D6E9C-B7C7-43B9-93A3-6460897D1EC2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608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8FD64B0-96AF-4CB5-992A-45FE8538DD2A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245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8FD64B0-96AF-4CB5-992A-45FE8538DD2A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3046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8FD64B0-96AF-4CB5-992A-45FE8538DD2A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1761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8FD64B0-96AF-4CB5-992A-45FE8538DD2A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5903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84AD86-3E7B-41A0-98A6-192380ADB5F9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8942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84AD86-3E7B-41A0-98A6-192380ADB5F9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8272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84AD86-3E7B-41A0-98A6-192380ADB5F9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9598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84AD86-3E7B-41A0-98A6-192380ADB5F9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4450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84AD86-3E7B-41A0-98A6-192380ADB5F9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0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84AD86-3E7B-41A0-98A6-192380ADB5F9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8502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84AD86-3E7B-41A0-98A6-192380ADB5F9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8501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84AD86-3E7B-41A0-98A6-192380ADB5F9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5307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84AD86-3E7B-41A0-98A6-192380ADB5F9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2179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9F6B53-D6F0-44D4-8768-FA29330C4FD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1077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9F6B53-D6F0-44D4-8768-FA29330C4FD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1926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9F6B53-D6F0-44D4-8768-FA29330C4FDC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72395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9F6B53-D6F0-44D4-8768-FA29330C4FDC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31784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8D6E9C-B7C7-43B9-93A3-6460897D1EC2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58830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6A2AE2-2D03-47C4-BF09-3CC560EBA9C3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12478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6A2AE2-2D03-47C4-BF09-3CC560EBA9C3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768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3558A4-A535-4BE3-9B93-309853BEE120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18783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3558A4-A535-4BE3-9B93-309853BEE120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0642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3558A4-A535-4BE3-9B93-309853BEE120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329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163"/>
            <a:ext cx="9144000" cy="290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968625"/>
            <a:ext cx="7772400" cy="1470025"/>
          </a:xfrm>
        </p:spPr>
        <p:txBody>
          <a:bodyPr/>
          <a:lstStyle>
            <a:lvl1pPr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7244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0AF05-15F3-48AB-A909-437515DB97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4D9CCC-5717-4F7A-8350-CCDF597FD5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1D191-2F63-47D7-B430-7050E83CCD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B6C1F-85BA-43D0-8199-249FC72844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54F68-CA65-421A-9FB3-B6B76451E6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A9A62B-65AC-4837-8A2D-56C9A4CD63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BA6C7-BA7F-48F1-B3AE-EF81C61B39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F07C1-47FC-4251-AEF7-899AC023328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40A4A9-46CC-49A6-8980-AEC2300E98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AA3C1D-55C6-40AA-B1E0-05265743EB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DECOLORED2.jpg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1DB0802-8C73-4FE0-B249-A6FB9C5E4C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556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dirty="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05" r:id="rId1"/>
    <p:sldLayoutId id="2147484906" r:id="rId2"/>
    <p:sldLayoutId id="2147484907" r:id="rId3"/>
    <p:sldLayoutId id="2147484908" r:id="rId4"/>
    <p:sldLayoutId id="2147484909" r:id="rId5"/>
    <p:sldLayoutId id="2147484910" r:id="rId6"/>
    <p:sldLayoutId id="2147484911" r:id="rId7"/>
    <p:sldLayoutId id="2147484912" r:id="rId8"/>
    <p:sldLayoutId id="2147484913" r:id="rId9"/>
    <p:sldLayoutId id="2147484914" r:id="rId10"/>
    <p:sldLayoutId id="2147484915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rgbClr val="558ED5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986" y="608807"/>
            <a:ext cx="8229600" cy="1143000"/>
          </a:xfrm>
        </p:spPr>
        <p:txBody>
          <a:bodyPr/>
          <a:lstStyle/>
          <a:p>
            <a:r>
              <a:rPr lang="en-US" b="1" dirty="0"/>
              <a:t>Programming Logic and Design</a:t>
            </a:r>
            <a:br>
              <a:rPr lang="en-US" b="1" dirty="0"/>
            </a:br>
            <a:r>
              <a:rPr lang="en-US" b="1" i="1" dirty="0"/>
              <a:t>Ninth Edition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687763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en-US" sz="3400" i="1" dirty="0"/>
              <a:t>Chapter </a:t>
            </a:r>
            <a:r>
              <a:rPr lang="en-US" sz="3400" i="1" dirty="0" smtClean="0"/>
              <a:t>8</a:t>
            </a:r>
          </a:p>
          <a:p>
            <a:pPr marL="0" indent="0" algn="ctr">
              <a:buNone/>
              <a:defRPr/>
            </a:pPr>
            <a:r>
              <a:rPr lang="en-US" sz="3200" i="1" dirty="0"/>
              <a:t>Advanced Data Handling Concepts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66439E-C25C-4026-841B-CBBDFA57E0D0}" type="slidenum">
              <a:rPr lang="en-US">
                <a:solidFill>
                  <a:srgbClr val="F79646">
                    <a:lumMod val="75000"/>
                  </a:srgbClr>
                </a:solidFill>
              </a:rPr>
              <a:pPr>
                <a:defRPr/>
              </a:pPr>
              <a:t>1</a:t>
            </a:fld>
            <a:endParaRPr lang="en-US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79646">
                    <a:lumMod val="75000"/>
                  </a:srgbClr>
                </a:solidFill>
              </a:rPr>
              <a:t>Programming Logic and Design, Ninth Edition</a:t>
            </a:r>
          </a:p>
        </p:txBody>
      </p:sp>
    </p:spTree>
    <p:extLst>
      <p:ext uri="{BB962C8B-B14F-4D97-AF65-F5344CB8AC3E}">
        <p14:creationId xmlns:p14="http://schemas.microsoft.com/office/powerpoint/2010/main" val="278654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 smtClean="0"/>
              <a:t>In this chapter, you will learn about:</a:t>
            </a:r>
          </a:p>
          <a:p>
            <a:r>
              <a:rPr lang="en-US" dirty="0" smtClean="0"/>
              <a:t>The need for sorting data</a:t>
            </a:r>
          </a:p>
          <a:p>
            <a:r>
              <a:rPr lang="en-US" dirty="0" smtClean="0"/>
              <a:t>The bubble sort algorithm</a:t>
            </a:r>
          </a:p>
          <a:p>
            <a:r>
              <a:rPr lang="en-US" dirty="0" smtClean="0"/>
              <a:t>Sorting multifield records</a:t>
            </a:r>
          </a:p>
          <a:p>
            <a:r>
              <a:rPr lang="en-US" dirty="0"/>
              <a:t>The </a:t>
            </a:r>
            <a:r>
              <a:rPr lang="en-US" dirty="0" smtClean="0"/>
              <a:t>insertion sort </a:t>
            </a:r>
            <a:r>
              <a:rPr lang="en-US" dirty="0"/>
              <a:t>algorithm</a:t>
            </a:r>
          </a:p>
          <a:p>
            <a:r>
              <a:rPr lang="en-US" dirty="0" smtClean="0"/>
              <a:t>Multidimensional arrays</a:t>
            </a:r>
          </a:p>
          <a:p>
            <a:r>
              <a:rPr lang="en-US" dirty="0" smtClean="0"/>
              <a:t>Indexed files and 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E4EE77-6894-4CDC-8ADF-1ABB424DE40D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Understanding the Need for Sorting Data</a:t>
            </a:r>
          </a:p>
        </p:txBody>
      </p:sp>
      <p:sp>
        <p:nvSpPr>
          <p:cNvPr id="15363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Sequential order</a:t>
            </a:r>
          </a:p>
          <a:p>
            <a:pPr lvl="1"/>
            <a:r>
              <a:rPr lang="en-US" dirty="0" smtClean="0"/>
              <a:t>Placed in order based on the value of some field</a:t>
            </a:r>
          </a:p>
          <a:p>
            <a:pPr lvl="2"/>
            <a:r>
              <a:rPr lang="en-US" dirty="0" smtClean="0"/>
              <a:t>Alphabetical or numerical</a:t>
            </a:r>
          </a:p>
          <a:p>
            <a:pPr lvl="1"/>
            <a:r>
              <a:rPr lang="en-US" dirty="0" smtClean="0"/>
              <a:t>Ascending order (arranging records from A to Z </a:t>
            </a:r>
            <a:r>
              <a:rPr lang="en-US" dirty="0"/>
              <a:t>or lowest to </a:t>
            </a:r>
            <a:r>
              <a:rPr lang="en-US" dirty="0" smtClean="0"/>
              <a:t>highest)</a:t>
            </a:r>
          </a:p>
          <a:p>
            <a:pPr lvl="1"/>
            <a:r>
              <a:rPr lang="en-US" dirty="0" smtClean="0"/>
              <a:t>Descending order (arranging records from Z to A or highest to lowest)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median </a:t>
            </a:r>
            <a:r>
              <a:rPr lang="en-US" dirty="0"/>
              <a:t>value in a list is the value of the middle item when the values are listed in </a:t>
            </a:r>
            <a:r>
              <a:rPr lang="en-US" dirty="0" smtClean="0"/>
              <a:t>order</a:t>
            </a:r>
          </a:p>
          <a:p>
            <a:pPr lvl="2"/>
            <a:r>
              <a:rPr lang="en-US" sz="2200" dirty="0"/>
              <a:t>not the same as the arithmetic average, or </a:t>
            </a:r>
            <a:r>
              <a:rPr lang="en-US" sz="2200" b="1" dirty="0"/>
              <a:t>mean</a:t>
            </a:r>
            <a:endParaRPr lang="en-US" sz="2200" dirty="0" smtClean="0"/>
          </a:p>
          <a:p>
            <a:pPr marL="457200" lvl="1" indent="0">
              <a:buNone/>
            </a:pPr>
            <a:r>
              <a:rPr lang="en-US" dirty="0" smtClean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FF3DDB-446B-4377-9E15-215A09987F85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Need for Sorting </a:t>
            </a:r>
            <a:r>
              <a:rPr lang="en-US" dirty="0" smtClean="0"/>
              <a:t>Data </a:t>
            </a:r>
            <a:r>
              <a:rPr lang="en-US" sz="1200" dirty="0" smtClean="0"/>
              <a:t>(</a:t>
            </a:r>
            <a:r>
              <a:rPr lang="en-US" sz="1200" dirty="0" smtClean="0"/>
              <a:t>continued -1)</a:t>
            </a:r>
            <a:endParaRPr lang="en-US" sz="1200" dirty="0" smtClean="0"/>
          </a:p>
        </p:txBody>
      </p:sp>
      <p:sp>
        <p:nvSpPr>
          <p:cNvPr id="16387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computers sort data</a:t>
            </a:r>
          </a:p>
          <a:p>
            <a:pPr lvl="1"/>
            <a:r>
              <a:rPr lang="en-US" dirty="0"/>
              <a:t>Always use numeric values when making comparisons between values</a:t>
            </a:r>
          </a:p>
          <a:p>
            <a:pPr lvl="1"/>
            <a:r>
              <a:rPr lang="en-US" dirty="0" smtClean="0"/>
              <a:t>Letters are translated into numbers using coding schemes such as ASCII, Unicode, or EBCDIC </a:t>
            </a:r>
            <a:endParaRPr lang="en-US" dirty="0"/>
          </a:p>
          <a:p>
            <a:pPr lvl="2"/>
            <a:r>
              <a:rPr lang="en-US" dirty="0"/>
              <a:t>“B” is numerically one greater than “A”</a:t>
            </a:r>
          </a:p>
          <a:p>
            <a:pPr lvl="2"/>
            <a:r>
              <a:rPr lang="en-US" dirty="0"/>
              <a:t>“y” is numerically one less than “z”</a:t>
            </a:r>
          </a:p>
          <a:p>
            <a:pPr lvl="1"/>
            <a:r>
              <a:rPr lang="en-US" dirty="0"/>
              <a:t>Whether “A” is represented by a number that is greater or smaller than the number representing “</a:t>
            </a:r>
            <a:r>
              <a:rPr lang="en-US" dirty="0" smtClean="0"/>
              <a:t>a” depends </a:t>
            </a:r>
            <a:r>
              <a:rPr lang="en-US" dirty="0"/>
              <a:t>on your system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22460D-90BC-48C1-BDD5-455A774800A3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Need for Sorting Data </a:t>
            </a:r>
            <a:r>
              <a:rPr lang="en-US" sz="1200" dirty="0"/>
              <a:t>(</a:t>
            </a:r>
            <a:r>
              <a:rPr lang="en-US" sz="1200" dirty="0" smtClean="0"/>
              <a:t>continued -2)</a:t>
            </a:r>
            <a:endParaRPr lang="en-US" sz="1200" dirty="0" smtClean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Professional </a:t>
            </a:r>
            <a:r>
              <a:rPr lang="en-US" dirty="0" smtClean="0"/>
              <a:t>programmers might </a:t>
            </a:r>
            <a:r>
              <a:rPr lang="en-US" dirty="0"/>
              <a:t>never have to write a program that sorts data</a:t>
            </a:r>
          </a:p>
          <a:p>
            <a:pPr lvl="1"/>
            <a:r>
              <a:rPr lang="en-US" dirty="0"/>
              <a:t>Organizations </a:t>
            </a:r>
            <a:r>
              <a:rPr lang="en-US" dirty="0" smtClean="0"/>
              <a:t>can purchase </a:t>
            </a:r>
            <a:r>
              <a:rPr lang="en-US" dirty="0"/>
              <a:t>prewritten sorting programs</a:t>
            </a:r>
          </a:p>
          <a:p>
            <a:pPr lvl="1"/>
            <a:r>
              <a:rPr lang="en-US" dirty="0"/>
              <a:t>Many popular language compilers come with built-in methods that can sort data for you</a:t>
            </a:r>
          </a:p>
          <a:p>
            <a:r>
              <a:rPr lang="en-US" dirty="0"/>
              <a:t>Beneficial to understand the sorting process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11938A-5CE3-496C-AE15-A335223BA717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the Bubble Sort Algorithm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 smtClean="0"/>
              <a:t>algorithm </a:t>
            </a:r>
            <a:r>
              <a:rPr lang="en-US" dirty="0"/>
              <a:t>is a list of instructions that accomplish a </a:t>
            </a:r>
            <a:r>
              <a:rPr lang="en-US" dirty="0" smtClean="0"/>
              <a:t>task, such as a sort</a:t>
            </a:r>
            <a:endParaRPr lang="en-US" b="1" dirty="0"/>
          </a:p>
          <a:p>
            <a:r>
              <a:rPr lang="en-US" b="1" dirty="0" smtClean="0"/>
              <a:t>Bubble </a:t>
            </a:r>
            <a:r>
              <a:rPr lang="en-US" b="1" dirty="0" smtClean="0"/>
              <a:t>sort</a:t>
            </a:r>
          </a:p>
          <a:p>
            <a:pPr lvl="1"/>
            <a:r>
              <a:rPr lang="en-US" dirty="0" smtClean="0"/>
              <a:t>Items in a list are compared with each other in pairs</a:t>
            </a:r>
          </a:p>
          <a:p>
            <a:pPr lvl="1"/>
            <a:r>
              <a:rPr lang="en-US" dirty="0" smtClean="0"/>
              <a:t>Items are then swapped based on which is larger or smaller</a:t>
            </a:r>
          </a:p>
          <a:p>
            <a:pPr lvl="1"/>
            <a:r>
              <a:rPr lang="en-US" dirty="0" smtClean="0"/>
              <a:t>Sometimes called a sinking sort</a:t>
            </a:r>
          </a:p>
          <a:p>
            <a:pPr lvl="2"/>
            <a:r>
              <a:rPr lang="en-US" dirty="0" smtClean="0"/>
              <a:t>Ascending </a:t>
            </a:r>
            <a:r>
              <a:rPr lang="en-US" dirty="0"/>
              <a:t>sorts put </a:t>
            </a:r>
            <a:r>
              <a:rPr lang="en-US" dirty="0" smtClean="0"/>
              <a:t>the </a:t>
            </a:r>
            <a:r>
              <a:rPr lang="en-US" dirty="0"/>
              <a:t>smaller item on top so </a:t>
            </a:r>
            <a:r>
              <a:rPr lang="en-US" dirty="0" smtClean="0"/>
              <a:t>the largest </a:t>
            </a:r>
            <a:r>
              <a:rPr lang="en-US" dirty="0"/>
              <a:t>item sinks to the bottom</a:t>
            </a:r>
          </a:p>
          <a:p>
            <a:pPr lvl="2"/>
            <a:r>
              <a:rPr lang="en-US" dirty="0"/>
              <a:t>Descending sorts put the </a:t>
            </a:r>
            <a:r>
              <a:rPr lang="en-US" dirty="0" smtClean="0"/>
              <a:t>larger item </a:t>
            </a:r>
            <a:r>
              <a:rPr lang="en-US" dirty="0"/>
              <a:t>on top so </a:t>
            </a:r>
            <a:r>
              <a:rPr lang="en-US" dirty="0" smtClean="0"/>
              <a:t>the smallest item </a:t>
            </a:r>
            <a:r>
              <a:rPr lang="en-US" dirty="0"/>
              <a:t>sinks to the </a:t>
            </a:r>
            <a:r>
              <a:rPr lang="en-US" dirty="0" smtClean="0"/>
              <a:t>bottom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8E112E-0EE9-4EBD-95CB-B5BDEC86FD54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Understanding Swapping Values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457200" y="1600201"/>
            <a:ext cx="80772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To </a:t>
            </a:r>
            <a:r>
              <a:rPr lang="en-US" b="1" dirty="0" smtClean="0"/>
              <a:t>swap </a:t>
            </a:r>
            <a:r>
              <a:rPr lang="en-US" b="1" dirty="0"/>
              <a:t>values </a:t>
            </a:r>
            <a:r>
              <a:rPr lang="en-US" dirty="0"/>
              <a:t>stored in two </a:t>
            </a:r>
            <a:r>
              <a:rPr lang="en-US" dirty="0" smtClean="0"/>
              <a:t>variables:</a:t>
            </a:r>
            <a:endParaRPr lang="en-US" dirty="0"/>
          </a:p>
          <a:p>
            <a:pPr lvl="1"/>
            <a:r>
              <a:rPr lang="en-US" dirty="0"/>
              <a:t>Exchange their values</a:t>
            </a:r>
          </a:p>
          <a:p>
            <a:pPr lvl="1"/>
            <a:r>
              <a:rPr lang="en-US" dirty="0"/>
              <a:t>Set the first variable equal to the value of the second</a:t>
            </a:r>
          </a:p>
          <a:p>
            <a:pPr lvl="1"/>
            <a:r>
              <a:rPr lang="en-US" dirty="0"/>
              <a:t>Set the second variable equal to the value of the first</a:t>
            </a:r>
          </a:p>
          <a:p>
            <a:r>
              <a:rPr lang="en-US" dirty="0"/>
              <a:t>There is a trick to swapping any two </a:t>
            </a:r>
            <a:r>
              <a:rPr lang="en-US" dirty="0" smtClean="0"/>
              <a:t>values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F2168F-10EC-43A2-9B98-69FC96EC86C8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Swapping </a:t>
            </a:r>
            <a:r>
              <a:rPr lang="en-US" dirty="0" smtClean="0"/>
              <a:t>Values </a:t>
            </a:r>
            <a:r>
              <a:rPr lang="en-US" sz="1200" dirty="0" smtClean="0"/>
              <a:t>(</a:t>
            </a:r>
            <a:r>
              <a:rPr lang="en-US" sz="1200" dirty="0" smtClean="0"/>
              <a:t>continued -1)</a:t>
            </a:r>
            <a:endParaRPr lang="en-US" sz="1200" dirty="0" smtClean="0"/>
          </a:p>
        </p:txBody>
      </p:sp>
      <p:sp>
        <p:nvSpPr>
          <p:cNvPr id="20483" name="Content Placeholder 8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00600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cs typeface="Times New Roman" pitchFamily="18" charset="0"/>
              </a:rPr>
              <a:t>Example</a:t>
            </a:r>
            <a:endParaRPr lang="en-US" dirty="0">
              <a:cs typeface="Times New Roman" pitchFamily="18" charset="0"/>
            </a:endParaRP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num score1 = 90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num score2 =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85</a:t>
            </a:r>
          </a:p>
          <a:p>
            <a:r>
              <a:rPr lang="en-US" dirty="0"/>
              <a:t>This is what could go </a:t>
            </a:r>
            <a:r>
              <a:rPr lang="en-US" dirty="0" smtClean="0"/>
              <a:t>wrong</a:t>
            </a:r>
            <a:endParaRPr lang="en-US" dirty="0"/>
          </a:p>
          <a:p>
            <a:pPr lvl="1"/>
            <a:r>
              <a:rPr lang="en-US" dirty="0" smtClean="0"/>
              <a:t>If you first </a:t>
            </a:r>
            <a:r>
              <a:rPr lang="en-US" dirty="0"/>
              <a:t>assign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score1</a:t>
            </a:r>
            <a:r>
              <a:rPr lang="en-US" dirty="0"/>
              <a:t> to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score2</a:t>
            </a:r>
            <a:r>
              <a:rPr lang="en-US" dirty="0"/>
              <a:t> using a statement such as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score2 = score1</a:t>
            </a:r>
          </a:p>
          <a:p>
            <a:pPr lvl="1"/>
            <a:r>
              <a:rPr lang="en-US" dirty="0"/>
              <a:t>Both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score1</a:t>
            </a:r>
            <a:r>
              <a:rPr lang="en-US" dirty="0"/>
              <a:t> and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score2</a:t>
            </a:r>
            <a:r>
              <a:rPr lang="en-US" dirty="0"/>
              <a:t> hold 90, and the value 85 is lost</a:t>
            </a:r>
          </a:p>
          <a:p>
            <a:r>
              <a:rPr lang="en-US" dirty="0"/>
              <a:t>Must create a temporary variable to hold one of the </a:t>
            </a:r>
            <a:r>
              <a:rPr lang="en-US" dirty="0" smtClean="0"/>
              <a:t>scores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temp =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score2 </a:t>
            </a:r>
            <a:r>
              <a:rPr lang="en-US" dirty="0" smtClean="0">
                <a:latin typeface="Calibri" pitchFamily="34" charset="0"/>
                <a:cs typeface="Courier New" pitchFamily="49" charset="0"/>
              </a:rPr>
              <a:t>(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temp</a:t>
            </a:r>
            <a:r>
              <a:rPr lang="en-US" dirty="0" smtClean="0">
                <a:latin typeface="Calibri" pitchFamily="34" charset="0"/>
                <a:cs typeface="Courier New" pitchFamily="49" charset="0"/>
              </a:rPr>
              <a:t> and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score2</a:t>
            </a:r>
            <a:r>
              <a:rPr lang="en-US" dirty="0" smtClean="0">
                <a:latin typeface="Calibri" pitchFamily="34" charset="0"/>
                <a:cs typeface="Courier New" pitchFamily="49" charset="0"/>
              </a:rPr>
              <a:t> both contain 85)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score2 = score1 </a:t>
            </a:r>
            <a:r>
              <a:rPr lang="en-US" dirty="0" smtClean="0">
                <a:cs typeface="Courier New" pitchFamily="49" charset="0"/>
              </a:rPr>
              <a:t>(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score2</a:t>
            </a:r>
            <a:r>
              <a:rPr lang="en-US" dirty="0" smtClean="0">
                <a:cs typeface="Courier New" pitchFamily="49" charset="0"/>
              </a:rPr>
              <a:t> contains 90)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core1 = temp </a:t>
            </a:r>
            <a:r>
              <a:rPr lang="en-US" dirty="0" smtClean="0">
                <a:cs typeface="Courier New" pitchFamily="49" charset="0"/>
              </a:rPr>
              <a:t>(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score1</a:t>
            </a:r>
            <a:r>
              <a:rPr lang="en-US" dirty="0" smtClean="0">
                <a:cs typeface="Courier New" pitchFamily="49" charset="0"/>
              </a:rPr>
              <a:t> contains 85)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E52F616-281A-422F-9E0A-E5698A0F5EF9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Understanding Swapping </a:t>
            </a:r>
            <a:r>
              <a:rPr lang="en-US" dirty="0" smtClean="0"/>
              <a:t>Values </a:t>
            </a:r>
            <a:r>
              <a:rPr lang="en-US" sz="1200" dirty="0" smtClean="0"/>
              <a:t>(</a:t>
            </a:r>
            <a:r>
              <a:rPr lang="en-US" sz="1200" dirty="0" smtClean="0"/>
              <a:t>continued -2)</a:t>
            </a:r>
            <a:endParaRPr lang="en-US" sz="1200" dirty="0" smtClean="0"/>
          </a:p>
        </p:txBody>
      </p:sp>
      <p:pic>
        <p:nvPicPr>
          <p:cNvPr id="2" name="Picture 1" descr="Swap two values by assigning variable score1 to variable temp, assigning  variable score2 to  variable score1, and finally assigning temp to score2." title="Program segment that swaps two value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271" y="1508798"/>
            <a:ext cx="4863457" cy="483076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32C77F-D9E8-43AF-A4DA-A5EE479625DE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 smtClean="0"/>
              <a:t>the Bubble Sort</a:t>
            </a:r>
          </a:p>
        </p:txBody>
      </p:sp>
      <p:pic>
        <p:nvPicPr>
          <p:cNvPr id="2" name="Picture 1" descr="A constant is declared to hold an array’s size, and then the array is&#10;declared to hold five scores. The program calls three main procedures—one to input the five scores, one to sort them, and the final one to&#10;display the sorted result." title="Mainline logic for program that accepts, sorts, and displays score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816" y="1434844"/>
            <a:ext cx="4808368" cy="492150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32C77F-D9E8-43AF-A4DA-A5EE479625DE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140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 smtClean="0"/>
              <a:t>the Bubble Sort </a:t>
            </a:r>
            <a:r>
              <a:rPr lang="en-US" sz="1200" dirty="0" smtClean="0"/>
              <a:t>(</a:t>
            </a:r>
            <a:r>
              <a:rPr lang="en-US" sz="1200" dirty="0" smtClean="0"/>
              <a:t>continued -1)</a:t>
            </a:r>
            <a:endParaRPr lang="en-US" sz="1200" dirty="0" smtClean="0"/>
          </a:p>
        </p:txBody>
      </p:sp>
      <p:pic>
        <p:nvPicPr>
          <p:cNvPr id="2" name="Picture 1" descr="Within the fillArray method, a subscript, x, is initialized to 0 and each array element is filled in turn. After a user enters five scores, control returns&#10;to the main program." title="The fillArray metho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610" y="1417638"/>
            <a:ext cx="5478780" cy="484342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32C77F-D9E8-43AF-A4DA-A5EE479625DE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343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 smtClean="0"/>
              <a:t>the Bubble Sort </a:t>
            </a:r>
            <a:r>
              <a:rPr lang="en-US" sz="1200" dirty="0" smtClean="0"/>
              <a:t>(</a:t>
            </a:r>
            <a:r>
              <a:rPr lang="en-US" sz="1200" dirty="0" smtClean="0"/>
              <a:t>continued -2)</a:t>
            </a:r>
            <a:endParaRPr lang="en-US" sz="1200" dirty="0" smtClean="0"/>
          </a:p>
        </p:txBody>
      </p:sp>
      <p:pic>
        <p:nvPicPr>
          <p:cNvPr id="2" name="Picture 1" descr="Each element in the array is compared to the element that follows it. " title="The incomplete sortArray metho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910" y="1624684"/>
            <a:ext cx="4488180" cy="457869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32C77F-D9E8-43AF-A4DA-A5EE479625DE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84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 smtClean="0"/>
              <a:t>the Bubble Sort </a:t>
            </a:r>
            <a:r>
              <a:rPr lang="en-US" sz="1200" dirty="0" smtClean="0"/>
              <a:t>(</a:t>
            </a:r>
            <a:r>
              <a:rPr lang="en-US" sz="1200" dirty="0" smtClean="0"/>
              <a:t>continued -3)</a:t>
            </a:r>
            <a:endParaRPr lang="en-US" sz="1200" dirty="0" smtClean="0"/>
          </a:p>
        </p:txBody>
      </p:sp>
      <p:pic>
        <p:nvPicPr>
          <p:cNvPr id="2" name="Picture 1" descr="For an ascending sort, you need to perform the swap method whenever any given element of the scores array has a value greater than the next element." title="The swap metho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436" y="1439672"/>
            <a:ext cx="5977127" cy="381732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32C77F-D9E8-43AF-A4DA-A5EE479625DE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80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 smtClean="0"/>
              <a:t>the Bubble Sort </a:t>
            </a:r>
            <a:r>
              <a:rPr lang="en-US" sz="1200" dirty="0" smtClean="0"/>
              <a:t>(</a:t>
            </a:r>
            <a:r>
              <a:rPr lang="en-US" sz="1200" dirty="0" smtClean="0"/>
              <a:t>continued -4)</a:t>
            </a:r>
            <a:endParaRPr lang="en-US" sz="1200" dirty="0" smtClean="0"/>
          </a:p>
        </p:txBody>
      </p:sp>
      <p:sp>
        <p:nvSpPr>
          <p:cNvPr id="22531" name="Content Placeholder 8"/>
          <p:cNvSpPr>
            <a:spLocks noGrp="1"/>
          </p:cNvSpPr>
          <p:nvPr>
            <p:ph idx="1"/>
          </p:nvPr>
        </p:nvSpPr>
        <p:spPr>
          <a:xfrm>
            <a:off x="914400" y="1659835"/>
            <a:ext cx="2895600" cy="2090530"/>
          </a:xfrm>
        </p:spPr>
        <p:txBody>
          <a:bodyPr/>
          <a:lstStyle/>
          <a:p>
            <a:r>
              <a:rPr lang="en-US" sz="1800" dirty="0" smtClean="0"/>
              <a:t>Initial list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score[0] = 90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score[1] = 85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score[2] = 65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score[3] = 95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score[4] = 75</a:t>
            </a:r>
          </a:p>
        </p:txBody>
      </p:sp>
      <p:sp>
        <p:nvSpPr>
          <p:cNvPr id="8" name="Content Placeholder 8"/>
          <p:cNvSpPr txBox="1">
            <a:spLocks/>
          </p:cNvSpPr>
          <p:nvPr/>
        </p:nvSpPr>
        <p:spPr bwMode="auto">
          <a:xfrm>
            <a:off x="4724400" y="1676400"/>
            <a:ext cx="3886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85 and 90 are switched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score[0] = 85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score[1] = 90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score[2] = 65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score[3] = 95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score[4] = 75</a:t>
            </a:r>
          </a:p>
        </p:txBody>
      </p:sp>
      <p:sp>
        <p:nvSpPr>
          <p:cNvPr id="10" name="Content Placeholder 8"/>
          <p:cNvSpPr txBox="1">
            <a:spLocks/>
          </p:cNvSpPr>
          <p:nvPr/>
        </p:nvSpPr>
        <p:spPr bwMode="auto">
          <a:xfrm>
            <a:off x="914400" y="4038600"/>
            <a:ext cx="3149048" cy="2090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90 and 65 are switched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score[0] = 85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score[1] = 65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score[2] = 90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score[3] = 95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score[4] = 75</a:t>
            </a:r>
          </a:p>
        </p:txBody>
      </p:sp>
      <p:sp>
        <p:nvSpPr>
          <p:cNvPr id="11" name="Content Placeholder 8"/>
          <p:cNvSpPr txBox="1">
            <a:spLocks/>
          </p:cNvSpPr>
          <p:nvPr/>
        </p:nvSpPr>
        <p:spPr bwMode="auto">
          <a:xfrm>
            <a:off x="4724400" y="4055165"/>
            <a:ext cx="3886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No change: 90 and 95 in order</a:t>
            </a: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score[0] = 85</a:t>
            </a: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score[1] = 65</a:t>
            </a: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score[2] = 90</a:t>
            </a: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score[3] = 95</a:t>
            </a: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score[4] =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75</a:t>
            </a:r>
            <a:r>
              <a:rPr lang="en-US" sz="1800" dirty="0" smtClean="0"/>
              <a:t> 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AC3AC8-25A8-47FA-981D-DF846EFE1FA5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 smtClean="0"/>
              <a:t>the Bubble Sort </a:t>
            </a:r>
            <a:r>
              <a:rPr lang="en-US" sz="1200" dirty="0" smtClean="0"/>
              <a:t>(</a:t>
            </a:r>
            <a:r>
              <a:rPr lang="en-US" sz="1200" dirty="0" smtClean="0"/>
              <a:t>continued -5)</a:t>
            </a:r>
            <a:endParaRPr lang="en-US" sz="1200" dirty="0" smtClean="0"/>
          </a:p>
        </p:txBody>
      </p:sp>
      <p:sp>
        <p:nvSpPr>
          <p:cNvPr id="22531" name="Content Placeholder 8"/>
          <p:cNvSpPr>
            <a:spLocks noGrp="1"/>
          </p:cNvSpPr>
          <p:nvPr>
            <p:ph idx="1"/>
          </p:nvPr>
        </p:nvSpPr>
        <p:spPr>
          <a:xfrm>
            <a:off x="914400" y="1659835"/>
            <a:ext cx="3124200" cy="2090530"/>
          </a:xfrm>
        </p:spPr>
        <p:txBody>
          <a:bodyPr/>
          <a:lstStyle/>
          <a:p>
            <a:r>
              <a:rPr lang="en-US" sz="1800" dirty="0" smtClean="0"/>
              <a:t>75 and 95 are switched</a:t>
            </a: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score[0] = 85</a:t>
            </a: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score[1] = 65</a:t>
            </a: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score[2] = 90</a:t>
            </a: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score[3] =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75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score[4] =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95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Content Placeholder 8"/>
          <p:cNvSpPr txBox="1">
            <a:spLocks/>
          </p:cNvSpPr>
          <p:nvPr/>
        </p:nvSpPr>
        <p:spPr bwMode="auto">
          <a:xfrm>
            <a:off x="4724400" y="1676400"/>
            <a:ext cx="3886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Back to top: 65 and 85 switch</a:t>
            </a: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score[0] =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65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score[1] =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85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score[2] = 90</a:t>
            </a: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score[3] = 75</a:t>
            </a: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score[4] =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95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Content Placeholder 8"/>
          <p:cNvSpPr txBox="1">
            <a:spLocks/>
          </p:cNvSpPr>
          <p:nvPr/>
        </p:nvSpPr>
        <p:spPr bwMode="auto">
          <a:xfrm>
            <a:off x="914400" y="4114800"/>
            <a:ext cx="3657600" cy="2090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No change: 90 and 75 in order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score[0] = 65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score[1] = 85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score[2] = 75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score[3] = 90</a:t>
            </a:r>
          </a:p>
          <a:p>
            <a:pPr lvl="1"/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score[4] = 95</a:t>
            </a:r>
          </a:p>
        </p:txBody>
      </p:sp>
      <p:sp>
        <p:nvSpPr>
          <p:cNvPr id="11" name="Content Placeholder 8"/>
          <p:cNvSpPr txBox="1">
            <a:spLocks/>
          </p:cNvSpPr>
          <p:nvPr/>
        </p:nvSpPr>
        <p:spPr bwMode="auto">
          <a:xfrm>
            <a:off x="4724400" y="4055165"/>
            <a:ext cx="3886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7</a:t>
            </a:r>
            <a:r>
              <a:rPr lang="en-US" sz="1800" dirty="0" smtClean="0"/>
              <a:t>5 and 85 switch: sorted!</a:t>
            </a: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score[0] =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65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score[1] =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75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score[2] =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85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score[3] =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90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  <a:cs typeface="Courier New" pitchFamily="49" charset="0"/>
              </a:rPr>
              <a:t>score[4] =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95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AC3AC8-25A8-47FA-981D-DF846EFE1FA5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50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603684" cy="1935162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 smtClean="0"/>
              <a:t>the Bubble Sort </a:t>
            </a:r>
            <a:r>
              <a:rPr lang="en-US" sz="1200" dirty="0" smtClean="0"/>
              <a:t>(</a:t>
            </a:r>
            <a:r>
              <a:rPr lang="en-US" sz="1200" dirty="0" smtClean="0"/>
              <a:t>continued -6)</a:t>
            </a:r>
            <a:endParaRPr lang="en-US" sz="1200" dirty="0" smtClean="0"/>
          </a:p>
        </p:txBody>
      </p:sp>
      <p:pic>
        <p:nvPicPr>
          <p:cNvPr id="3" name="Picture 2" descr="The module uses a loop control variable named y to cycle through the list of scores four times. When you sort the elements in an array this way, you use nested loops—an inner loop that&#10;swaps out-of-order pairs, and an outer loop that goes through the list multiple times." title="The completed sortArray metho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994" y="492415"/>
            <a:ext cx="4507806" cy="586393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32C77F-D9E8-43AF-A4DA-A5EE479625DE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35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73162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 smtClean="0"/>
              <a:t>the Bubble Sort </a:t>
            </a:r>
            <a:r>
              <a:rPr lang="en-US" sz="1200" dirty="0" smtClean="0"/>
              <a:t>(</a:t>
            </a:r>
            <a:r>
              <a:rPr lang="en-US" sz="1200" dirty="0" smtClean="0"/>
              <a:t>continued -7)</a:t>
            </a:r>
            <a:endParaRPr lang="en-US" sz="1200" dirty="0" smtClean="0"/>
          </a:p>
        </p:txBody>
      </p:sp>
      <p:pic>
        <p:nvPicPr>
          <p:cNvPr id="2" name="Picture 1" descr="The last method called by the score-sorting program is the one that displays the sorted array contents." title="The displayArray metho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900" y="1684714"/>
            <a:ext cx="4648200" cy="467163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32C77F-D9E8-43AF-A4DA-A5EE479625DE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124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Nested loops</a:t>
            </a:r>
          </a:p>
          <a:p>
            <a:pPr lvl="1"/>
            <a:r>
              <a:rPr lang="en-US" dirty="0"/>
              <a:t>Inner loop swaps out-of-order pairs</a:t>
            </a:r>
          </a:p>
          <a:p>
            <a:pPr lvl="1"/>
            <a:r>
              <a:rPr lang="en-US" dirty="0"/>
              <a:t>Outer loop goes through the list multiple times</a:t>
            </a:r>
          </a:p>
          <a:p>
            <a:r>
              <a:rPr lang="en-US" dirty="0"/>
              <a:t>General rules</a:t>
            </a:r>
          </a:p>
          <a:p>
            <a:pPr lvl="1"/>
            <a:r>
              <a:rPr lang="en-US" dirty="0"/>
              <a:t>Greatest number of pair comparisons is one less than the number of elements in the array</a:t>
            </a:r>
          </a:p>
          <a:p>
            <a:pPr lvl="1"/>
            <a:r>
              <a:rPr lang="en-US" dirty="0"/>
              <a:t>Number of times you need to process the list of values is one less than the number of elements in the array</a:t>
            </a:r>
          </a:p>
          <a:p>
            <a:pPr lvl="1"/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A527E8-0299-4AF9-A07B-1FD65FD6C7B3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 smtClean="0"/>
              <a:t>the Bubble Sort </a:t>
            </a:r>
            <a:r>
              <a:rPr lang="en-US" sz="1200" dirty="0" smtClean="0"/>
              <a:t>(</a:t>
            </a:r>
            <a:r>
              <a:rPr lang="en-US" sz="1200" dirty="0" smtClean="0"/>
              <a:t>continued -8)</a:t>
            </a:r>
            <a:endParaRPr lang="en-US" sz="1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Sorting a List of Variable Size</a:t>
            </a:r>
          </a:p>
        </p:txBody>
      </p:sp>
      <p:sp>
        <p:nvSpPr>
          <p:cNvPr id="9" name="Content Placeholder 8"/>
          <p:cNvSpPr txBox="1">
            <a:spLocks/>
          </p:cNvSpPr>
          <p:nvPr/>
        </p:nvSpPr>
        <p:spPr bwMode="auto">
          <a:xfrm>
            <a:off x="533400" y="1676400"/>
            <a:ext cx="80772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Might not know how many array elements will hold valid values</a:t>
            </a:r>
          </a:p>
          <a:p>
            <a:r>
              <a:rPr lang="en-US" dirty="0" smtClean="0"/>
              <a:t>Keep track of the number of elements stored in an array</a:t>
            </a:r>
          </a:p>
          <a:p>
            <a:pPr lvl="1"/>
            <a:r>
              <a:rPr lang="en-US" dirty="0" smtClean="0"/>
              <a:t>Store number of elements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 smtClean="0"/>
              <a:t>Compute </a:t>
            </a:r>
            <a:r>
              <a:rPr lang="en-US" dirty="0" smtClean="0"/>
              <a:t>comparisons as </a:t>
            </a:r>
            <a:r>
              <a:rPr lang="en-US" dirty="0"/>
              <a:t>number of </a:t>
            </a:r>
            <a:r>
              <a:rPr lang="en-US" dirty="0" smtClean="0"/>
              <a:t>elements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-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A527E8-0299-4AF9-A07B-1FD65FD6C7B3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77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362200" cy="2697162"/>
          </a:xfrm>
        </p:spPr>
        <p:txBody>
          <a:bodyPr/>
          <a:lstStyle/>
          <a:p>
            <a:r>
              <a:rPr lang="en-US" dirty="0" smtClean="0"/>
              <a:t>Sorting a List of Variable Size</a:t>
            </a:r>
            <a:r>
              <a:rPr lang="en-US" sz="1200" dirty="0" smtClean="0"/>
              <a:t> (</a:t>
            </a:r>
            <a:r>
              <a:rPr lang="en-US" sz="1200" dirty="0" smtClean="0"/>
              <a:t>continued -1)</a:t>
            </a:r>
            <a:endParaRPr lang="en-US" dirty="0" smtClean="0"/>
          </a:p>
        </p:txBody>
      </p:sp>
      <p:pic>
        <p:nvPicPr>
          <p:cNvPr id="2" name="Picture 1" descr="To keep track of the number of elements stored in an array, you can count the data items and create an application which can sort up to&#10;100 items." title="Score-sorting application in which number of elements to sort can vary (continues)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685800"/>
            <a:ext cx="5108001" cy="513375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A527E8-0299-4AF9-A07B-1FD65FD6C7B3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77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9036" y="533400"/>
            <a:ext cx="2362200" cy="2819400"/>
          </a:xfrm>
        </p:spPr>
        <p:txBody>
          <a:bodyPr/>
          <a:lstStyle/>
          <a:p>
            <a:r>
              <a:rPr lang="en-US" dirty="0" smtClean="0"/>
              <a:t>Sorting a List of Variable Size</a:t>
            </a:r>
            <a:r>
              <a:rPr lang="en-US" sz="1200" dirty="0" smtClean="0"/>
              <a:t> (</a:t>
            </a:r>
            <a:r>
              <a:rPr lang="en-US" sz="1200" dirty="0" smtClean="0"/>
              <a:t>continued -2)</a:t>
            </a:r>
            <a:endParaRPr lang="en-US" dirty="0" smtClean="0"/>
          </a:p>
        </p:txBody>
      </p:sp>
      <p:pic>
        <p:nvPicPr>
          <p:cNvPr id="3" name="Picture 2" descr="Since the number of data elements are counted, it doesn’t matter if there are not enough values to fill the scores array." title="Score-sorting application in which number of elements to sort can vary (continues -1)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69154"/>
            <a:ext cx="4260859" cy="615139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A527E8-0299-4AF9-A07B-1FD65FD6C7B3}" type="slidenum">
              <a:rPr lang="en-US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362200" cy="2620962"/>
          </a:xfrm>
        </p:spPr>
        <p:txBody>
          <a:bodyPr/>
          <a:lstStyle/>
          <a:p>
            <a:r>
              <a:rPr lang="en-US" dirty="0" smtClean="0"/>
              <a:t>Sorting a List of Variable Size</a:t>
            </a:r>
            <a:r>
              <a:rPr lang="en-US" sz="1200" dirty="0" smtClean="0"/>
              <a:t> (</a:t>
            </a:r>
            <a:r>
              <a:rPr lang="en-US" sz="1200" dirty="0" smtClean="0"/>
              <a:t>continued -3)</a:t>
            </a:r>
            <a:endParaRPr lang="en-US" dirty="0" smtClean="0"/>
          </a:p>
        </p:txBody>
      </p:sp>
      <p:pic>
        <p:nvPicPr>
          <p:cNvPr id="3" name="Picture 2" descr="Pseudocode for score-sorting application in which number of elements to sort can vary." title="Score-sorting application in which number of elements to sort can vary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685" y="152400"/>
            <a:ext cx="3598230" cy="646471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A527E8-0299-4AF9-A07B-1FD65FD6C7B3}" type="slidenum">
              <a:rPr lang="en-US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45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Refining the Bubble Sort to Reduce Unnecessary Comparisons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A527E8-0299-4AF9-A07B-1FD65FD6C7B3}" type="slidenum">
              <a:rPr lang="en-US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77200" cy="4572000"/>
          </a:xfrm>
        </p:spPr>
        <p:txBody>
          <a:bodyPr/>
          <a:lstStyle/>
          <a:p>
            <a:r>
              <a:rPr lang="en-US" dirty="0"/>
              <a:t>If you are performing an ascending sort</a:t>
            </a:r>
          </a:p>
          <a:p>
            <a:pPr lvl="1"/>
            <a:r>
              <a:rPr lang="en-US" dirty="0"/>
              <a:t>After you have made one pass through the list, </a:t>
            </a:r>
            <a:r>
              <a:rPr lang="en-US" dirty="0" smtClean="0"/>
              <a:t>the </a:t>
            </a:r>
            <a:r>
              <a:rPr lang="en-US" dirty="0"/>
              <a:t>largest value is guaranteed to be in its correct final position </a:t>
            </a:r>
          </a:p>
          <a:p>
            <a:r>
              <a:rPr lang="en-US" dirty="0"/>
              <a:t>Compare every element pair in the list on every pass through the list</a:t>
            </a:r>
          </a:p>
          <a:p>
            <a:pPr lvl="1"/>
            <a:r>
              <a:rPr lang="en-US" dirty="0"/>
              <a:t>Comparing elements that are already guaranteed to be in their final correct position</a:t>
            </a:r>
          </a:p>
          <a:p>
            <a:r>
              <a:rPr lang="en-US" dirty="0"/>
              <a:t>On each pass through the array</a:t>
            </a:r>
          </a:p>
          <a:p>
            <a:pPr lvl="1"/>
            <a:r>
              <a:rPr lang="en-US" dirty="0"/>
              <a:t>Stop your pair comparisons one element sooner</a:t>
            </a:r>
          </a:p>
        </p:txBody>
      </p:sp>
    </p:spTree>
    <p:extLst>
      <p:ext uri="{BB962C8B-B14F-4D97-AF65-F5344CB8AC3E}">
        <p14:creationId xmlns:p14="http://schemas.microsoft.com/office/powerpoint/2010/main" val="47108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8915400" cy="1295400"/>
          </a:xfrm>
        </p:spPr>
        <p:txBody>
          <a:bodyPr/>
          <a:lstStyle/>
          <a:p>
            <a:r>
              <a:rPr lang="en-US" sz="4000" dirty="0" smtClean="0"/>
              <a:t>Refining the Bubble Sort to Reduce Unnecessary Comparisons </a:t>
            </a:r>
            <a:r>
              <a:rPr lang="en-US" sz="1200" dirty="0" smtClean="0"/>
              <a:t>(</a:t>
            </a:r>
            <a:r>
              <a:rPr lang="en-US" sz="1200" dirty="0" smtClean="0"/>
              <a:t>continued -1)</a:t>
            </a:r>
            <a:endParaRPr lang="en-US" sz="12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A527E8-0299-4AF9-A07B-1FD65FD6C7B3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450742" y="1600200"/>
            <a:ext cx="7855058" cy="3078752"/>
          </a:xfrm>
        </p:spPr>
        <p:txBody>
          <a:bodyPr/>
          <a:lstStyle/>
          <a:p>
            <a:r>
              <a:rPr lang="en-US" dirty="0"/>
              <a:t>Create a new variable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pairsToCompare</a:t>
            </a:r>
          </a:p>
          <a:p>
            <a:pPr lvl="1"/>
            <a:r>
              <a:rPr lang="en-US" dirty="0"/>
              <a:t>Set </a:t>
            </a:r>
            <a:r>
              <a:rPr lang="en-US" dirty="0" smtClean="0"/>
              <a:t>it equal </a:t>
            </a:r>
            <a:r>
              <a:rPr lang="en-US" dirty="0"/>
              <a:t>to the value of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numberOfEls – 1</a:t>
            </a:r>
          </a:p>
          <a:p>
            <a:pPr lvl="1"/>
            <a:r>
              <a:rPr lang="en-US" dirty="0"/>
              <a:t>On each subsequent pass through the list, reduce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pairsToCompare</a:t>
            </a:r>
            <a:r>
              <a:rPr lang="en-US" dirty="0"/>
              <a:t> by 1</a:t>
            </a:r>
          </a:p>
        </p:txBody>
      </p:sp>
    </p:spTree>
    <p:extLst>
      <p:ext uri="{BB962C8B-B14F-4D97-AF65-F5344CB8AC3E}">
        <p14:creationId xmlns:p14="http://schemas.microsoft.com/office/powerpoint/2010/main" val="10389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3581400" cy="3429000"/>
          </a:xfrm>
        </p:spPr>
        <p:txBody>
          <a:bodyPr/>
          <a:lstStyle/>
          <a:p>
            <a:pPr algn="l"/>
            <a:r>
              <a:rPr lang="en-US" sz="4000" dirty="0" smtClean="0"/>
              <a:t>Refining the Bubble Sort to Reduce Unnecessary Comparisons </a:t>
            </a:r>
            <a:r>
              <a:rPr lang="en-US" sz="1200" dirty="0" smtClean="0"/>
              <a:t>(</a:t>
            </a:r>
            <a:r>
              <a:rPr lang="en-US" sz="1200" dirty="0" smtClean="0"/>
              <a:t>continued -2)</a:t>
            </a:r>
            <a:endParaRPr lang="en-US" sz="1200" dirty="0" smtClean="0"/>
          </a:p>
        </p:txBody>
      </p:sp>
      <p:pic>
        <p:nvPicPr>
          <p:cNvPr id="3" name="Picture 2" descr="In this bubble sort module passes through the array list four times,&#10;making four sets of pair comparisons. It" title="Flowchart and pseudocode for sortArray method using pairsToCompare variabl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297" y="415247"/>
            <a:ext cx="4183380" cy="594110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A527E8-0299-4AF9-A07B-1FD65FD6C7B3}" type="slidenum">
              <a:rPr lang="en-US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4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3733800" cy="2924014"/>
          </a:xfrm>
        </p:spPr>
        <p:txBody>
          <a:bodyPr/>
          <a:lstStyle/>
          <a:p>
            <a:r>
              <a:rPr lang="en-US" sz="4000" dirty="0" smtClean="0"/>
              <a:t>Refining the Bubble Sort to Reduce Unnecessary Passes</a:t>
            </a:r>
            <a:endParaRPr lang="en-US" sz="1200" dirty="0" smtClean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3076414"/>
            <a:ext cx="3386438" cy="3279936"/>
          </a:xfrm>
        </p:spPr>
        <p:txBody>
          <a:bodyPr/>
          <a:lstStyle/>
          <a:p>
            <a:r>
              <a:rPr lang="en-US" dirty="0"/>
              <a:t>Create a new variable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didSwap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/>
              <a:t>Set </a:t>
            </a:r>
            <a:r>
              <a:rPr lang="en-US" dirty="0" smtClean="0"/>
              <a:t>it equal </a:t>
            </a:r>
            <a:r>
              <a:rPr lang="en-US" dirty="0"/>
              <a:t>to the value of </a:t>
            </a:r>
            <a:r>
              <a:rPr lang="en-US" dirty="0" smtClean="0"/>
              <a:t>“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No”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 smtClean="0"/>
              <a:t>Each time 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swap() </a:t>
            </a:r>
            <a:r>
              <a:rPr lang="en-US" dirty="0" smtClean="0"/>
              <a:t>module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/>
              <a:t>executes</a:t>
            </a:r>
            <a:r>
              <a:rPr lang="en-US" dirty="0"/>
              <a:t>, </a:t>
            </a:r>
            <a:r>
              <a:rPr lang="en-US" dirty="0" smtClean="0"/>
              <a:t> change the value to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”Yes”</a:t>
            </a:r>
            <a:endParaRPr lang="en-US" dirty="0"/>
          </a:p>
        </p:txBody>
      </p:sp>
      <p:pic>
        <p:nvPicPr>
          <p:cNvPr id="3" name="Picture 2" descr="A possible remedy is to add a flag variable set to a “continue” value on any pass through the list in which any pair of elements is swapped and which holds a&#10;different “finished” value when no swaps are made—that is, when all elements in the list are&#10;already in the correct order." title="Flowchart and pseudocode for sortArray method using didSwap variabl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45" y="353595"/>
            <a:ext cx="4331110" cy="615090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A527E8-0299-4AF9-A07B-1FD65FD6C7B3}" type="slidenum">
              <a:rPr lang="en-US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29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Sorting Multifield Records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572000"/>
          </a:xfrm>
        </p:spPr>
        <p:txBody>
          <a:bodyPr/>
          <a:lstStyle/>
          <a:p>
            <a:r>
              <a:rPr lang="en-US" dirty="0" smtClean="0"/>
              <a:t>Sorting data stored in parallel arrays</a:t>
            </a:r>
            <a:endParaRPr lang="en-US" dirty="0"/>
          </a:p>
          <a:p>
            <a:pPr lvl="1"/>
            <a:r>
              <a:rPr lang="en-US" dirty="0" smtClean="0"/>
              <a:t>Each array must stay in sync</a:t>
            </a:r>
          </a:p>
          <a:p>
            <a:pPr lvl="1"/>
            <a:endParaRPr lang="en-US" dirty="0" smtClean="0"/>
          </a:p>
        </p:txBody>
      </p:sp>
      <p:pic>
        <p:nvPicPr>
          <p:cNvPr id="2" name="Picture 1" descr="Parallel arrays containing student names and test scores." title="Appearance of names and scores arrays in memory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048000"/>
            <a:ext cx="6385774" cy="30480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A527E8-0299-4AF9-A07B-1FD65FD6C7B3}" type="slidenum">
              <a:rPr lang="en-US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04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Sorting </a:t>
            </a:r>
            <a:r>
              <a:rPr lang="en-US" dirty="0" err="1" smtClean="0"/>
              <a:t>Multifield</a:t>
            </a:r>
            <a:r>
              <a:rPr lang="en-US" dirty="0" smtClean="0"/>
              <a:t> </a:t>
            </a:r>
            <a:r>
              <a:rPr lang="en-US" dirty="0"/>
              <a:t>Records </a:t>
            </a:r>
            <a:r>
              <a:rPr lang="en-US" sz="1200" dirty="0"/>
              <a:t>(continued </a:t>
            </a:r>
            <a:r>
              <a:rPr lang="en-US" sz="1200" dirty="0" smtClean="0"/>
              <a:t>-1)</a:t>
            </a:r>
            <a:endParaRPr lang="en-US" sz="1200" dirty="0" smtClean="0"/>
          </a:p>
        </p:txBody>
      </p:sp>
      <p:pic>
        <p:nvPicPr>
          <p:cNvPr id="4" name="Picture 3" descr="Tthe swap module for a program that sorts names array values in&#10;alphabetical order and moves scores array values correspondingly." title="The swap method for a program that sorts student names and retains their correct score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709" y="1417638"/>
            <a:ext cx="5906581" cy="458628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A527E8-0299-4AF9-A07B-1FD65FD6C7B3}" type="slidenum">
              <a:rPr lang="en-US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4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935162"/>
          </a:xfrm>
        </p:spPr>
        <p:txBody>
          <a:bodyPr/>
          <a:lstStyle/>
          <a:p>
            <a:r>
              <a:rPr lang="en-US" dirty="0"/>
              <a:t>Sorting Multifield </a:t>
            </a:r>
            <a:r>
              <a:rPr lang="en-US" dirty="0" smtClean="0"/>
              <a:t>Records </a:t>
            </a:r>
            <a:r>
              <a:rPr lang="en-US" sz="1200" dirty="0" smtClean="0"/>
              <a:t>(</a:t>
            </a:r>
            <a:r>
              <a:rPr lang="en-US" sz="1200" dirty="0" smtClean="0"/>
              <a:t>continued -2)</a:t>
            </a:r>
            <a:endParaRPr lang="en-US" sz="12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A527E8-0299-4AF9-A07B-1FD65FD6C7B3}" type="slidenum">
              <a:rPr lang="en-US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752600"/>
            <a:ext cx="8077200" cy="4495800"/>
          </a:xfrm>
        </p:spPr>
        <p:txBody>
          <a:bodyPr/>
          <a:lstStyle/>
          <a:p>
            <a:r>
              <a:rPr lang="en-US" dirty="0" smtClean="0"/>
              <a:t>Sorting records as a whole</a:t>
            </a:r>
          </a:p>
          <a:p>
            <a:pPr lvl="1"/>
            <a:r>
              <a:rPr lang="en-US" dirty="0" smtClean="0"/>
              <a:t>Create groups called record structures or classes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/>
              <a:t>Will be covered in detail in </a:t>
            </a:r>
            <a:r>
              <a:rPr lang="en-US" dirty="0" smtClean="0"/>
              <a:t>Chapters </a:t>
            </a:r>
            <a:r>
              <a:rPr lang="en-US" dirty="0"/>
              <a:t>10 </a:t>
            </a:r>
            <a:r>
              <a:rPr lang="en-US" dirty="0" smtClean="0"/>
              <a:t>and 11</a:t>
            </a:r>
            <a:endParaRPr lang="en-US" dirty="0"/>
          </a:p>
          <a:p>
            <a:pPr marL="857250" lvl="2" indent="0"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StudentRecord</a:t>
            </a:r>
          </a:p>
          <a:p>
            <a:pPr marL="857250" lvl="2" inden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name</a:t>
            </a:r>
          </a:p>
          <a:p>
            <a:pPr marL="857250" lvl="2" indent="0"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 num score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marL="857250" lvl="2" indent="0"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endClass</a:t>
            </a:r>
          </a:p>
          <a:p>
            <a:pPr marL="800100" lvl="1" indent="-342900"/>
            <a:r>
              <a:rPr lang="en-US" dirty="0" smtClean="0"/>
              <a:t>Defining a class allows you to sort by either name or score</a:t>
            </a:r>
            <a:endParaRPr lang="en-US" dirty="0"/>
          </a:p>
          <a:p>
            <a:pPr marL="857250" lvl="2" indent="0">
              <a:buNone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56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Sorting Algorithms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419600"/>
          </a:xfrm>
        </p:spPr>
        <p:txBody>
          <a:bodyPr>
            <a:normAutofit/>
          </a:bodyPr>
          <a:lstStyle/>
          <a:p>
            <a:r>
              <a:rPr lang="en-US" b="1" dirty="0" smtClean="0"/>
              <a:t>Insertion sort</a:t>
            </a:r>
            <a:r>
              <a:rPr lang="en-US" b="1" dirty="0"/>
              <a:t>	</a:t>
            </a:r>
            <a:endParaRPr lang="en-US" b="1" dirty="0" smtClean="0"/>
          </a:p>
          <a:p>
            <a:pPr lvl="1"/>
            <a:r>
              <a:rPr lang="en-US" dirty="0" smtClean="0"/>
              <a:t>Look at each element one at a time</a:t>
            </a:r>
          </a:p>
          <a:p>
            <a:pPr lvl="1"/>
            <a:r>
              <a:rPr lang="en-US" dirty="0" smtClean="0"/>
              <a:t> If  </a:t>
            </a:r>
            <a:r>
              <a:rPr lang="en-US" dirty="0"/>
              <a:t>element </a:t>
            </a:r>
            <a:r>
              <a:rPr lang="en-US" dirty="0" smtClean="0"/>
              <a:t>is out </a:t>
            </a:r>
            <a:r>
              <a:rPr lang="en-US" dirty="0"/>
              <a:t>of order relative to any of the items earlier in the list, </a:t>
            </a:r>
            <a:r>
              <a:rPr lang="en-US" dirty="0" smtClean="0"/>
              <a:t>move </a:t>
            </a:r>
            <a:r>
              <a:rPr lang="en-US" dirty="0"/>
              <a:t>each earlier item down one</a:t>
            </a:r>
          </a:p>
          <a:p>
            <a:pPr lvl="1"/>
            <a:r>
              <a:rPr lang="en-US" dirty="0" smtClean="0"/>
              <a:t>Each </a:t>
            </a:r>
            <a:r>
              <a:rPr lang="en-US" dirty="0"/>
              <a:t>earlier item </a:t>
            </a:r>
            <a:r>
              <a:rPr lang="en-US" dirty="0" smtClean="0"/>
              <a:t>is </a:t>
            </a:r>
            <a:r>
              <a:rPr lang="en-US" dirty="0" smtClean="0"/>
              <a:t>moved down one </a:t>
            </a:r>
            <a:r>
              <a:rPr lang="en-US" dirty="0" smtClean="0"/>
              <a:t>slot</a:t>
            </a:r>
          </a:p>
          <a:p>
            <a:pPr lvl="1"/>
            <a:r>
              <a:rPr lang="en-US" dirty="0" smtClean="0"/>
              <a:t>Similar </a:t>
            </a:r>
            <a:r>
              <a:rPr lang="en-US" dirty="0"/>
              <a:t>to the technique </a:t>
            </a:r>
            <a:r>
              <a:rPr lang="en-US" dirty="0" smtClean="0"/>
              <a:t>you would </a:t>
            </a:r>
            <a:r>
              <a:rPr lang="en-US" dirty="0"/>
              <a:t>most likely use to sort a group of objects manually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A5FCC0-5251-4FC4-B646-20B416B8B42D}" type="slidenum">
              <a:rPr lang="en-US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424505" cy="1630362"/>
          </a:xfrm>
        </p:spPr>
        <p:txBody>
          <a:bodyPr/>
          <a:lstStyle/>
          <a:p>
            <a:r>
              <a:rPr lang="en-US" dirty="0" smtClean="0"/>
              <a:t>Other Sorting Algorithms </a:t>
            </a:r>
            <a:r>
              <a:rPr lang="en-US" sz="1200" dirty="0" smtClean="0"/>
              <a:t>(</a:t>
            </a:r>
            <a:r>
              <a:rPr lang="en-US" sz="1200" dirty="0" smtClean="0"/>
              <a:t>continued -1)</a:t>
            </a:r>
            <a:endParaRPr lang="en-US" dirty="0" smtClean="0"/>
          </a:p>
        </p:txBody>
      </p:sp>
      <p:pic>
        <p:nvPicPr>
          <p:cNvPr id="3" name="Picture 2" descr="An ascending insertion sort for a list that starts out containing the values 4, 3, 1, 5, and 2." title="The insertion sort algorithm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010" y="406559"/>
            <a:ext cx="4030980" cy="611760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A5FCC0-5251-4FC4-B646-20B416B8B42D}" type="slidenum">
              <a:rPr lang="en-US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782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Sorting </a:t>
            </a:r>
            <a:r>
              <a:rPr lang="en-US" dirty="0" smtClean="0"/>
              <a:t>Algorithms </a:t>
            </a:r>
            <a:r>
              <a:rPr lang="en-US" sz="1200" dirty="0" smtClean="0"/>
              <a:t>(</a:t>
            </a:r>
            <a:r>
              <a:rPr lang="en-US" sz="1200" dirty="0"/>
              <a:t>continued </a:t>
            </a:r>
            <a:r>
              <a:rPr lang="en-US" sz="1200" dirty="0" smtClean="0"/>
              <a:t>-</a:t>
            </a:r>
            <a:r>
              <a:rPr lang="en-US" sz="1200" dirty="0"/>
              <a:t>2</a:t>
            </a:r>
            <a:r>
              <a:rPr lang="en-US" sz="1200" dirty="0" smtClean="0"/>
              <a:t>)</a:t>
            </a:r>
            <a:endParaRPr lang="en-US" sz="1200" dirty="0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756150"/>
          </a:xfrm>
        </p:spPr>
        <p:txBody>
          <a:bodyPr>
            <a:normAutofit/>
          </a:bodyPr>
          <a:lstStyle/>
          <a:p>
            <a:r>
              <a:rPr lang="en-US" b="1" dirty="0" smtClean="0"/>
              <a:t>Selection sort	</a:t>
            </a:r>
            <a:endParaRPr lang="en-US" b="1" dirty="0" smtClean="0"/>
          </a:p>
          <a:p>
            <a:pPr lvl="1"/>
            <a:r>
              <a:rPr lang="en-US" dirty="0" smtClean="0"/>
              <a:t>Uses </a:t>
            </a:r>
            <a:r>
              <a:rPr lang="en-US" dirty="0"/>
              <a:t>two </a:t>
            </a:r>
            <a:r>
              <a:rPr lang="en-US" dirty="0" err="1" smtClean="0"/>
              <a:t>sublists</a:t>
            </a:r>
            <a:r>
              <a:rPr lang="en-US" dirty="0" smtClean="0"/>
              <a:t> containing</a:t>
            </a:r>
          </a:p>
          <a:p>
            <a:pPr lvl="2"/>
            <a:r>
              <a:rPr lang="en-US" sz="2200" dirty="0" smtClean="0"/>
              <a:t>Values </a:t>
            </a:r>
            <a:r>
              <a:rPr lang="en-US" sz="2200" dirty="0"/>
              <a:t>already sorted </a:t>
            </a:r>
            <a:endParaRPr lang="en-US" sz="2200" dirty="0" smtClean="0"/>
          </a:p>
          <a:p>
            <a:pPr lvl="2"/>
            <a:r>
              <a:rPr lang="en-US" sz="2200" dirty="0" smtClean="0"/>
              <a:t>Values </a:t>
            </a:r>
            <a:r>
              <a:rPr lang="en-US" sz="2200" dirty="0"/>
              <a:t>not yet sorted</a:t>
            </a:r>
          </a:p>
          <a:p>
            <a:pPr lvl="1"/>
            <a:r>
              <a:rPr lang="en-US" dirty="0"/>
              <a:t>Repeatedly look for the smallest value in the unsorted </a:t>
            </a:r>
            <a:r>
              <a:rPr lang="en-US" dirty="0" err="1"/>
              <a:t>sublist</a:t>
            </a:r>
            <a:r>
              <a:rPr lang="en-US" dirty="0"/>
              <a:t> </a:t>
            </a:r>
          </a:p>
          <a:p>
            <a:pPr lvl="1"/>
            <a:r>
              <a:rPr lang="en-US" dirty="0" smtClean="0"/>
              <a:t>Swap </a:t>
            </a:r>
            <a:r>
              <a:rPr lang="en-US" dirty="0"/>
              <a:t>it with the item at the beginning</a:t>
            </a:r>
          </a:p>
          <a:p>
            <a:pPr lvl="1"/>
            <a:r>
              <a:rPr lang="en-US" dirty="0" smtClean="0"/>
              <a:t>Then </a:t>
            </a:r>
            <a:r>
              <a:rPr lang="en-US" dirty="0"/>
              <a:t>add that element to the end of the sorted </a:t>
            </a:r>
            <a:r>
              <a:rPr lang="en-US" dirty="0" err="1"/>
              <a:t>sublist</a:t>
            </a:r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     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A5FCC0-5251-4FC4-B646-20B416B8B42D}" type="slidenum">
              <a:rPr lang="en-US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32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424505" cy="1630362"/>
          </a:xfrm>
        </p:spPr>
        <p:txBody>
          <a:bodyPr/>
          <a:lstStyle/>
          <a:p>
            <a:r>
              <a:rPr lang="en-US" dirty="0" smtClean="0"/>
              <a:t>Other Sorting Algorithms </a:t>
            </a:r>
            <a:r>
              <a:rPr lang="en-US" sz="1200" dirty="0" smtClean="0"/>
              <a:t>(</a:t>
            </a:r>
            <a:r>
              <a:rPr lang="en-US" sz="1200" dirty="0" smtClean="0"/>
              <a:t>continued -3)</a:t>
            </a:r>
            <a:endParaRPr lang="en-US" dirty="0" smtClean="0"/>
          </a:p>
        </p:txBody>
      </p:sp>
      <p:pic>
        <p:nvPicPr>
          <p:cNvPr id="2" name="Picture 1" descr="How an ascending selection sort would work for a list that starts out containing the values 4, 3, 1, 5, and 2." title="The selection sort algorithm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104" y="533400"/>
            <a:ext cx="4336239" cy="582295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A5FCC0-5251-4FC4-B646-20B416B8B42D}" type="slidenum">
              <a:rPr lang="en-US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884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Multidimensional Arrays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7F26EC-7F26-4657-9EA6-3AFB5094F8DE}" type="slidenum">
              <a:rPr lang="en-US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305800" cy="4572000"/>
          </a:xfrm>
        </p:spPr>
        <p:txBody>
          <a:bodyPr/>
          <a:lstStyle/>
          <a:p>
            <a:r>
              <a:rPr lang="en-US" b="1" dirty="0" smtClean="0"/>
              <a:t>One-dimensional array</a:t>
            </a:r>
          </a:p>
          <a:p>
            <a:pPr lvl="1"/>
            <a:r>
              <a:rPr lang="en-US" b="1" dirty="0" smtClean="0"/>
              <a:t>Single-dimensional array</a:t>
            </a:r>
          </a:p>
          <a:p>
            <a:pPr lvl="1"/>
            <a:r>
              <a:rPr lang="en-US" dirty="0" smtClean="0"/>
              <a:t>Elements accessed using a single subscript</a:t>
            </a:r>
          </a:p>
          <a:p>
            <a:r>
              <a:rPr lang="en-US" dirty="0" smtClean="0"/>
              <a:t>Data can be stored in a table that has just one dimension </a:t>
            </a:r>
          </a:p>
          <a:p>
            <a:pPr lvl="1"/>
            <a:r>
              <a:rPr lang="en-US" dirty="0" err="1" smtClean="0"/>
              <a:t>HNint</a:t>
            </a:r>
            <a:endParaRPr lang="en-US" dirty="0" smtClean="0"/>
          </a:p>
          <a:p>
            <a:r>
              <a:rPr lang="en-US" dirty="0" smtClean="0"/>
              <a:t>If you know the vertical position of a one-dimensional array’s element, you can find its value</a:t>
            </a:r>
          </a:p>
          <a:p>
            <a:r>
              <a:rPr lang="en-US" b="1" dirty="0" smtClean="0"/>
              <a:t>Multidimensional array</a:t>
            </a:r>
          </a:p>
          <a:p>
            <a:pPr lvl="1"/>
            <a:r>
              <a:rPr lang="en-US" dirty="0" smtClean="0"/>
              <a:t>requires </a:t>
            </a:r>
            <a:r>
              <a:rPr lang="en-US" dirty="0"/>
              <a:t>more than one subscript to access an element</a:t>
            </a:r>
            <a:endParaRPr lang="en-US" b="1" dirty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Multidimensional Arrays </a:t>
            </a:r>
            <a:r>
              <a:rPr lang="en-US" sz="1100" dirty="0" smtClean="0"/>
              <a:t>(</a:t>
            </a:r>
            <a:r>
              <a:rPr lang="en-US" sz="1100" dirty="0" smtClean="0"/>
              <a:t>continued -1)</a:t>
            </a:r>
            <a:endParaRPr lang="en-US" sz="11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7F26EC-7F26-4657-9EA6-3AFB5094F8DE}" type="slidenum">
              <a:rPr lang="en-US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077200" cy="4572000"/>
          </a:xfrm>
        </p:spPr>
        <p:txBody>
          <a:bodyPr/>
          <a:lstStyle/>
          <a:p>
            <a:r>
              <a:rPr lang="en-US" b="1" dirty="0" smtClean="0"/>
              <a:t>Two-dimensional array</a:t>
            </a:r>
          </a:p>
          <a:p>
            <a:pPr lvl="1"/>
            <a:r>
              <a:rPr lang="en-US" dirty="0" smtClean="0"/>
              <a:t>Contains two dimensions: </a:t>
            </a:r>
            <a:r>
              <a:rPr lang="en-US" dirty="0" err="1" smtClean="0"/>
              <a:t>hNint</a:t>
            </a:r>
            <a:r>
              <a:rPr lang="en-US" dirty="0" smtClean="0"/>
              <a:t> and width</a:t>
            </a:r>
          </a:p>
          <a:p>
            <a:pPr lvl="1"/>
            <a:r>
              <a:rPr lang="en-US" dirty="0" smtClean="0"/>
              <a:t>Location of any element depends on two factors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Apartment building with five floors</a:t>
            </a:r>
          </a:p>
          <a:p>
            <a:pPr lvl="1"/>
            <a:r>
              <a:rPr lang="en-US" dirty="0" smtClean="0"/>
              <a:t>Each floor has studio apartments and one- and two-bedroom apartments</a:t>
            </a:r>
          </a:p>
          <a:p>
            <a:pPr lvl="1"/>
            <a:r>
              <a:rPr lang="en-US" dirty="0" smtClean="0"/>
              <a:t>To determine a tenant’s rent, you need to know two pieces of information:</a:t>
            </a:r>
          </a:p>
          <a:p>
            <a:pPr lvl="2"/>
            <a:r>
              <a:rPr lang="en-US" dirty="0" smtClean="0"/>
              <a:t>The floor </a:t>
            </a:r>
          </a:p>
          <a:p>
            <a:pPr lvl="2"/>
            <a:r>
              <a:rPr lang="en-US" dirty="0" smtClean="0"/>
              <a:t>The number of bedrooms in the apartment</a:t>
            </a:r>
          </a:p>
        </p:txBody>
      </p:sp>
    </p:spTree>
    <p:extLst>
      <p:ext uri="{BB962C8B-B14F-4D97-AF65-F5344CB8AC3E}">
        <p14:creationId xmlns:p14="http://schemas.microsoft.com/office/powerpoint/2010/main" val="23735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Multidimensional Arrays </a:t>
            </a:r>
            <a:r>
              <a:rPr lang="en-US" sz="1200" dirty="0" smtClean="0"/>
              <a:t>(</a:t>
            </a:r>
            <a:r>
              <a:rPr lang="en-US" sz="1200" dirty="0" smtClean="0"/>
              <a:t>continued -2)</a:t>
            </a:r>
            <a:endParaRPr lang="en-US" sz="12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7F26EC-7F26-4657-9EA6-3AFB5094F8DE}" type="slidenum">
              <a:rPr lang="en-US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077200" cy="4572000"/>
          </a:xfrm>
        </p:spPr>
        <p:txBody>
          <a:bodyPr/>
          <a:lstStyle/>
          <a:p>
            <a:r>
              <a:rPr lang="en-US" dirty="0" smtClean="0"/>
              <a:t>Each element in a two-dimensional array requires two subscripts to reference it</a:t>
            </a:r>
          </a:p>
          <a:p>
            <a:pPr lvl="1"/>
            <a:r>
              <a:rPr lang="en-US" dirty="0" smtClean="0"/>
              <a:t>Row and column</a:t>
            </a:r>
          </a:p>
          <a:p>
            <a:pPr lvl="3">
              <a:buFontTx/>
              <a:buNone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Declare a two-dimensional array</a:t>
            </a:r>
          </a:p>
          <a:p>
            <a:pPr lvl="1"/>
            <a:r>
              <a:rPr lang="en-US" dirty="0"/>
              <a:t>Type two sets of brackets after the array type and name</a:t>
            </a:r>
          </a:p>
          <a:p>
            <a:pPr lvl="1"/>
            <a:r>
              <a:rPr lang="en-US" dirty="0"/>
              <a:t>First square bracket holds the number of rows</a:t>
            </a:r>
          </a:p>
          <a:p>
            <a:pPr lvl="1"/>
            <a:r>
              <a:rPr lang="en-US" dirty="0"/>
              <a:t>Second square bracket holds the number of columns</a:t>
            </a:r>
          </a:p>
          <a:p>
            <a:pPr lvl="3">
              <a:buFontTx/>
              <a:buNone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3">
              <a:buFontTx/>
              <a:buNone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3">
              <a:buFontTx/>
              <a:buNone/>
            </a:pP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89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Multidimensional Arrays </a:t>
            </a:r>
            <a:r>
              <a:rPr lang="en-US" sz="1200" dirty="0" smtClean="0"/>
              <a:t>(</a:t>
            </a:r>
            <a:r>
              <a:rPr lang="en-US" sz="1200" dirty="0" smtClean="0"/>
              <a:t>continued -3)</a:t>
            </a:r>
            <a:endParaRPr lang="en-US" sz="12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7F26EC-7F26-4657-9EA6-3AFB5094F8DE}" type="slidenum">
              <a:rPr lang="en-US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077200" cy="4572000"/>
          </a:xfrm>
        </p:spPr>
        <p:txBody>
          <a:bodyPr/>
          <a:lstStyle/>
          <a:p>
            <a:r>
              <a:rPr lang="en-US" dirty="0" smtClean="0"/>
              <a:t>Access </a:t>
            </a:r>
            <a:r>
              <a:rPr lang="en-US" dirty="0" smtClean="0"/>
              <a:t>a two-dimensional array value </a:t>
            </a:r>
          </a:p>
          <a:p>
            <a:pPr lvl="1"/>
            <a:r>
              <a:rPr lang="en-US" dirty="0"/>
              <a:t>First subscript represents the row </a:t>
            </a:r>
          </a:p>
          <a:p>
            <a:pPr lvl="1"/>
            <a:r>
              <a:rPr lang="en-US" dirty="0"/>
              <a:t>Second subscript represents the column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RENT_BY_FLOOR_AND_BDRMS[0][0]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/>
              <a:t>is 350</a:t>
            </a:r>
          </a:p>
          <a:p>
            <a:r>
              <a:rPr lang="en-US" dirty="0" smtClean="0"/>
              <a:t>Mathematicians often call a two-dimensional array a </a:t>
            </a:r>
            <a:r>
              <a:rPr lang="en-US" b="1" dirty="0" smtClean="0"/>
              <a:t>matrix </a:t>
            </a:r>
            <a:r>
              <a:rPr lang="en-US" dirty="0" smtClean="0"/>
              <a:t>or a </a:t>
            </a:r>
            <a:r>
              <a:rPr lang="en-US" b="1" dirty="0" smtClean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119164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Multidimensional Arrays </a:t>
            </a:r>
            <a:r>
              <a:rPr lang="en-US" sz="1200" dirty="0" smtClean="0"/>
              <a:t>(</a:t>
            </a:r>
            <a:r>
              <a:rPr lang="en-US" sz="1200" dirty="0" smtClean="0"/>
              <a:t>continued -4)</a:t>
            </a:r>
            <a:endParaRPr lang="en-US" sz="1200" dirty="0" smtClean="0"/>
          </a:p>
        </p:txBody>
      </p:sp>
      <p:pic>
        <p:nvPicPr>
          <p:cNvPr id="3" name="Picture 2" descr="How the one- and two-dimensional rent arrays might appear in computer memory. " title="One- and two-dimensional arrays in memory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523" y="1828800"/>
            <a:ext cx="6576954" cy="35814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7F26EC-7F26-4657-9EA6-3AFB5094F8DE}" type="slidenum">
              <a:rPr lang="en-US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3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Multidimensional Arrays </a:t>
            </a:r>
            <a:r>
              <a:rPr lang="en-US" sz="1200" dirty="0" smtClean="0"/>
              <a:t>(</a:t>
            </a:r>
            <a:r>
              <a:rPr lang="en-US" sz="1200" dirty="0" smtClean="0"/>
              <a:t>continued -5)</a:t>
            </a:r>
            <a:endParaRPr lang="en-US" sz="12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7F26EC-7F26-4657-9EA6-3AFB5094F8DE}" type="slidenum">
              <a:rPr lang="en-US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077200" cy="4572000"/>
          </a:xfrm>
        </p:spPr>
        <p:txBody>
          <a:bodyPr/>
          <a:lstStyle/>
          <a:p>
            <a:r>
              <a:rPr lang="en-US" b="1" dirty="0" smtClean="0"/>
              <a:t>Three-dimensional arrays</a:t>
            </a:r>
          </a:p>
          <a:p>
            <a:pPr lvl="1"/>
            <a:r>
              <a:rPr lang="en-US" dirty="0" smtClean="0"/>
              <a:t>Supported by many programming languages</a:t>
            </a:r>
          </a:p>
          <a:p>
            <a:pPr lvl="1"/>
            <a:r>
              <a:rPr lang="en-US" dirty="0" smtClean="0"/>
              <a:t>Apartment building </a:t>
            </a:r>
          </a:p>
          <a:p>
            <a:pPr lvl="2"/>
            <a:r>
              <a:rPr lang="en-US" dirty="0" smtClean="0"/>
              <a:t>Number of floors </a:t>
            </a:r>
          </a:p>
          <a:p>
            <a:pPr lvl="2"/>
            <a:r>
              <a:rPr lang="en-US" dirty="0" smtClean="0"/>
              <a:t>Different numbers of bedrooms available in apartments on each floor</a:t>
            </a:r>
          </a:p>
          <a:p>
            <a:pPr lvl="2"/>
            <a:r>
              <a:rPr lang="en-US" dirty="0" smtClean="0"/>
              <a:t>Building number</a:t>
            </a:r>
          </a:p>
          <a:p>
            <a:r>
              <a:rPr lang="en-US" dirty="0" smtClean="0"/>
              <a:t>Examples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RENT_BY_3_FACTORS[floor][bedrooms]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[building]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RENT_BY_3_FACTORS[0][1][2]</a:t>
            </a:r>
          </a:p>
        </p:txBody>
      </p:sp>
    </p:spTree>
    <p:extLst>
      <p:ext uri="{BB962C8B-B14F-4D97-AF65-F5344CB8AC3E}">
        <p14:creationId xmlns:p14="http://schemas.microsoft.com/office/powerpoint/2010/main" val="3128794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Multidimensional Arrays </a:t>
            </a:r>
            <a:r>
              <a:rPr lang="en-US" sz="1200" dirty="0" smtClean="0"/>
              <a:t>(</a:t>
            </a:r>
            <a:r>
              <a:rPr lang="en-US" sz="1200" dirty="0" smtClean="0"/>
              <a:t>continued -6)</a:t>
            </a:r>
            <a:endParaRPr lang="en-US" sz="1200" dirty="0" smtClean="0"/>
          </a:p>
        </p:txBody>
      </p:sp>
      <p:pic>
        <p:nvPicPr>
          <p:cNvPr id="2" name="Picture 1" descr="Flowchart for a program that continuously displays rents for apartments based on renter requests for floor location and number of bedrooms." title="A program that determines rents (continues)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228045"/>
            <a:ext cx="3505200" cy="534911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7F26EC-7F26-4657-9EA6-3AFB5094F8DE}" type="slidenum">
              <a:rPr lang="en-US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48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Multidimensional Arrays </a:t>
            </a:r>
            <a:r>
              <a:rPr lang="en-US" sz="1200" dirty="0" smtClean="0"/>
              <a:t>(</a:t>
            </a:r>
            <a:r>
              <a:rPr lang="en-US" sz="1200" dirty="0" smtClean="0"/>
              <a:t>continued -7)</a:t>
            </a:r>
            <a:endParaRPr lang="en-US" sz="1200" dirty="0" smtClean="0"/>
          </a:p>
        </p:txBody>
      </p:sp>
      <p:pic>
        <p:nvPicPr>
          <p:cNvPr id="3" name="Picture 2" descr="Pseudocode for a program that continuously displays rents for apartments based on renter requests for floor location and number of bedrooms." title="A program that determines rent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721072"/>
            <a:ext cx="3779247" cy="433184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7F26EC-7F26-4657-9EA6-3AFB5094F8DE}" type="slidenum">
              <a:rPr lang="en-US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85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Multidimensional Arrays </a:t>
            </a:r>
            <a:r>
              <a:rPr lang="en-US" sz="1200" dirty="0" smtClean="0"/>
              <a:t>(</a:t>
            </a:r>
            <a:r>
              <a:rPr lang="en-US" sz="1200" dirty="0" smtClean="0"/>
              <a:t>continued -8)</a:t>
            </a:r>
            <a:endParaRPr lang="en-US" sz="1200" dirty="0" smtClean="0"/>
          </a:p>
        </p:txBody>
      </p:sp>
      <p:pic>
        <p:nvPicPr>
          <p:cNvPr id="3" name="Picture 2" descr="if you own a multistory apartment building with different numbers of bedrooms available in apartments on each floor, you can use a twodimensional array to store the rental fees, but if you own several apartment buildings, you might want to employ a third dimension to store the building number." title="Picturing a three-dimensional array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113" y="1524000"/>
            <a:ext cx="5593773" cy="43434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7F26EC-7F26-4657-9EA6-3AFB5094F8DE}" type="slidenum">
              <a:rPr lang="en-US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20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915400" cy="1143000"/>
          </a:xfrm>
        </p:spPr>
        <p:txBody>
          <a:bodyPr/>
          <a:lstStyle/>
          <a:p>
            <a:r>
              <a:rPr lang="en-US" sz="4000" dirty="0"/>
              <a:t>Using Indexed Files and Linked Lists</a:t>
            </a:r>
            <a:endParaRPr lang="en-US" sz="4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DBD341-A3F5-4E4F-BCCA-C427F51E2F61}" type="slidenum">
              <a:rPr lang="en-US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  <p:sp>
        <p:nvSpPr>
          <p:cNvPr id="11" name="Content Placeholder 8"/>
          <p:cNvSpPr>
            <a:spLocks noGrp="1"/>
          </p:cNvSpPr>
          <p:nvPr>
            <p:ph idx="1"/>
          </p:nvPr>
        </p:nvSpPr>
        <p:spPr>
          <a:xfrm>
            <a:off x="533400" y="1676400"/>
            <a:ext cx="8077200" cy="4572000"/>
          </a:xfrm>
        </p:spPr>
        <p:txBody>
          <a:bodyPr/>
          <a:lstStyle/>
          <a:p>
            <a:r>
              <a:rPr lang="en-US" dirty="0" smtClean="0"/>
              <a:t>Sorting large numbers of data records requires considerable time and computer memory</a:t>
            </a:r>
          </a:p>
          <a:p>
            <a:pPr lvl="1"/>
            <a:r>
              <a:rPr lang="en-US" dirty="0" smtClean="0"/>
              <a:t>Usually more efficient to store and access records based on their logical order than to sort and access them in their physical order</a:t>
            </a:r>
          </a:p>
          <a:p>
            <a:r>
              <a:rPr lang="en-US" b="1" dirty="0" smtClean="0"/>
              <a:t>Physical order </a:t>
            </a:r>
          </a:p>
          <a:p>
            <a:pPr lvl="1"/>
            <a:r>
              <a:rPr lang="en-US" dirty="0" smtClean="0"/>
              <a:t>Refers to a “real” order for storage</a:t>
            </a:r>
          </a:p>
          <a:p>
            <a:r>
              <a:rPr lang="en-US" b="1" dirty="0" smtClean="0"/>
              <a:t>Logical order</a:t>
            </a:r>
          </a:p>
          <a:p>
            <a:pPr lvl="1"/>
            <a:r>
              <a:rPr lang="en-US" dirty="0" smtClean="0"/>
              <a:t>Virtual order based on any criterion you choose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915400" cy="1143000"/>
          </a:xfrm>
        </p:spPr>
        <p:txBody>
          <a:bodyPr/>
          <a:lstStyle/>
          <a:p>
            <a:r>
              <a:rPr lang="en-US" sz="4000" dirty="0"/>
              <a:t>Using Indexed Files and Linked </a:t>
            </a:r>
            <a:r>
              <a:rPr lang="en-US" sz="4000" dirty="0" smtClean="0"/>
              <a:t>Lists </a:t>
            </a:r>
            <a:r>
              <a:rPr lang="en-US" sz="1200" dirty="0" smtClean="0"/>
              <a:t>(</a:t>
            </a:r>
            <a:r>
              <a:rPr lang="en-US" sz="1200" dirty="0" smtClean="0"/>
              <a:t>continued -1)</a:t>
            </a:r>
            <a:endParaRPr lang="en-US" sz="12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DBD341-A3F5-4E4F-BCCA-C427F51E2F61}" type="slidenum">
              <a:rPr lang="en-US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  <p:sp>
        <p:nvSpPr>
          <p:cNvPr id="8" name="Content Placeholder 8"/>
          <p:cNvSpPr>
            <a:spLocks noGrp="1"/>
          </p:cNvSpPr>
          <p:nvPr>
            <p:ph idx="1"/>
          </p:nvPr>
        </p:nvSpPr>
        <p:spPr>
          <a:xfrm>
            <a:off x="533400" y="1676400"/>
            <a:ext cx="8077200" cy="4572000"/>
          </a:xfrm>
        </p:spPr>
        <p:txBody>
          <a:bodyPr/>
          <a:lstStyle/>
          <a:p>
            <a:r>
              <a:rPr lang="en-US" dirty="0" smtClean="0"/>
              <a:t>Common method of accessing records in logical order </a:t>
            </a:r>
          </a:p>
          <a:p>
            <a:pPr lvl="1"/>
            <a:r>
              <a:rPr lang="en-US" dirty="0" smtClean="0"/>
              <a:t>Use an index</a:t>
            </a:r>
          </a:p>
          <a:p>
            <a:pPr lvl="1"/>
            <a:r>
              <a:rPr lang="en-US" dirty="0" smtClean="0"/>
              <a:t>Identify a key field for each record</a:t>
            </a:r>
          </a:p>
          <a:p>
            <a:r>
              <a:rPr lang="en-US" b="1" dirty="0" smtClean="0"/>
              <a:t>Key field </a:t>
            </a:r>
          </a:p>
          <a:p>
            <a:pPr lvl="1"/>
            <a:r>
              <a:rPr lang="en-US" dirty="0" smtClean="0"/>
              <a:t>A field whose contents make the record unique among all records in a file</a:t>
            </a:r>
          </a:p>
          <a:p>
            <a:pPr lvl="1"/>
            <a:r>
              <a:rPr lang="en-US" dirty="0" smtClean="0"/>
              <a:t>Example: a unique employee identification number</a:t>
            </a:r>
          </a:p>
        </p:txBody>
      </p:sp>
    </p:spTree>
    <p:extLst>
      <p:ext uri="{BB962C8B-B14F-4D97-AF65-F5344CB8AC3E}">
        <p14:creationId xmlns:p14="http://schemas.microsoft.com/office/powerpoint/2010/main" val="38568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915400" cy="1143000"/>
          </a:xfrm>
        </p:spPr>
        <p:txBody>
          <a:bodyPr/>
          <a:lstStyle/>
          <a:p>
            <a:r>
              <a:rPr lang="en-US" sz="4000" dirty="0"/>
              <a:t>Using Indexed Files and Linked </a:t>
            </a:r>
            <a:r>
              <a:rPr lang="en-US" sz="4000" dirty="0" smtClean="0"/>
              <a:t>Lists </a:t>
            </a:r>
            <a:r>
              <a:rPr lang="en-US" sz="1200" dirty="0" smtClean="0"/>
              <a:t>(</a:t>
            </a:r>
            <a:r>
              <a:rPr lang="en-US" sz="1200" dirty="0" smtClean="0"/>
              <a:t>continued -2)</a:t>
            </a:r>
            <a:endParaRPr lang="en-US" sz="1200" dirty="0" smtClean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33400" y="1676400"/>
            <a:ext cx="80772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Memory and storage locations have </a:t>
            </a:r>
            <a:r>
              <a:rPr lang="en-US" b="1" dirty="0" smtClean="0"/>
              <a:t>addresses</a:t>
            </a:r>
          </a:p>
          <a:p>
            <a:pPr lvl="1"/>
            <a:r>
              <a:rPr lang="en-US" dirty="0" smtClean="0"/>
              <a:t>Every data record on a disk has a numeric address where it is stored</a:t>
            </a:r>
          </a:p>
          <a:p>
            <a:r>
              <a:rPr lang="en-US" b="1" dirty="0" smtClean="0"/>
              <a:t>Index</a:t>
            </a:r>
            <a:r>
              <a:rPr lang="en-US" dirty="0" smtClean="0"/>
              <a:t> records</a:t>
            </a:r>
          </a:p>
          <a:p>
            <a:pPr lvl="1"/>
            <a:r>
              <a:rPr lang="en-US" dirty="0" smtClean="0"/>
              <a:t>To store a list of key fields paired with the storage address for the corresponding data record</a:t>
            </a:r>
          </a:p>
          <a:p>
            <a:r>
              <a:rPr lang="en-US" dirty="0" smtClean="0"/>
              <a:t>Use the index to find the records in order based on their addresses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DBD341-A3F5-4E4F-BCCA-C427F51E2F61}" type="slidenum">
              <a:rPr lang="en-US"/>
              <a:pPr>
                <a:defRPr/>
              </a:pPr>
              <a:t>45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8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915400" cy="1143000"/>
          </a:xfrm>
        </p:spPr>
        <p:txBody>
          <a:bodyPr/>
          <a:lstStyle/>
          <a:p>
            <a:r>
              <a:rPr lang="en-US" sz="4000" dirty="0"/>
              <a:t>Using Indexed Files and Linked </a:t>
            </a:r>
            <a:r>
              <a:rPr lang="en-US" sz="4000" dirty="0" smtClean="0"/>
              <a:t>Lists </a:t>
            </a:r>
            <a:r>
              <a:rPr lang="en-US" sz="1200" dirty="0" smtClean="0"/>
              <a:t>(</a:t>
            </a:r>
            <a:r>
              <a:rPr lang="en-US" sz="1200" dirty="0" smtClean="0"/>
              <a:t>continued -3)</a:t>
            </a:r>
            <a:endParaRPr lang="en-US" sz="12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DBD341-A3F5-4E4F-BCCA-C427F51E2F61}" type="slidenum">
              <a:rPr lang="en-US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077200" cy="4419600"/>
          </a:xfrm>
        </p:spPr>
        <p:txBody>
          <a:bodyPr/>
          <a:lstStyle/>
          <a:p>
            <a:r>
              <a:rPr lang="en-US" dirty="0" smtClean="0"/>
              <a:t>Store records on a </a:t>
            </a:r>
            <a:r>
              <a:rPr lang="en-US" b="1" dirty="0" smtClean="0"/>
              <a:t>random-access storage device</a:t>
            </a:r>
          </a:p>
          <a:p>
            <a:pPr lvl="1"/>
            <a:r>
              <a:rPr lang="en-US" dirty="0" smtClean="0"/>
              <a:t>Records can be accessed in any order</a:t>
            </a:r>
          </a:p>
          <a:p>
            <a:r>
              <a:rPr lang="en-US" dirty="0" smtClean="0"/>
              <a:t>Each record can be placed in any physical location on the disk</a:t>
            </a:r>
          </a:p>
          <a:p>
            <a:pPr lvl="1"/>
            <a:r>
              <a:rPr lang="en-US" dirty="0" smtClean="0"/>
              <a:t>Use the index as you would use the index in the back of a book</a:t>
            </a:r>
          </a:p>
          <a:p>
            <a:pPr lvl="1"/>
            <a:r>
              <a:rPr lang="en-US" dirty="0" smtClean="0"/>
              <a:t>Picture an index based on ID numbers</a:t>
            </a:r>
          </a:p>
          <a:p>
            <a:r>
              <a:rPr lang="en-US" dirty="0"/>
              <a:t>When a record is removed from an indexed file</a:t>
            </a:r>
          </a:p>
          <a:p>
            <a:pPr lvl="1"/>
            <a:r>
              <a:rPr lang="en-US" dirty="0" smtClean="0"/>
              <a:t>It does </a:t>
            </a:r>
            <a:r>
              <a:rPr lang="en-US" dirty="0"/>
              <a:t>not have to be physically removed</a:t>
            </a:r>
          </a:p>
          <a:p>
            <a:pPr lvl="1"/>
            <a:r>
              <a:rPr lang="en-US" dirty="0" smtClean="0"/>
              <a:t>The reference </a:t>
            </a:r>
            <a:r>
              <a:rPr lang="en-US" dirty="0"/>
              <a:t>can simply be deleted from the index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5946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915400" cy="1143000"/>
          </a:xfrm>
        </p:spPr>
        <p:txBody>
          <a:bodyPr/>
          <a:lstStyle/>
          <a:p>
            <a:r>
              <a:rPr lang="en-US" sz="4000" dirty="0"/>
              <a:t>Using Indexed Files and Linked </a:t>
            </a:r>
            <a:r>
              <a:rPr lang="en-US" sz="4000" dirty="0" smtClean="0"/>
              <a:t>Lists </a:t>
            </a:r>
            <a:r>
              <a:rPr lang="en-US" sz="1200" dirty="0" smtClean="0"/>
              <a:t>(</a:t>
            </a:r>
            <a:r>
              <a:rPr lang="en-US" sz="1200" dirty="0" smtClean="0"/>
              <a:t>continued -4)</a:t>
            </a:r>
            <a:endParaRPr lang="en-US" sz="1200" dirty="0" smtClean="0"/>
          </a:p>
        </p:txBody>
      </p:sp>
      <p:pic>
        <p:nvPicPr>
          <p:cNvPr id="2" name="Picture 1" descr="The index is stored on a portion of the disk. The address in the index refers to other scattered locations on the disk." title="An index on a disk that associates ID numbers with disk addresse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1" y="2057401"/>
            <a:ext cx="5715000" cy="375557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A527E8-0299-4AF9-A07B-1FD65FD6C7B3}" type="slidenum">
              <a:rPr lang="en-US"/>
              <a:pPr>
                <a:defRPr/>
              </a:pPr>
              <a:t>47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40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Linked Lists</a:t>
            </a:r>
          </a:p>
        </p:txBody>
      </p:sp>
      <p:sp>
        <p:nvSpPr>
          <p:cNvPr id="7" name="Content Placeholder 8"/>
          <p:cNvSpPr txBox="1">
            <a:spLocks/>
          </p:cNvSpPr>
          <p:nvPr/>
        </p:nvSpPr>
        <p:spPr bwMode="auto">
          <a:xfrm>
            <a:off x="533400" y="1676400"/>
            <a:ext cx="80772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Linked list</a:t>
            </a:r>
          </a:p>
          <a:p>
            <a:pPr lvl="1"/>
            <a:r>
              <a:rPr lang="en-US" dirty="0" smtClean="0"/>
              <a:t>Another way to access records in a desired order, even though they might not be physically stored in that order</a:t>
            </a:r>
          </a:p>
          <a:p>
            <a:pPr lvl="1"/>
            <a:r>
              <a:rPr lang="en-US" dirty="0" smtClean="0"/>
              <a:t>Create </a:t>
            </a:r>
            <a:r>
              <a:rPr lang="en-US" dirty="0" smtClean="0"/>
              <a:t>one extra field in every record of stored data</a:t>
            </a:r>
          </a:p>
          <a:p>
            <a:pPr lvl="1"/>
            <a:r>
              <a:rPr lang="en-US" dirty="0" smtClean="0"/>
              <a:t>Holds the physical address of the next logical </a:t>
            </a:r>
            <a:r>
              <a:rPr lang="en-US" dirty="0" smtClean="0"/>
              <a:t>record</a:t>
            </a:r>
          </a:p>
          <a:p>
            <a:pPr marL="800100" lvl="2" indent="0">
              <a:buNone/>
            </a:pPr>
            <a:r>
              <a:rPr lang="en-US" b="1" dirty="0"/>
              <a:t>Address </a:t>
            </a:r>
            <a:r>
              <a:rPr lang="en-US" b="1" dirty="0" smtClean="0"/>
              <a:t>	</a:t>
            </a:r>
            <a:r>
              <a:rPr lang="en-US" dirty="0" err="1" smtClean="0"/>
              <a:t>idNum</a:t>
            </a:r>
            <a:r>
              <a:rPr lang="en-US" dirty="0" smtClean="0"/>
              <a:t> 	name 	</a:t>
            </a:r>
            <a:r>
              <a:rPr lang="en-US" dirty="0" err="1" smtClean="0"/>
              <a:t>phoneNum</a:t>
            </a:r>
            <a:r>
              <a:rPr lang="en-US" dirty="0" smtClean="0"/>
              <a:t> 	</a:t>
            </a:r>
            <a:r>
              <a:rPr lang="en-US" dirty="0" err="1" smtClean="0"/>
              <a:t>nextCustAddress</a:t>
            </a:r>
            <a:endParaRPr lang="nb-NO" dirty="0" smtClean="0"/>
          </a:p>
          <a:p>
            <a:pPr marL="800100" lvl="2" indent="0">
              <a:buNone/>
            </a:pPr>
            <a:r>
              <a:rPr lang="nb-NO" dirty="0" smtClean="0"/>
              <a:t>0000 	111 	Baker 	234-5676 	7200</a:t>
            </a:r>
            <a:endParaRPr lang="nb-NO" dirty="0"/>
          </a:p>
          <a:p>
            <a:pPr marL="800100" lvl="2" indent="0">
              <a:buNone/>
            </a:pPr>
            <a:r>
              <a:rPr lang="en-US" dirty="0"/>
              <a:t>7200 </a:t>
            </a:r>
            <a:r>
              <a:rPr lang="en-US" dirty="0" smtClean="0"/>
              <a:t>	222 	Vincent 	456-2345 	4400</a:t>
            </a:r>
            <a:endParaRPr lang="en-US" dirty="0" smtClean="0"/>
          </a:p>
          <a:p>
            <a:r>
              <a:rPr lang="en-US" dirty="0" smtClean="0"/>
              <a:t>Add a new record to a linked list	</a:t>
            </a:r>
          </a:p>
          <a:p>
            <a:pPr lvl="1"/>
            <a:r>
              <a:rPr lang="en-US" dirty="0" smtClean="0"/>
              <a:t>Search through the list for the correct logical location of the new record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5FB7EC-A771-47DB-B891-1538C2AA7AC0}" type="slidenum">
              <a:rPr lang="en-US"/>
              <a:pPr>
                <a:defRPr/>
              </a:pPr>
              <a:t>48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Linked Lists </a:t>
            </a:r>
            <a:r>
              <a:rPr lang="en-US" sz="1200" dirty="0" smtClean="0"/>
              <a:t>(continued)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5FB7EC-A771-47DB-B891-1538C2AA7AC0}" type="slidenum">
              <a:rPr lang="en-US"/>
              <a:pPr>
                <a:defRPr/>
              </a:pPr>
              <a:t>49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077200" cy="4572000"/>
          </a:xfrm>
        </p:spPr>
        <p:txBody>
          <a:bodyPr/>
          <a:lstStyle/>
          <a:p>
            <a:r>
              <a:rPr lang="en-US" dirty="0" smtClean="0"/>
              <a:t>Remove records from a linked list</a:t>
            </a:r>
          </a:p>
          <a:p>
            <a:pPr lvl="1"/>
            <a:r>
              <a:rPr lang="en-US" dirty="0" smtClean="0"/>
              <a:t>Records do not need to be physically deleted from the medium on which they are stored</a:t>
            </a:r>
          </a:p>
          <a:p>
            <a:pPr lvl="1"/>
            <a:r>
              <a:rPr lang="en-US" dirty="0" smtClean="0"/>
              <a:t>Remove link field</a:t>
            </a:r>
          </a:p>
          <a:p>
            <a:r>
              <a:rPr lang="en-US" dirty="0" smtClean="0"/>
              <a:t>More sophisticated linked lists store two additional fields with each record</a:t>
            </a:r>
          </a:p>
          <a:p>
            <a:pPr lvl="1"/>
            <a:r>
              <a:rPr lang="en-US" dirty="0" smtClean="0"/>
              <a:t>Address of the next record</a:t>
            </a:r>
          </a:p>
          <a:p>
            <a:pPr lvl="1"/>
            <a:r>
              <a:rPr lang="en-US" dirty="0" smtClean="0"/>
              <a:t>Address of the previous record </a:t>
            </a:r>
          </a:p>
          <a:p>
            <a:pPr lvl="1"/>
            <a:r>
              <a:rPr lang="en-US" dirty="0" smtClean="0"/>
              <a:t>List can be accessed either forward or backward</a:t>
            </a:r>
          </a:p>
        </p:txBody>
      </p:sp>
    </p:spTree>
    <p:extLst>
      <p:ext uri="{BB962C8B-B14F-4D97-AF65-F5344CB8AC3E}">
        <p14:creationId xmlns:p14="http://schemas.microsoft.com/office/powerpoint/2010/main" val="140371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98C39C-FFBC-4220-AA27-556096572441}" type="slidenum">
              <a:rPr lang="en-US"/>
              <a:pPr>
                <a:defRPr/>
              </a:pPr>
              <a:t>50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077200" cy="4572000"/>
          </a:xfrm>
        </p:spPr>
        <p:txBody>
          <a:bodyPr/>
          <a:lstStyle/>
          <a:p>
            <a:r>
              <a:rPr lang="en-US" dirty="0" smtClean="0"/>
              <a:t>Sort data</a:t>
            </a:r>
          </a:p>
          <a:p>
            <a:pPr lvl="1"/>
            <a:r>
              <a:rPr lang="en-US" dirty="0" smtClean="0"/>
              <a:t>Ascending order</a:t>
            </a:r>
          </a:p>
          <a:p>
            <a:pPr lvl="1"/>
            <a:r>
              <a:rPr lang="en-US" dirty="0" smtClean="0"/>
              <a:t>Descending order</a:t>
            </a:r>
          </a:p>
          <a:p>
            <a:r>
              <a:rPr lang="en-US" dirty="0" smtClean="0"/>
              <a:t>Bubble sort</a:t>
            </a:r>
          </a:p>
          <a:p>
            <a:pPr lvl="1"/>
            <a:r>
              <a:rPr lang="en-US" dirty="0" smtClean="0"/>
              <a:t>Items in a list are compared with each other in pairs</a:t>
            </a:r>
          </a:p>
          <a:p>
            <a:pPr lvl="1"/>
            <a:r>
              <a:rPr lang="en-US" dirty="0" smtClean="0"/>
              <a:t>When an item is out of order, it swaps values with the item based on which is larger or smaller</a:t>
            </a:r>
          </a:p>
          <a:p>
            <a:r>
              <a:rPr lang="en-US" dirty="0" smtClean="0"/>
              <a:t>Two possible approaches</a:t>
            </a:r>
            <a:endParaRPr lang="en-US" dirty="0"/>
          </a:p>
          <a:p>
            <a:pPr lvl="1"/>
            <a:r>
              <a:rPr lang="en-US" dirty="0" smtClean="0"/>
              <a:t>Place related items in parallel arrays</a:t>
            </a:r>
            <a:endParaRPr lang="en-US" dirty="0"/>
          </a:p>
          <a:p>
            <a:pPr lvl="1"/>
            <a:r>
              <a:rPr lang="en-US" dirty="0" smtClean="0"/>
              <a:t>Sort records as a whole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</a:t>
            </a:r>
            <a:r>
              <a:rPr lang="en-US" sz="1200" dirty="0" smtClean="0"/>
              <a:t>(continued -1)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98C39C-FFBC-4220-AA27-556096572441}" type="slidenum">
              <a:rPr lang="en-US"/>
              <a:pPr>
                <a:defRPr/>
              </a:pPr>
              <a:t>51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077200" cy="4572000"/>
          </a:xfrm>
        </p:spPr>
        <p:txBody>
          <a:bodyPr/>
          <a:lstStyle/>
          <a:p>
            <a:r>
              <a:rPr lang="en-US" dirty="0" smtClean="0"/>
              <a:t>Insertion sort looks at each element one at a time</a:t>
            </a:r>
          </a:p>
          <a:p>
            <a:pPr lvl="1"/>
            <a:r>
              <a:rPr lang="en-US" dirty="0" smtClean="0"/>
              <a:t>Insert tested record in place and move other records down</a:t>
            </a:r>
          </a:p>
          <a:p>
            <a:r>
              <a:rPr lang="en-US" dirty="0" smtClean="0"/>
              <a:t>Selection </a:t>
            </a:r>
            <a:r>
              <a:rPr lang="en-US" dirty="0"/>
              <a:t>sort </a:t>
            </a:r>
            <a:r>
              <a:rPr lang="en-US" dirty="0" smtClean="0"/>
              <a:t>uses </a:t>
            </a:r>
            <a:r>
              <a:rPr lang="en-US" dirty="0"/>
              <a:t>two </a:t>
            </a:r>
            <a:r>
              <a:rPr lang="en-US" dirty="0" err="1"/>
              <a:t>sublists</a:t>
            </a:r>
            <a:r>
              <a:rPr lang="en-US" dirty="0"/>
              <a:t>—values already sorted and values not yet </a:t>
            </a:r>
            <a:r>
              <a:rPr lang="en-US" dirty="0" smtClean="0"/>
              <a:t>sorted</a:t>
            </a:r>
          </a:p>
          <a:p>
            <a:pPr lvl="1"/>
            <a:r>
              <a:rPr lang="en-US" dirty="0" smtClean="0"/>
              <a:t>Repeatedly look </a:t>
            </a:r>
            <a:r>
              <a:rPr lang="en-US" dirty="0"/>
              <a:t>for the smallest value in the unsorted </a:t>
            </a:r>
            <a:r>
              <a:rPr lang="en-US" dirty="0" err="1" smtClean="0"/>
              <a:t>sublist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swap </a:t>
            </a:r>
            <a:r>
              <a:rPr lang="en-US" dirty="0"/>
              <a:t>it with the item at the beginning</a:t>
            </a:r>
          </a:p>
          <a:p>
            <a:pPr lvl="1"/>
            <a:r>
              <a:rPr lang="en-US" dirty="0" smtClean="0"/>
              <a:t>then </a:t>
            </a:r>
            <a:r>
              <a:rPr lang="en-US" dirty="0"/>
              <a:t>add that element to the end of the sorted </a:t>
            </a:r>
            <a:r>
              <a:rPr lang="en-US" dirty="0" err="1"/>
              <a:t>sublist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0233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</a:t>
            </a:r>
            <a:r>
              <a:rPr lang="en-US" sz="1200" dirty="0" smtClean="0"/>
              <a:t>(continued -2)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98C39C-FFBC-4220-AA27-556096572441}" type="slidenum">
              <a:rPr lang="en-US"/>
              <a:pPr>
                <a:defRPr/>
              </a:pPr>
              <a:t>52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Logic and Design, Ninth Edition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077200" cy="4572000"/>
          </a:xfrm>
        </p:spPr>
        <p:txBody>
          <a:bodyPr/>
          <a:lstStyle/>
          <a:p>
            <a:r>
              <a:rPr lang="en-US" dirty="0" smtClean="0"/>
              <a:t>Two-dimensional </a:t>
            </a:r>
            <a:r>
              <a:rPr lang="en-US" dirty="0"/>
              <a:t>arrays</a:t>
            </a:r>
          </a:p>
          <a:p>
            <a:pPr lvl="1"/>
            <a:r>
              <a:rPr lang="en-US" dirty="0" smtClean="0"/>
              <a:t>Use two subscripts when you access an element in a two-dimensional array</a:t>
            </a:r>
          </a:p>
          <a:p>
            <a:r>
              <a:rPr lang="en-US" dirty="0" smtClean="0"/>
              <a:t>Access data records in a logical order that differs from their physical order</a:t>
            </a:r>
          </a:p>
          <a:p>
            <a:pPr lvl="1"/>
            <a:r>
              <a:rPr lang="en-US" dirty="0" smtClean="0"/>
              <a:t>Using an index </a:t>
            </a:r>
            <a:r>
              <a:rPr lang="en-US" dirty="0"/>
              <a:t>involves identifying</a:t>
            </a:r>
            <a:r>
              <a:rPr lang="en-US" dirty="0" smtClean="0"/>
              <a:t> </a:t>
            </a:r>
            <a:r>
              <a:rPr lang="en-US" dirty="0"/>
              <a:t>a physical address and </a:t>
            </a:r>
            <a:r>
              <a:rPr lang="en-US" dirty="0" smtClean="0"/>
              <a:t>key field </a:t>
            </a:r>
            <a:r>
              <a:rPr lang="en-US" dirty="0"/>
              <a:t>for each </a:t>
            </a:r>
            <a:r>
              <a:rPr lang="en-US" dirty="0" smtClean="0"/>
              <a:t>record</a:t>
            </a:r>
          </a:p>
          <a:p>
            <a:pPr lvl="1"/>
            <a:r>
              <a:rPr lang="en-US" dirty="0" smtClean="0"/>
              <a:t>Creating a linked list </a:t>
            </a:r>
            <a:r>
              <a:rPr lang="en-US" dirty="0"/>
              <a:t>involves creating an extra field within </a:t>
            </a:r>
            <a:r>
              <a:rPr lang="en-US" dirty="0" smtClean="0"/>
              <a:t>every record </a:t>
            </a:r>
            <a:r>
              <a:rPr lang="en-US" dirty="0"/>
              <a:t>to hold the physical address of the next logical record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6277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Farrell_P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2486</Words>
  <Application>Microsoft Office PowerPoint</Application>
  <PresentationFormat>On-screen Show (4:3)</PresentationFormat>
  <Paragraphs>449</Paragraphs>
  <Slides>52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Courier New</vt:lpstr>
      <vt:lpstr>Times New Roman</vt:lpstr>
      <vt:lpstr>1_Farrell_PLD</vt:lpstr>
      <vt:lpstr>Programming Logic and Design Ninth Edition</vt:lpstr>
      <vt:lpstr>Objectives</vt:lpstr>
      <vt:lpstr>Understanding the Need for Sorting Data</vt:lpstr>
      <vt:lpstr>Understanding the Need for Sorting Data (continued -1)</vt:lpstr>
      <vt:lpstr>Understanding the Need for Sorting Data (continued -2)</vt:lpstr>
      <vt:lpstr>Using the Bubble Sort Algorithm</vt:lpstr>
      <vt:lpstr>Understanding Swapping Values</vt:lpstr>
      <vt:lpstr>Understanding Swapping Values (continued -1)</vt:lpstr>
      <vt:lpstr>Understanding Swapping Values (continued -2)</vt:lpstr>
      <vt:lpstr>Understanding the Bubble Sort</vt:lpstr>
      <vt:lpstr>Understanding the Bubble Sort (continued -1)</vt:lpstr>
      <vt:lpstr>Understanding the Bubble Sort (continued -2)</vt:lpstr>
      <vt:lpstr>Understanding the Bubble Sort (continued -3)</vt:lpstr>
      <vt:lpstr>Understanding the Bubble Sort (continued -4)</vt:lpstr>
      <vt:lpstr>Understanding the Bubble Sort (continued -5)</vt:lpstr>
      <vt:lpstr>Understanding the Bubble Sort (continued -6)</vt:lpstr>
      <vt:lpstr>Understanding the Bubble Sort (continued -7)</vt:lpstr>
      <vt:lpstr>Understanding the Bubble Sort (continued -8)</vt:lpstr>
      <vt:lpstr>Sorting a List of Variable Size</vt:lpstr>
      <vt:lpstr>Sorting a List of Variable Size (continued -1)</vt:lpstr>
      <vt:lpstr>Sorting a List of Variable Size (continued -2)</vt:lpstr>
      <vt:lpstr>Sorting a List of Variable Size (continued -3)</vt:lpstr>
      <vt:lpstr>Refining the Bubble Sort to Reduce Unnecessary Comparisons</vt:lpstr>
      <vt:lpstr>Refining the Bubble Sort to Reduce Unnecessary Comparisons (continued -1)</vt:lpstr>
      <vt:lpstr>Refining the Bubble Sort to Reduce Unnecessary Comparisons (continued -2)</vt:lpstr>
      <vt:lpstr>Refining the Bubble Sort to Reduce Unnecessary Passes</vt:lpstr>
      <vt:lpstr>Sorting Multifield Records</vt:lpstr>
      <vt:lpstr>Sorting Multifield Records (continued -1)</vt:lpstr>
      <vt:lpstr>Sorting Multifield Records (continued -2)</vt:lpstr>
      <vt:lpstr>Other Sorting Algorithms</vt:lpstr>
      <vt:lpstr>Other Sorting Algorithms (continued -1)</vt:lpstr>
      <vt:lpstr>Other Sorting Algorithms (continued -2)</vt:lpstr>
      <vt:lpstr>Other Sorting Algorithms (continued -3)</vt:lpstr>
      <vt:lpstr>Using Multidimensional Arrays</vt:lpstr>
      <vt:lpstr>Using Multidimensional Arrays (continued -1)</vt:lpstr>
      <vt:lpstr>Using Multidimensional Arrays (continued -2)</vt:lpstr>
      <vt:lpstr>Using Multidimensional Arrays (continued -3)</vt:lpstr>
      <vt:lpstr>Using Multidimensional Arrays (continued -4)</vt:lpstr>
      <vt:lpstr>Using Multidimensional Arrays (continued -5)</vt:lpstr>
      <vt:lpstr>Using Multidimensional Arrays (continued -6)</vt:lpstr>
      <vt:lpstr>Using Multidimensional Arrays (continued -7)</vt:lpstr>
      <vt:lpstr>Using Multidimensional Arrays (continued -8)</vt:lpstr>
      <vt:lpstr>Using Indexed Files and Linked Lists</vt:lpstr>
      <vt:lpstr>Using Indexed Files and Linked Lists (continued -1)</vt:lpstr>
      <vt:lpstr>Using Indexed Files and Linked Lists (continued -2)</vt:lpstr>
      <vt:lpstr>Using Indexed Files and Linked Lists (continued -3)</vt:lpstr>
      <vt:lpstr>Using Indexed Files and Linked Lists (continued -4)</vt:lpstr>
      <vt:lpstr>Using Linked Lists</vt:lpstr>
      <vt:lpstr>Using Linked Lists (continued)</vt:lpstr>
      <vt:lpstr>Summary</vt:lpstr>
      <vt:lpstr>Summary (continued -1)</vt:lpstr>
      <vt:lpstr>Summary (continued -2)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1006</cp:revision>
  <dcterms:created xsi:type="dcterms:W3CDTF">2002-09-27T23:29:22Z</dcterms:created>
  <dcterms:modified xsi:type="dcterms:W3CDTF">2016-11-10T17:32:28Z</dcterms:modified>
</cp:coreProperties>
</file>