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882" r:id="rId1"/>
  </p:sldMasterIdLst>
  <p:notesMasterIdLst>
    <p:notesMasterId r:id="rId52"/>
  </p:notesMasterIdLst>
  <p:handoutMasterIdLst>
    <p:handoutMasterId r:id="rId53"/>
  </p:handoutMasterIdLst>
  <p:sldIdLst>
    <p:sldId id="951" r:id="rId2"/>
    <p:sldId id="257" r:id="rId3"/>
    <p:sldId id="849" r:id="rId4"/>
    <p:sldId id="919" r:id="rId5"/>
    <p:sldId id="920" r:id="rId6"/>
    <p:sldId id="921" r:id="rId7"/>
    <p:sldId id="948" r:id="rId8"/>
    <p:sldId id="937" r:id="rId9"/>
    <p:sldId id="859" r:id="rId10"/>
    <p:sldId id="922" r:id="rId11"/>
    <p:sldId id="949" r:id="rId12"/>
    <p:sldId id="923" r:id="rId13"/>
    <p:sldId id="924" r:id="rId14"/>
    <p:sldId id="861" r:id="rId15"/>
    <p:sldId id="851" r:id="rId16"/>
    <p:sldId id="938" r:id="rId17"/>
    <p:sldId id="925" r:id="rId18"/>
    <p:sldId id="926" r:id="rId19"/>
    <p:sldId id="899" r:id="rId20"/>
    <p:sldId id="884" r:id="rId21"/>
    <p:sldId id="900" r:id="rId22"/>
    <p:sldId id="901" r:id="rId23"/>
    <p:sldId id="927" r:id="rId24"/>
    <p:sldId id="852" r:id="rId25"/>
    <p:sldId id="928" r:id="rId26"/>
    <p:sldId id="853" r:id="rId27"/>
    <p:sldId id="939" r:id="rId28"/>
    <p:sldId id="887" r:id="rId29"/>
    <p:sldId id="905" r:id="rId30"/>
    <p:sldId id="930" r:id="rId31"/>
    <p:sldId id="931" r:id="rId32"/>
    <p:sldId id="885" r:id="rId33"/>
    <p:sldId id="906" r:id="rId34"/>
    <p:sldId id="854" r:id="rId35"/>
    <p:sldId id="855" r:id="rId36"/>
    <p:sldId id="907" r:id="rId37"/>
    <p:sldId id="932" r:id="rId38"/>
    <p:sldId id="940" r:id="rId39"/>
    <p:sldId id="941" r:id="rId40"/>
    <p:sldId id="863" r:id="rId41"/>
    <p:sldId id="942" r:id="rId42"/>
    <p:sldId id="914" r:id="rId43"/>
    <p:sldId id="915" r:id="rId44"/>
    <p:sldId id="943" r:id="rId45"/>
    <p:sldId id="945" r:id="rId46"/>
    <p:sldId id="950" r:id="rId47"/>
    <p:sldId id="946" r:id="rId48"/>
    <p:sldId id="848" r:id="rId49"/>
    <p:sldId id="898" r:id="rId50"/>
    <p:sldId id="947" r:id="rId51"/>
  </p:sldIdLst>
  <p:sldSz cx="9144000" cy="6858000" type="screen4x3"/>
  <p:notesSz cx="6858000" cy="9144000"/>
  <p:defaultTextStyle>
    <a:defPPr>
      <a:defRPr lang="en-US"/>
    </a:defPPr>
    <a:lvl1pPr algn="l" rtl="0" fontAlgn="base">
      <a:spcBef>
        <a:spcPct val="0"/>
      </a:spcBef>
      <a:spcAft>
        <a:spcPct val="0"/>
      </a:spcAft>
      <a:defRPr sz="2000" kern="1200">
        <a:solidFill>
          <a:srgbClr val="FFFFFF"/>
        </a:solidFill>
        <a:latin typeface="Times New Roman" pitchFamily="18" charset="0"/>
        <a:ea typeface="+mn-ea"/>
        <a:cs typeface="Arial" pitchFamily="34" charset="0"/>
      </a:defRPr>
    </a:lvl1pPr>
    <a:lvl2pPr marL="457200" algn="l" rtl="0" fontAlgn="base">
      <a:spcBef>
        <a:spcPct val="0"/>
      </a:spcBef>
      <a:spcAft>
        <a:spcPct val="0"/>
      </a:spcAft>
      <a:defRPr sz="2000" kern="1200">
        <a:solidFill>
          <a:srgbClr val="FFFFFF"/>
        </a:solidFill>
        <a:latin typeface="Times New Roman" pitchFamily="18" charset="0"/>
        <a:ea typeface="+mn-ea"/>
        <a:cs typeface="Arial" pitchFamily="34" charset="0"/>
      </a:defRPr>
    </a:lvl2pPr>
    <a:lvl3pPr marL="914400" algn="l" rtl="0" fontAlgn="base">
      <a:spcBef>
        <a:spcPct val="0"/>
      </a:spcBef>
      <a:spcAft>
        <a:spcPct val="0"/>
      </a:spcAft>
      <a:defRPr sz="2000" kern="1200">
        <a:solidFill>
          <a:srgbClr val="FFFFFF"/>
        </a:solidFill>
        <a:latin typeface="Times New Roman" pitchFamily="18" charset="0"/>
        <a:ea typeface="+mn-ea"/>
        <a:cs typeface="Arial" pitchFamily="34" charset="0"/>
      </a:defRPr>
    </a:lvl3pPr>
    <a:lvl4pPr marL="1371600" algn="l" rtl="0" fontAlgn="base">
      <a:spcBef>
        <a:spcPct val="0"/>
      </a:spcBef>
      <a:spcAft>
        <a:spcPct val="0"/>
      </a:spcAft>
      <a:defRPr sz="2000" kern="1200">
        <a:solidFill>
          <a:srgbClr val="FFFFFF"/>
        </a:solidFill>
        <a:latin typeface="Times New Roman" pitchFamily="18" charset="0"/>
        <a:ea typeface="+mn-ea"/>
        <a:cs typeface="Arial" pitchFamily="34" charset="0"/>
      </a:defRPr>
    </a:lvl4pPr>
    <a:lvl5pPr marL="1828800" algn="l" rtl="0" fontAlgn="base">
      <a:spcBef>
        <a:spcPct val="0"/>
      </a:spcBef>
      <a:spcAft>
        <a:spcPct val="0"/>
      </a:spcAft>
      <a:defRPr sz="2000" kern="1200">
        <a:solidFill>
          <a:srgbClr val="FFFFFF"/>
        </a:solidFill>
        <a:latin typeface="Times New Roman" pitchFamily="18" charset="0"/>
        <a:ea typeface="+mn-ea"/>
        <a:cs typeface="Arial" pitchFamily="34" charset="0"/>
      </a:defRPr>
    </a:lvl5pPr>
    <a:lvl6pPr marL="2286000" algn="l" defTabSz="914400" rtl="0" eaLnBrk="1" latinLnBrk="0" hangingPunct="1">
      <a:defRPr sz="2000" kern="1200">
        <a:solidFill>
          <a:srgbClr val="FFFFFF"/>
        </a:solidFill>
        <a:latin typeface="Times New Roman" pitchFamily="18" charset="0"/>
        <a:ea typeface="+mn-ea"/>
        <a:cs typeface="Arial" pitchFamily="34" charset="0"/>
      </a:defRPr>
    </a:lvl6pPr>
    <a:lvl7pPr marL="2743200" algn="l" defTabSz="914400" rtl="0" eaLnBrk="1" latinLnBrk="0" hangingPunct="1">
      <a:defRPr sz="2000" kern="1200">
        <a:solidFill>
          <a:srgbClr val="FFFFFF"/>
        </a:solidFill>
        <a:latin typeface="Times New Roman" pitchFamily="18" charset="0"/>
        <a:ea typeface="+mn-ea"/>
        <a:cs typeface="Arial" pitchFamily="34" charset="0"/>
      </a:defRPr>
    </a:lvl7pPr>
    <a:lvl8pPr marL="3200400" algn="l" defTabSz="914400" rtl="0" eaLnBrk="1" latinLnBrk="0" hangingPunct="1">
      <a:defRPr sz="2000" kern="1200">
        <a:solidFill>
          <a:srgbClr val="FFFFFF"/>
        </a:solidFill>
        <a:latin typeface="Times New Roman" pitchFamily="18" charset="0"/>
        <a:ea typeface="+mn-ea"/>
        <a:cs typeface="Arial" pitchFamily="34" charset="0"/>
      </a:defRPr>
    </a:lvl8pPr>
    <a:lvl9pPr marL="3657600" algn="l" defTabSz="914400" rtl="0" eaLnBrk="1" latinLnBrk="0" hangingPunct="1">
      <a:defRPr sz="2000" kern="1200">
        <a:solidFill>
          <a:srgbClr val="FFFFFF"/>
        </a:solidFill>
        <a:latin typeface="Times New Roman" pitchFamily="18"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3300"/>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68" autoAdjust="0"/>
    <p:restoredTop sz="94500" autoAdjust="0"/>
  </p:normalViewPr>
  <p:slideViewPr>
    <p:cSldViewPr>
      <p:cViewPr varScale="1">
        <p:scale>
          <a:sx n="92" d="100"/>
          <a:sy n="92" d="100"/>
        </p:scale>
        <p:origin x="113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1228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cs typeface="+mn-cs"/>
              </a:defRPr>
            </a:lvl1pPr>
          </a:lstStyle>
          <a:p>
            <a:pPr>
              <a:defRPr/>
            </a:pPr>
            <a:endParaRPr lang="en-US" dirty="0"/>
          </a:p>
        </p:txBody>
      </p:sp>
      <p:sp>
        <p:nvSpPr>
          <p:cNvPr id="1228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1228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cs typeface="+mn-cs"/>
              </a:defRPr>
            </a:lvl1pPr>
          </a:lstStyle>
          <a:p>
            <a:pPr>
              <a:defRPr/>
            </a:pPr>
            <a:fld id="{6BA85960-FF8D-4966-AFCE-76588880AEA8}" type="slidenum">
              <a:rPr lang="en-US"/>
              <a:pPr>
                <a:defRPr/>
              </a:pPr>
              <a:t>‹#›</a:t>
            </a:fld>
            <a:endParaRPr lang="en-US" dirty="0"/>
          </a:p>
        </p:txBody>
      </p:sp>
    </p:spTree>
    <p:extLst>
      <p:ext uri="{BB962C8B-B14F-4D97-AF65-F5344CB8AC3E}">
        <p14:creationId xmlns:p14="http://schemas.microsoft.com/office/powerpoint/2010/main" val="3032930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645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cs typeface="+mn-cs"/>
              </a:defRPr>
            </a:lvl1pPr>
          </a:lstStyle>
          <a:p>
            <a:pPr>
              <a:defRPr/>
            </a:pPr>
            <a:endParaRPr lang="en-US" dirty="0"/>
          </a:p>
        </p:txBody>
      </p:sp>
      <p:sp>
        <p:nvSpPr>
          <p:cNvPr id="512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45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645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cs typeface="+mn-cs"/>
              </a:defRPr>
            </a:lvl1pPr>
          </a:lstStyle>
          <a:p>
            <a:pPr>
              <a:defRPr/>
            </a:pPr>
            <a:fld id="{E117145D-B78F-4F40-B0E2-55542D9A63C6}" type="slidenum">
              <a:rPr lang="en-US"/>
              <a:pPr>
                <a:defRPr/>
              </a:pPr>
              <a:t>‹#›</a:t>
            </a:fld>
            <a:endParaRPr lang="en-US" dirty="0"/>
          </a:p>
        </p:txBody>
      </p:sp>
    </p:spTree>
    <p:extLst>
      <p:ext uri="{BB962C8B-B14F-4D97-AF65-F5344CB8AC3E}">
        <p14:creationId xmlns:p14="http://schemas.microsoft.com/office/powerpoint/2010/main" val="10600000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2</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266041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3</a:t>
            </a:fld>
            <a:endParaRPr lang="en-US" dirty="0"/>
          </a:p>
        </p:txBody>
      </p:sp>
    </p:spTree>
    <p:extLst>
      <p:ext uri="{BB962C8B-B14F-4D97-AF65-F5344CB8AC3E}">
        <p14:creationId xmlns:p14="http://schemas.microsoft.com/office/powerpoint/2010/main" val="2741825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4</a:t>
            </a:fld>
            <a:endParaRPr lang="en-US" dirty="0"/>
          </a:p>
        </p:txBody>
      </p:sp>
    </p:spTree>
    <p:extLst>
      <p:ext uri="{BB962C8B-B14F-4D97-AF65-F5344CB8AC3E}">
        <p14:creationId xmlns:p14="http://schemas.microsoft.com/office/powerpoint/2010/main" val="1006883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5</a:t>
            </a:fld>
            <a:endParaRPr lang="en-US" dirty="0"/>
          </a:p>
        </p:txBody>
      </p:sp>
    </p:spTree>
    <p:extLst>
      <p:ext uri="{BB962C8B-B14F-4D97-AF65-F5344CB8AC3E}">
        <p14:creationId xmlns:p14="http://schemas.microsoft.com/office/powerpoint/2010/main" val="3937476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6</a:t>
            </a:fld>
            <a:endParaRPr lang="en-US" dirty="0"/>
          </a:p>
        </p:txBody>
      </p:sp>
    </p:spTree>
    <p:extLst>
      <p:ext uri="{BB962C8B-B14F-4D97-AF65-F5344CB8AC3E}">
        <p14:creationId xmlns:p14="http://schemas.microsoft.com/office/powerpoint/2010/main" val="258126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7</a:t>
            </a:fld>
            <a:endParaRPr lang="en-US" dirty="0"/>
          </a:p>
        </p:txBody>
      </p:sp>
    </p:spTree>
    <p:extLst>
      <p:ext uri="{BB962C8B-B14F-4D97-AF65-F5344CB8AC3E}">
        <p14:creationId xmlns:p14="http://schemas.microsoft.com/office/powerpoint/2010/main" val="1696173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8</a:t>
            </a:fld>
            <a:endParaRPr lang="en-US" dirty="0"/>
          </a:p>
        </p:txBody>
      </p:sp>
    </p:spTree>
    <p:extLst>
      <p:ext uri="{BB962C8B-B14F-4D97-AF65-F5344CB8AC3E}">
        <p14:creationId xmlns:p14="http://schemas.microsoft.com/office/powerpoint/2010/main" val="555963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9</a:t>
            </a:fld>
            <a:endParaRPr lang="en-US" dirty="0"/>
          </a:p>
        </p:txBody>
      </p:sp>
    </p:spTree>
    <p:extLst>
      <p:ext uri="{BB962C8B-B14F-4D97-AF65-F5344CB8AC3E}">
        <p14:creationId xmlns:p14="http://schemas.microsoft.com/office/powerpoint/2010/main" val="2287448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10</a:t>
            </a:fld>
            <a:endParaRPr lang="en-US" dirty="0"/>
          </a:p>
        </p:txBody>
      </p:sp>
    </p:spTree>
    <p:extLst>
      <p:ext uri="{BB962C8B-B14F-4D97-AF65-F5344CB8AC3E}">
        <p14:creationId xmlns:p14="http://schemas.microsoft.com/office/powerpoint/2010/main" val="546544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11</a:t>
            </a:fld>
            <a:endParaRPr lang="en-US" dirty="0"/>
          </a:p>
        </p:txBody>
      </p:sp>
    </p:spTree>
    <p:extLst>
      <p:ext uri="{BB962C8B-B14F-4D97-AF65-F5344CB8AC3E}">
        <p14:creationId xmlns:p14="http://schemas.microsoft.com/office/powerpoint/2010/main" val="67583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12</a:t>
            </a:fld>
            <a:endParaRPr lang="en-US" dirty="0"/>
          </a:p>
        </p:txBody>
      </p:sp>
    </p:spTree>
    <p:extLst>
      <p:ext uri="{BB962C8B-B14F-4D97-AF65-F5344CB8AC3E}">
        <p14:creationId xmlns:p14="http://schemas.microsoft.com/office/powerpoint/2010/main" val="3521937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13</a:t>
            </a:fld>
            <a:endParaRPr lang="en-US" dirty="0"/>
          </a:p>
        </p:txBody>
      </p:sp>
    </p:spTree>
    <p:extLst>
      <p:ext uri="{BB962C8B-B14F-4D97-AF65-F5344CB8AC3E}">
        <p14:creationId xmlns:p14="http://schemas.microsoft.com/office/powerpoint/2010/main" val="963001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3ECACEA-3A71-4EFB-BC72-F34E4F8071A8}" type="slidenum">
              <a:rPr lang="en-US" smtClean="0"/>
              <a:pPr>
                <a:defRPr/>
              </a:pPr>
              <a:t>14</a:t>
            </a:fld>
            <a:endParaRPr lang="en-US" dirty="0"/>
          </a:p>
        </p:txBody>
      </p:sp>
    </p:spTree>
    <p:extLst>
      <p:ext uri="{BB962C8B-B14F-4D97-AF65-F5344CB8AC3E}">
        <p14:creationId xmlns:p14="http://schemas.microsoft.com/office/powerpoint/2010/main" val="1241729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15</a:t>
            </a:fld>
            <a:endParaRPr lang="en-US" dirty="0"/>
          </a:p>
        </p:txBody>
      </p:sp>
    </p:spTree>
    <p:extLst>
      <p:ext uri="{BB962C8B-B14F-4D97-AF65-F5344CB8AC3E}">
        <p14:creationId xmlns:p14="http://schemas.microsoft.com/office/powerpoint/2010/main" val="2936283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16</a:t>
            </a:fld>
            <a:endParaRPr lang="en-US" dirty="0"/>
          </a:p>
        </p:txBody>
      </p:sp>
    </p:spTree>
    <p:extLst>
      <p:ext uri="{BB962C8B-B14F-4D97-AF65-F5344CB8AC3E}">
        <p14:creationId xmlns:p14="http://schemas.microsoft.com/office/powerpoint/2010/main" val="2949532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17</a:t>
            </a:fld>
            <a:endParaRPr lang="en-US" dirty="0"/>
          </a:p>
        </p:txBody>
      </p:sp>
    </p:spTree>
    <p:extLst>
      <p:ext uri="{BB962C8B-B14F-4D97-AF65-F5344CB8AC3E}">
        <p14:creationId xmlns:p14="http://schemas.microsoft.com/office/powerpoint/2010/main" val="1623536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18</a:t>
            </a:fld>
            <a:endParaRPr lang="en-US" dirty="0"/>
          </a:p>
        </p:txBody>
      </p:sp>
    </p:spTree>
    <p:extLst>
      <p:ext uri="{BB962C8B-B14F-4D97-AF65-F5344CB8AC3E}">
        <p14:creationId xmlns:p14="http://schemas.microsoft.com/office/powerpoint/2010/main" val="90790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19</a:t>
            </a:fld>
            <a:endParaRPr lang="en-US" dirty="0"/>
          </a:p>
        </p:txBody>
      </p:sp>
    </p:spTree>
    <p:extLst>
      <p:ext uri="{BB962C8B-B14F-4D97-AF65-F5344CB8AC3E}">
        <p14:creationId xmlns:p14="http://schemas.microsoft.com/office/powerpoint/2010/main" val="3030418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20</a:t>
            </a:fld>
            <a:endParaRPr lang="en-US" dirty="0"/>
          </a:p>
        </p:txBody>
      </p:sp>
    </p:spTree>
    <p:extLst>
      <p:ext uri="{BB962C8B-B14F-4D97-AF65-F5344CB8AC3E}">
        <p14:creationId xmlns:p14="http://schemas.microsoft.com/office/powerpoint/2010/main" val="13086693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21</a:t>
            </a:fld>
            <a:endParaRPr lang="en-US" dirty="0"/>
          </a:p>
        </p:txBody>
      </p:sp>
    </p:spTree>
    <p:extLst>
      <p:ext uri="{BB962C8B-B14F-4D97-AF65-F5344CB8AC3E}">
        <p14:creationId xmlns:p14="http://schemas.microsoft.com/office/powerpoint/2010/main" val="1863650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22</a:t>
            </a:fld>
            <a:endParaRPr lang="en-US" dirty="0"/>
          </a:p>
        </p:txBody>
      </p:sp>
    </p:spTree>
    <p:extLst>
      <p:ext uri="{BB962C8B-B14F-4D97-AF65-F5344CB8AC3E}">
        <p14:creationId xmlns:p14="http://schemas.microsoft.com/office/powerpoint/2010/main" val="1882654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23</a:t>
            </a:fld>
            <a:endParaRPr lang="en-US" dirty="0"/>
          </a:p>
        </p:txBody>
      </p:sp>
    </p:spTree>
    <p:extLst>
      <p:ext uri="{BB962C8B-B14F-4D97-AF65-F5344CB8AC3E}">
        <p14:creationId xmlns:p14="http://schemas.microsoft.com/office/powerpoint/2010/main" val="24975814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3BB2787E-ED7D-4431-A83A-4827CDD953DD}" type="slidenum">
              <a:rPr lang="en-US" smtClean="0"/>
              <a:pPr>
                <a:defRPr/>
              </a:pPr>
              <a:t>24</a:t>
            </a:fld>
            <a:endParaRPr lang="en-US" dirty="0"/>
          </a:p>
        </p:txBody>
      </p:sp>
    </p:spTree>
    <p:extLst>
      <p:ext uri="{BB962C8B-B14F-4D97-AF65-F5344CB8AC3E}">
        <p14:creationId xmlns:p14="http://schemas.microsoft.com/office/powerpoint/2010/main" val="21032729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3BB2787E-ED7D-4431-A83A-4827CDD953DD}" type="slidenum">
              <a:rPr lang="en-US" smtClean="0"/>
              <a:pPr>
                <a:defRPr/>
              </a:pPr>
              <a:t>25</a:t>
            </a:fld>
            <a:endParaRPr lang="en-US" dirty="0"/>
          </a:p>
        </p:txBody>
      </p:sp>
    </p:spTree>
    <p:extLst>
      <p:ext uri="{BB962C8B-B14F-4D97-AF65-F5344CB8AC3E}">
        <p14:creationId xmlns:p14="http://schemas.microsoft.com/office/powerpoint/2010/main" val="4069325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26</a:t>
            </a:fld>
            <a:endParaRPr lang="en-US" dirty="0"/>
          </a:p>
        </p:txBody>
      </p:sp>
    </p:spTree>
    <p:extLst>
      <p:ext uri="{BB962C8B-B14F-4D97-AF65-F5344CB8AC3E}">
        <p14:creationId xmlns:p14="http://schemas.microsoft.com/office/powerpoint/2010/main" val="2531266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27</a:t>
            </a:fld>
            <a:endParaRPr lang="en-US" dirty="0"/>
          </a:p>
        </p:txBody>
      </p:sp>
    </p:spTree>
    <p:extLst>
      <p:ext uri="{BB962C8B-B14F-4D97-AF65-F5344CB8AC3E}">
        <p14:creationId xmlns:p14="http://schemas.microsoft.com/office/powerpoint/2010/main" val="791232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28</a:t>
            </a:fld>
            <a:endParaRPr lang="en-US" dirty="0"/>
          </a:p>
        </p:txBody>
      </p:sp>
    </p:spTree>
    <p:extLst>
      <p:ext uri="{BB962C8B-B14F-4D97-AF65-F5344CB8AC3E}">
        <p14:creationId xmlns:p14="http://schemas.microsoft.com/office/powerpoint/2010/main" val="241078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29</a:t>
            </a:fld>
            <a:endParaRPr lang="en-US" dirty="0"/>
          </a:p>
        </p:txBody>
      </p:sp>
    </p:spTree>
    <p:extLst>
      <p:ext uri="{BB962C8B-B14F-4D97-AF65-F5344CB8AC3E}">
        <p14:creationId xmlns:p14="http://schemas.microsoft.com/office/powerpoint/2010/main" val="41094345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30</a:t>
            </a:fld>
            <a:endParaRPr lang="en-US" dirty="0"/>
          </a:p>
        </p:txBody>
      </p:sp>
    </p:spTree>
    <p:extLst>
      <p:ext uri="{BB962C8B-B14F-4D97-AF65-F5344CB8AC3E}">
        <p14:creationId xmlns:p14="http://schemas.microsoft.com/office/powerpoint/2010/main" val="5791138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31</a:t>
            </a:fld>
            <a:endParaRPr lang="en-US" dirty="0"/>
          </a:p>
        </p:txBody>
      </p:sp>
    </p:spTree>
    <p:extLst>
      <p:ext uri="{BB962C8B-B14F-4D97-AF65-F5344CB8AC3E}">
        <p14:creationId xmlns:p14="http://schemas.microsoft.com/office/powerpoint/2010/main" val="9498745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32</a:t>
            </a:fld>
            <a:endParaRPr lang="en-US" dirty="0"/>
          </a:p>
        </p:txBody>
      </p:sp>
    </p:spTree>
    <p:extLst>
      <p:ext uri="{BB962C8B-B14F-4D97-AF65-F5344CB8AC3E}">
        <p14:creationId xmlns:p14="http://schemas.microsoft.com/office/powerpoint/2010/main" val="13183028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33</a:t>
            </a:fld>
            <a:endParaRPr lang="en-US" dirty="0"/>
          </a:p>
        </p:txBody>
      </p:sp>
    </p:spTree>
    <p:extLst>
      <p:ext uri="{BB962C8B-B14F-4D97-AF65-F5344CB8AC3E}">
        <p14:creationId xmlns:p14="http://schemas.microsoft.com/office/powerpoint/2010/main" val="31058904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8FD64B0-96AF-4CB5-992A-45FE8538DD2A}" type="slidenum">
              <a:rPr lang="en-US" smtClean="0"/>
              <a:pPr>
                <a:defRPr/>
              </a:pPr>
              <a:t>34</a:t>
            </a:fld>
            <a:endParaRPr lang="en-US" dirty="0"/>
          </a:p>
        </p:txBody>
      </p:sp>
    </p:spTree>
    <p:extLst>
      <p:ext uri="{BB962C8B-B14F-4D97-AF65-F5344CB8AC3E}">
        <p14:creationId xmlns:p14="http://schemas.microsoft.com/office/powerpoint/2010/main" val="32249191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35</a:t>
            </a:fld>
            <a:endParaRPr lang="en-US" dirty="0"/>
          </a:p>
        </p:txBody>
      </p:sp>
    </p:spTree>
    <p:extLst>
      <p:ext uri="{BB962C8B-B14F-4D97-AF65-F5344CB8AC3E}">
        <p14:creationId xmlns:p14="http://schemas.microsoft.com/office/powerpoint/2010/main" val="178079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36</a:t>
            </a:fld>
            <a:endParaRPr lang="en-US" dirty="0"/>
          </a:p>
        </p:txBody>
      </p:sp>
    </p:spTree>
    <p:extLst>
      <p:ext uri="{BB962C8B-B14F-4D97-AF65-F5344CB8AC3E}">
        <p14:creationId xmlns:p14="http://schemas.microsoft.com/office/powerpoint/2010/main" val="14868062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37</a:t>
            </a:fld>
            <a:endParaRPr lang="en-US" dirty="0"/>
          </a:p>
        </p:txBody>
      </p:sp>
    </p:spTree>
    <p:extLst>
      <p:ext uri="{BB962C8B-B14F-4D97-AF65-F5344CB8AC3E}">
        <p14:creationId xmlns:p14="http://schemas.microsoft.com/office/powerpoint/2010/main" val="19731854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38</a:t>
            </a:fld>
            <a:endParaRPr lang="en-US" dirty="0"/>
          </a:p>
        </p:txBody>
      </p:sp>
    </p:spTree>
    <p:extLst>
      <p:ext uri="{BB962C8B-B14F-4D97-AF65-F5344CB8AC3E}">
        <p14:creationId xmlns:p14="http://schemas.microsoft.com/office/powerpoint/2010/main" val="36223971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39</a:t>
            </a:fld>
            <a:endParaRPr lang="en-US" dirty="0"/>
          </a:p>
        </p:txBody>
      </p:sp>
    </p:spTree>
    <p:extLst>
      <p:ext uri="{BB962C8B-B14F-4D97-AF65-F5344CB8AC3E}">
        <p14:creationId xmlns:p14="http://schemas.microsoft.com/office/powerpoint/2010/main" val="9298509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D9F6B53-D6F0-44D4-8768-FA29330C4FDC}" type="slidenum">
              <a:rPr lang="en-US" smtClean="0"/>
              <a:pPr>
                <a:defRPr/>
              </a:pPr>
              <a:t>40</a:t>
            </a:fld>
            <a:endParaRPr lang="en-US" dirty="0"/>
          </a:p>
        </p:txBody>
      </p:sp>
    </p:spTree>
    <p:extLst>
      <p:ext uri="{BB962C8B-B14F-4D97-AF65-F5344CB8AC3E}">
        <p14:creationId xmlns:p14="http://schemas.microsoft.com/office/powerpoint/2010/main" val="29311251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D9F6B53-D6F0-44D4-8768-FA29330C4FDC}" type="slidenum">
              <a:rPr lang="en-US" smtClean="0"/>
              <a:pPr>
                <a:defRPr/>
              </a:pPr>
              <a:t>41</a:t>
            </a:fld>
            <a:endParaRPr lang="en-US" dirty="0"/>
          </a:p>
        </p:txBody>
      </p:sp>
    </p:spTree>
    <p:extLst>
      <p:ext uri="{BB962C8B-B14F-4D97-AF65-F5344CB8AC3E}">
        <p14:creationId xmlns:p14="http://schemas.microsoft.com/office/powerpoint/2010/main" val="4058786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D9F6B53-D6F0-44D4-8768-FA29330C4FDC}" type="slidenum">
              <a:rPr lang="en-US" smtClean="0"/>
              <a:pPr>
                <a:defRPr/>
              </a:pPr>
              <a:t>42</a:t>
            </a:fld>
            <a:endParaRPr lang="en-US" dirty="0"/>
          </a:p>
        </p:txBody>
      </p:sp>
    </p:spTree>
    <p:extLst>
      <p:ext uri="{BB962C8B-B14F-4D97-AF65-F5344CB8AC3E}">
        <p14:creationId xmlns:p14="http://schemas.microsoft.com/office/powerpoint/2010/main" val="22157617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D9F6B53-D6F0-44D4-8768-FA29330C4FDC}" type="slidenum">
              <a:rPr lang="en-US" smtClean="0"/>
              <a:pPr>
                <a:defRPr/>
              </a:pPr>
              <a:t>43</a:t>
            </a:fld>
            <a:endParaRPr lang="en-US" dirty="0"/>
          </a:p>
        </p:txBody>
      </p:sp>
    </p:spTree>
    <p:extLst>
      <p:ext uri="{BB962C8B-B14F-4D97-AF65-F5344CB8AC3E}">
        <p14:creationId xmlns:p14="http://schemas.microsoft.com/office/powerpoint/2010/main" val="38961611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D9F6B53-D6F0-44D4-8768-FA29330C4FDC}" type="slidenum">
              <a:rPr lang="en-US" smtClean="0"/>
              <a:pPr>
                <a:defRPr/>
              </a:pPr>
              <a:t>44</a:t>
            </a:fld>
            <a:endParaRPr lang="en-US" dirty="0"/>
          </a:p>
        </p:txBody>
      </p:sp>
    </p:spTree>
    <p:extLst>
      <p:ext uri="{BB962C8B-B14F-4D97-AF65-F5344CB8AC3E}">
        <p14:creationId xmlns:p14="http://schemas.microsoft.com/office/powerpoint/2010/main" val="37489706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D9F6B53-D6F0-44D4-8768-FA29330C4FDC}" type="slidenum">
              <a:rPr lang="en-US" smtClean="0"/>
              <a:pPr>
                <a:defRPr/>
              </a:pPr>
              <a:t>45</a:t>
            </a:fld>
            <a:endParaRPr lang="en-US" dirty="0"/>
          </a:p>
        </p:txBody>
      </p:sp>
    </p:spTree>
    <p:extLst>
      <p:ext uri="{BB962C8B-B14F-4D97-AF65-F5344CB8AC3E}">
        <p14:creationId xmlns:p14="http://schemas.microsoft.com/office/powerpoint/2010/main" val="4392752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D9F6B53-D6F0-44D4-8768-FA29330C4FDC}" type="slidenum">
              <a:rPr lang="en-US" smtClean="0"/>
              <a:pPr>
                <a:defRPr/>
              </a:pPr>
              <a:t>46</a:t>
            </a:fld>
            <a:endParaRPr lang="en-US" dirty="0"/>
          </a:p>
        </p:txBody>
      </p:sp>
    </p:spTree>
    <p:extLst>
      <p:ext uri="{BB962C8B-B14F-4D97-AF65-F5344CB8AC3E}">
        <p14:creationId xmlns:p14="http://schemas.microsoft.com/office/powerpoint/2010/main" val="9286611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D9F6B53-D6F0-44D4-8768-FA29330C4FDC}" type="slidenum">
              <a:rPr lang="en-US" smtClean="0"/>
              <a:pPr>
                <a:defRPr/>
              </a:pPr>
              <a:t>47</a:t>
            </a:fld>
            <a:endParaRPr lang="en-US" dirty="0"/>
          </a:p>
        </p:txBody>
      </p:sp>
    </p:spTree>
    <p:extLst>
      <p:ext uri="{BB962C8B-B14F-4D97-AF65-F5344CB8AC3E}">
        <p14:creationId xmlns:p14="http://schemas.microsoft.com/office/powerpoint/2010/main" val="2440644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48</a:t>
            </a:fld>
            <a:endParaRPr lang="en-US" dirty="0"/>
          </a:p>
        </p:txBody>
      </p:sp>
    </p:spTree>
    <p:extLst>
      <p:ext uri="{BB962C8B-B14F-4D97-AF65-F5344CB8AC3E}">
        <p14:creationId xmlns:p14="http://schemas.microsoft.com/office/powerpoint/2010/main" val="1116937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49</a:t>
            </a:fld>
            <a:endParaRPr lang="en-US" dirty="0"/>
          </a:p>
        </p:txBody>
      </p:sp>
    </p:spTree>
    <p:extLst>
      <p:ext uri="{BB962C8B-B14F-4D97-AF65-F5344CB8AC3E}">
        <p14:creationId xmlns:p14="http://schemas.microsoft.com/office/powerpoint/2010/main" val="40580781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50</a:t>
            </a:fld>
            <a:endParaRPr lang="en-US" dirty="0"/>
          </a:p>
        </p:txBody>
      </p:sp>
    </p:spTree>
    <p:extLst>
      <p:ext uri="{BB962C8B-B14F-4D97-AF65-F5344CB8AC3E}">
        <p14:creationId xmlns:p14="http://schemas.microsoft.com/office/powerpoint/2010/main" val="21310911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0" y="30163"/>
            <a:ext cx="9144000" cy="2906712"/>
          </a:xfrm>
          <a:prstGeom prst="rect">
            <a:avLst/>
          </a:prstGeom>
          <a:noFill/>
          <a:ln w="9525">
            <a:noFill/>
            <a:miter lim="800000"/>
            <a:headEnd/>
            <a:tailEnd/>
          </a:ln>
        </p:spPr>
      </p:pic>
      <p:sp>
        <p:nvSpPr>
          <p:cNvPr id="2" name="Title 1"/>
          <p:cNvSpPr>
            <a:spLocks noGrp="1"/>
          </p:cNvSpPr>
          <p:nvPr>
            <p:ph type="ctrTitle"/>
          </p:nvPr>
        </p:nvSpPr>
        <p:spPr>
          <a:xfrm>
            <a:off x="685800" y="2968625"/>
            <a:ext cx="7772400" cy="1470025"/>
          </a:xfrm>
        </p:spPr>
        <p:txBody>
          <a:bodyPr/>
          <a:lstStyle>
            <a:lvl1pPr>
              <a:defRPr>
                <a:solidFill>
                  <a:schemeClr val="tx2">
                    <a:lumMod val="60000"/>
                    <a:lumOff val="40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4724400"/>
            <a:ext cx="6400800" cy="1752600"/>
          </a:xfrm>
        </p:spPr>
        <p:txBody>
          <a:bodyPr/>
          <a:lstStyle>
            <a:lvl1pPr marL="0" indent="0" algn="ctr">
              <a:buNone/>
              <a:defRPr>
                <a:solidFill>
                  <a:schemeClr val="accent6">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9"/>
          <p:cNvSpPr>
            <a:spLocks noGrp="1"/>
          </p:cNvSpPr>
          <p:nvPr>
            <p:ph type="sldNum" sz="quarter" idx="10"/>
          </p:nvPr>
        </p:nvSpPr>
        <p:spPr/>
        <p:txBody>
          <a:bodyPr/>
          <a:lstStyle>
            <a:lvl1pPr>
              <a:defRPr/>
            </a:lvl1pPr>
          </a:lstStyle>
          <a:p>
            <a:pPr>
              <a:defRPr/>
            </a:pPr>
            <a:fld id="{3F00AF05-15F3-48AB-A909-437515DB97CC}" type="slidenum">
              <a:rPr lang="en-US"/>
              <a:pPr>
                <a:defRPr/>
              </a:pPr>
              <a:t>‹#›</a:t>
            </a:fld>
            <a:endParaRPr lang="en-US" dirty="0"/>
          </a:p>
        </p:txBody>
      </p:sp>
      <p:sp>
        <p:nvSpPr>
          <p:cNvPr id="5" name="Footer Placeholder 10"/>
          <p:cNvSpPr>
            <a:spLocks noGrp="1"/>
          </p:cNvSpPr>
          <p:nvPr>
            <p:ph type="ftr" sz="quarter" idx="11"/>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304D9CCC-5717-4F7A-8350-CCDF597FD56C}"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7381D191-2F63-47D7-B430-7050E83CCD6D}"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8" name="Slide Number Placeholder 10"/>
          <p:cNvSpPr>
            <a:spLocks noGrp="1"/>
          </p:cNvSpPr>
          <p:nvPr>
            <p:ph type="sldNum" sz="quarter" idx="11"/>
          </p:nvPr>
        </p:nvSpPr>
        <p:spPr/>
        <p:txBody>
          <a:bodyPr/>
          <a:lstStyle>
            <a:lvl1pPr>
              <a:defRPr/>
            </a:lvl1pPr>
          </a:lstStyle>
          <a:p>
            <a:pPr>
              <a:defRPr/>
            </a:pPr>
            <a:fld id="{B14B6C1F-85BA-43D0-8199-249FC72844AE}" type="slidenum">
              <a:rPr lang="en-US"/>
              <a:pPr>
                <a:defRPr/>
              </a:pPr>
              <a:t>‹#›</a:t>
            </a:fld>
            <a:endParaRPr lang="en-US" dirty="0"/>
          </a:p>
        </p:txBody>
      </p:sp>
      <p:sp>
        <p:nvSpPr>
          <p:cNvPr id="9" name="Footer Placeholder 11"/>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5"/>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4" name="Slide Number Placeholder 6"/>
          <p:cNvSpPr>
            <a:spLocks noGrp="1"/>
          </p:cNvSpPr>
          <p:nvPr>
            <p:ph type="sldNum" sz="quarter" idx="11"/>
          </p:nvPr>
        </p:nvSpPr>
        <p:spPr/>
        <p:txBody>
          <a:bodyPr/>
          <a:lstStyle>
            <a:lvl1pPr>
              <a:defRPr/>
            </a:lvl1pPr>
          </a:lstStyle>
          <a:p>
            <a:pPr>
              <a:defRPr/>
            </a:pPr>
            <a:fld id="{56554F68-CA65-421A-9FB3-B6B76451E6FA}" type="slidenum">
              <a:rPr lang="en-US"/>
              <a:pPr>
                <a:defRPr/>
              </a:pPr>
              <a:t>‹#›</a:t>
            </a:fld>
            <a:endParaRPr lang="en-US" dirty="0"/>
          </a:p>
        </p:txBody>
      </p:sp>
      <p:sp>
        <p:nvSpPr>
          <p:cNvPr id="5" name="Footer Placeholder 7"/>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3" name="Slide Number Placeholder 5"/>
          <p:cNvSpPr>
            <a:spLocks noGrp="1"/>
          </p:cNvSpPr>
          <p:nvPr>
            <p:ph type="sldNum" sz="quarter" idx="11"/>
          </p:nvPr>
        </p:nvSpPr>
        <p:spPr/>
        <p:txBody>
          <a:bodyPr/>
          <a:lstStyle>
            <a:lvl1pPr>
              <a:defRPr/>
            </a:lvl1pPr>
          </a:lstStyle>
          <a:p>
            <a:pPr>
              <a:defRPr/>
            </a:pPr>
            <a:fld id="{E2A9A62B-65AC-4837-8A2D-56C9A4CD6349}" type="slidenum">
              <a:rPr lang="en-US"/>
              <a:pPr>
                <a:defRPr/>
              </a:pPr>
              <a:t>‹#›</a:t>
            </a:fld>
            <a:endParaRPr lang="en-US" dirty="0"/>
          </a:p>
        </p:txBody>
      </p:sp>
      <p:sp>
        <p:nvSpPr>
          <p:cNvPr id="4" name="Footer Placeholder 6"/>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A10BA6C7-BA7F-48F1-B3AE-EF81C61B39D1}"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9CEF07C1-47FC-4251-AEF7-899AC023328D}"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7A40A4A9-46CC-49A6-8980-AEC2300E98BA}"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5CAA3C1D-55C6-40AA-B1E0-05265743EB45}"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8" descr="DECOLORED2.jpg"/>
          <p:cNvPicPr>
            <a:picLocks noChangeAspect="1"/>
          </p:cNvPicPr>
          <p:nvPr userDrawn="1"/>
        </p:nvPicPr>
        <p:blipFill>
          <a:blip r:embed="rId13" cstate="print"/>
          <a:srcRect/>
          <a:stretch>
            <a:fillRect/>
          </a:stretch>
        </p:blipFill>
        <p:spPr bwMode="auto">
          <a:xfrm>
            <a:off x="0" y="0"/>
            <a:ext cx="9144000" cy="1600200"/>
          </a:xfrm>
          <a:prstGeom prst="rect">
            <a:avLst/>
          </a:prstGeom>
          <a:noFill/>
          <a:ln w="9525">
            <a:noFill/>
            <a:miter lim="800000"/>
            <a:headEnd/>
            <a:tailEnd/>
          </a:ln>
        </p:spPr>
      </p:pic>
      <p:sp>
        <p:nvSpPr>
          <p:cNvPr id="1027"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accent6">
                    <a:lumMod val="75000"/>
                  </a:schemeClr>
                </a:solidFill>
                <a:latin typeface="+mj-lt"/>
              </a:defRPr>
            </a:lvl1pPr>
          </a:lstStyle>
          <a:p>
            <a:pPr>
              <a:defRPr/>
            </a:pPr>
            <a:fld id="{91DB0802-8C73-4FE0-B249-A6FB9C5E4C8C}" type="slidenum">
              <a:rPr lang="en-US"/>
              <a:pPr>
                <a:defRPr/>
              </a:pPr>
              <a:t>‹#›</a:t>
            </a:fld>
            <a:endParaRPr lang="en-US" dirty="0"/>
          </a:p>
        </p:txBody>
      </p:sp>
      <p:sp>
        <p:nvSpPr>
          <p:cNvPr id="7" name="Footer Placeholder 6"/>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a:defRPr sz="1200" dirty="0" smtClean="0">
                <a:solidFill>
                  <a:schemeClr val="accent6">
                    <a:lumMod val="75000"/>
                  </a:schemeClr>
                </a:solidFill>
                <a:latin typeface="+mj-lt"/>
              </a:defRPr>
            </a:lvl1pPr>
          </a:lstStyle>
          <a:p>
            <a:pPr>
              <a:defRPr/>
            </a:pPr>
            <a:r>
              <a:rPr lang="en-US" dirty="0" smtClean="0"/>
              <a:t>Programming Logic and Design, Ninth Edition</a:t>
            </a:r>
            <a:endParaRPr lang="en-US" dirty="0"/>
          </a:p>
        </p:txBody>
      </p:sp>
    </p:spTree>
  </p:cSld>
  <p:clrMap bg1="lt1" tx1="dk1" bg2="lt2" tx2="dk2" accent1="accent1" accent2="accent2" accent3="accent3" accent4="accent4" accent5="accent5" accent6="accent6" hlink="hlink" folHlink="folHlink"/>
  <p:sldLayoutIdLst>
    <p:sldLayoutId id="2147484905" r:id="rId1"/>
    <p:sldLayoutId id="2147484906" r:id="rId2"/>
    <p:sldLayoutId id="2147484907" r:id="rId3"/>
    <p:sldLayoutId id="2147484908" r:id="rId4"/>
    <p:sldLayoutId id="2147484909" r:id="rId5"/>
    <p:sldLayoutId id="2147484910" r:id="rId6"/>
    <p:sldLayoutId id="2147484911" r:id="rId7"/>
    <p:sldLayoutId id="2147484912" r:id="rId8"/>
    <p:sldLayoutId id="2147484913" r:id="rId9"/>
    <p:sldLayoutId id="2147484914" r:id="rId10"/>
    <p:sldLayoutId id="2147484915" r:id="rId11"/>
  </p:sldLayoutIdLst>
  <p:hf hdr="0" dt="0"/>
  <p:txStyles>
    <p:titleStyle>
      <a:lvl1pPr algn="ctr" rtl="0" fontAlgn="base">
        <a:spcBef>
          <a:spcPct val="0"/>
        </a:spcBef>
        <a:spcAft>
          <a:spcPct val="0"/>
        </a:spcAft>
        <a:defRPr sz="4400" kern="1200">
          <a:solidFill>
            <a:srgbClr val="558ED5"/>
          </a:solidFill>
          <a:latin typeface="+mj-lt"/>
          <a:ea typeface="+mj-ea"/>
          <a:cs typeface="+mj-cs"/>
        </a:defRPr>
      </a:lvl1pPr>
      <a:lvl2pPr algn="ctr" rtl="0" fontAlgn="base">
        <a:spcBef>
          <a:spcPct val="0"/>
        </a:spcBef>
        <a:spcAft>
          <a:spcPct val="0"/>
        </a:spcAft>
        <a:defRPr sz="4400">
          <a:solidFill>
            <a:srgbClr val="558ED5"/>
          </a:solidFill>
          <a:latin typeface="Calibri" pitchFamily="34" charset="0"/>
        </a:defRPr>
      </a:lvl2pPr>
      <a:lvl3pPr algn="ctr" rtl="0" fontAlgn="base">
        <a:spcBef>
          <a:spcPct val="0"/>
        </a:spcBef>
        <a:spcAft>
          <a:spcPct val="0"/>
        </a:spcAft>
        <a:defRPr sz="4400">
          <a:solidFill>
            <a:srgbClr val="558ED5"/>
          </a:solidFill>
          <a:latin typeface="Calibri" pitchFamily="34" charset="0"/>
        </a:defRPr>
      </a:lvl3pPr>
      <a:lvl4pPr algn="ctr" rtl="0" fontAlgn="base">
        <a:spcBef>
          <a:spcPct val="0"/>
        </a:spcBef>
        <a:spcAft>
          <a:spcPct val="0"/>
        </a:spcAft>
        <a:defRPr sz="4400">
          <a:solidFill>
            <a:srgbClr val="558ED5"/>
          </a:solidFill>
          <a:latin typeface="Calibri" pitchFamily="34" charset="0"/>
        </a:defRPr>
      </a:lvl4pPr>
      <a:lvl5pPr algn="ctr" rtl="0" fontAlgn="base">
        <a:spcBef>
          <a:spcPct val="0"/>
        </a:spcBef>
        <a:spcAft>
          <a:spcPct val="0"/>
        </a:spcAft>
        <a:defRPr sz="4400">
          <a:solidFill>
            <a:srgbClr val="558ED5"/>
          </a:solidFill>
          <a:latin typeface="Calibri" pitchFamily="34" charset="0"/>
        </a:defRPr>
      </a:lvl5pPr>
      <a:lvl6pPr marL="457200" algn="ctr" rtl="0" eaLnBrk="1" fontAlgn="base" hangingPunct="1">
        <a:spcBef>
          <a:spcPct val="0"/>
        </a:spcBef>
        <a:spcAft>
          <a:spcPct val="0"/>
        </a:spcAft>
        <a:defRPr sz="4400">
          <a:solidFill>
            <a:srgbClr val="558ED5"/>
          </a:solidFill>
          <a:latin typeface="Calibri" pitchFamily="34" charset="0"/>
        </a:defRPr>
      </a:lvl6pPr>
      <a:lvl7pPr marL="914400" algn="ctr" rtl="0" eaLnBrk="1" fontAlgn="base" hangingPunct="1">
        <a:spcBef>
          <a:spcPct val="0"/>
        </a:spcBef>
        <a:spcAft>
          <a:spcPct val="0"/>
        </a:spcAft>
        <a:defRPr sz="4400">
          <a:solidFill>
            <a:srgbClr val="558ED5"/>
          </a:solidFill>
          <a:latin typeface="Calibri" pitchFamily="34" charset="0"/>
        </a:defRPr>
      </a:lvl7pPr>
      <a:lvl8pPr marL="1371600" algn="ctr" rtl="0" eaLnBrk="1" fontAlgn="base" hangingPunct="1">
        <a:spcBef>
          <a:spcPct val="0"/>
        </a:spcBef>
        <a:spcAft>
          <a:spcPct val="0"/>
        </a:spcAft>
        <a:defRPr sz="4400">
          <a:solidFill>
            <a:srgbClr val="558ED5"/>
          </a:solidFill>
          <a:latin typeface="Calibri" pitchFamily="34" charset="0"/>
        </a:defRPr>
      </a:lvl8pPr>
      <a:lvl9pPr marL="1828800" algn="ctr" rtl="0" eaLnBrk="1" fontAlgn="base" hangingPunct="1">
        <a:spcBef>
          <a:spcPct val="0"/>
        </a:spcBef>
        <a:spcAft>
          <a:spcPct val="0"/>
        </a:spcAft>
        <a:defRPr sz="4400">
          <a:solidFill>
            <a:srgbClr val="558ED5"/>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4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986" y="608807"/>
            <a:ext cx="8229600" cy="1143000"/>
          </a:xfrm>
        </p:spPr>
        <p:txBody>
          <a:bodyPr/>
          <a:lstStyle/>
          <a:p>
            <a:r>
              <a:rPr lang="en-US" b="1" dirty="0"/>
              <a:t>Programming Logic and Design</a:t>
            </a:r>
            <a:br>
              <a:rPr lang="en-US" b="1" dirty="0"/>
            </a:br>
            <a:r>
              <a:rPr lang="en-US" b="1" i="1" dirty="0"/>
              <a:t>Ninth Edition</a:t>
            </a:r>
            <a:endParaRPr lang="en-US" b="1" dirty="0"/>
          </a:p>
        </p:txBody>
      </p:sp>
      <p:sp>
        <p:nvSpPr>
          <p:cNvPr id="3" name="Content Placeholder 2"/>
          <p:cNvSpPr>
            <a:spLocks noGrp="1"/>
          </p:cNvSpPr>
          <p:nvPr>
            <p:ph idx="1"/>
          </p:nvPr>
        </p:nvSpPr>
        <p:spPr>
          <a:xfrm>
            <a:off x="457200" y="2438400"/>
            <a:ext cx="8229600" cy="3687763"/>
          </a:xfrm>
        </p:spPr>
        <p:txBody>
          <a:bodyPr/>
          <a:lstStyle/>
          <a:p>
            <a:pPr algn="ctr" eaLnBrk="1" hangingPunct="1">
              <a:lnSpc>
                <a:spcPct val="90000"/>
              </a:lnSpc>
              <a:buFont typeface="Arial" pitchFamily="34" charset="0"/>
              <a:buNone/>
              <a:defRPr/>
            </a:pPr>
            <a:r>
              <a:rPr lang="en-US" sz="3400" i="1" dirty="0"/>
              <a:t>Chapter </a:t>
            </a:r>
            <a:r>
              <a:rPr lang="en-US" sz="3400" i="1" dirty="0" smtClean="0"/>
              <a:t>10</a:t>
            </a:r>
            <a:endParaRPr lang="en-US" sz="3400" i="1" dirty="0" smtClean="0"/>
          </a:p>
          <a:p>
            <a:pPr marL="0" indent="0" algn="ctr">
              <a:buNone/>
              <a:defRPr/>
            </a:pPr>
            <a:r>
              <a:rPr lang="en-US" sz="3200" i="1" dirty="0"/>
              <a:t>Object-Oriented Programming</a:t>
            </a:r>
          </a:p>
        </p:txBody>
      </p:sp>
      <p:sp>
        <p:nvSpPr>
          <p:cNvPr id="4" name="Slide Number Placeholder 3"/>
          <p:cNvSpPr>
            <a:spLocks noGrp="1"/>
          </p:cNvSpPr>
          <p:nvPr>
            <p:ph type="sldNum" sz="quarter" idx="10"/>
          </p:nvPr>
        </p:nvSpPr>
        <p:spPr/>
        <p:txBody>
          <a:bodyPr/>
          <a:lstStyle/>
          <a:p>
            <a:pPr>
              <a:defRPr/>
            </a:pPr>
            <a:fld id="{0F66439E-C25C-4026-841B-CBBDFA57E0D0}" type="slidenum">
              <a:rPr lang="en-US">
                <a:solidFill>
                  <a:srgbClr val="F79646">
                    <a:lumMod val="75000"/>
                  </a:srgbClr>
                </a:solidFill>
              </a:rPr>
              <a:pPr>
                <a:defRPr/>
              </a:pPr>
              <a:t>1</a:t>
            </a:fld>
            <a:endParaRPr lang="en-US" dirty="0">
              <a:solidFill>
                <a:srgbClr val="F79646">
                  <a:lumMod val="75000"/>
                </a:srgbClr>
              </a:solidFill>
            </a:endParaRPr>
          </a:p>
        </p:txBody>
      </p:sp>
      <p:sp>
        <p:nvSpPr>
          <p:cNvPr id="5" name="Footer Placeholder 4"/>
          <p:cNvSpPr>
            <a:spLocks noGrp="1"/>
          </p:cNvSpPr>
          <p:nvPr>
            <p:ph type="ftr" sz="quarter" idx="11"/>
          </p:nvPr>
        </p:nvSpPr>
        <p:spPr/>
        <p:txBody>
          <a:bodyPr/>
          <a:lstStyle/>
          <a:p>
            <a:pPr>
              <a:defRPr/>
            </a:pPr>
            <a:r>
              <a:rPr lang="en-US" dirty="0">
                <a:solidFill>
                  <a:srgbClr val="F79646">
                    <a:lumMod val="75000"/>
                  </a:srgbClr>
                </a:solidFill>
              </a:rPr>
              <a:t>Programming Logic and Design, Ninth Edition</a:t>
            </a:r>
          </a:p>
        </p:txBody>
      </p:sp>
    </p:spTree>
    <p:extLst>
      <p:ext uri="{BB962C8B-B14F-4D97-AF65-F5344CB8AC3E}">
        <p14:creationId xmlns:p14="http://schemas.microsoft.com/office/powerpoint/2010/main" val="29010301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smtClean="0"/>
              <a:t>Objectives</a:t>
            </a:r>
          </a:p>
        </p:txBody>
      </p:sp>
      <p:sp>
        <p:nvSpPr>
          <p:cNvPr id="14339" name="Rectangle 3"/>
          <p:cNvSpPr>
            <a:spLocks noGrp="1" noChangeArrowheads="1"/>
          </p:cNvSpPr>
          <p:nvPr>
            <p:ph idx="1"/>
          </p:nvPr>
        </p:nvSpPr>
        <p:spPr>
          <a:xfrm>
            <a:off x="533400" y="1676400"/>
            <a:ext cx="8229600" cy="4648200"/>
          </a:xfrm>
        </p:spPr>
        <p:txBody>
          <a:bodyPr/>
          <a:lstStyle/>
          <a:p>
            <a:pPr>
              <a:buFontTx/>
              <a:buNone/>
            </a:pPr>
            <a:r>
              <a:rPr lang="en-US" dirty="0" smtClean="0"/>
              <a:t>In this chapter, you will learn about:</a:t>
            </a:r>
          </a:p>
          <a:p>
            <a:r>
              <a:rPr lang="en-US" dirty="0" smtClean="0"/>
              <a:t>The principles of object-oriented programming</a:t>
            </a:r>
            <a:endParaRPr lang="en-US" dirty="0"/>
          </a:p>
          <a:p>
            <a:r>
              <a:rPr lang="en-US" dirty="0" smtClean="0"/>
              <a:t>Classes</a:t>
            </a:r>
            <a:endParaRPr lang="en-US" dirty="0"/>
          </a:p>
          <a:p>
            <a:r>
              <a:rPr lang="en-US" dirty="0" smtClean="0"/>
              <a:t>Public and private access</a:t>
            </a:r>
            <a:endParaRPr lang="en-US" dirty="0"/>
          </a:p>
          <a:p>
            <a:r>
              <a:rPr lang="en-US" dirty="0" smtClean="0"/>
              <a:t>Ways to organize classes</a:t>
            </a:r>
          </a:p>
          <a:p>
            <a:r>
              <a:rPr lang="en-US" dirty="0" smtClean="0"/>
              <a:t>Instance methods</a:t>
            </a:r>
          </a:p>
          <a:p>
            <a:r>
              <a:rPr lang="en-US" dirty="0" smtClean="0"/>
              <a:t>Static methods</a:t>
            </a:r>
          </a:p>
          <a:p>
            <a:r>
              <a:rPr lang="en-US" dirty="0" smtClean="0"/>
              <a:t>Using objects</a:t>
            </a:r>
            <a:endParaRPr lang="en-US" dirty="0"/>
          </a:p>
        </p:txBody>
      </p:sp>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2</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28600"/>
            <a:ext cx="8229600" cy="1143000"/>
          </a:xfrm>
        </p:spPr>
        <p:txBody>
          <a:bodyPr/>
          <a:lstStyle/>
          <a:p>
            <a:r>
              <a:rPr lang="en-US" dirty="0"/>
              <a:t>Principles of Object-Oriented</a:t>
            </a:r>
            <a:br>
              <a:rPr lang="en-US" dirty="0"/>
            </a:br>
            <a:r>
              <a:rPr lang="en-US" dirty="0"/>
              <a:t>Programming</a:t>
            </a:r>
            <a:endParaRPr lang="en-US"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3</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8"/>
          <p:cNvSpPr>
            <a:spLocks noGrp="1"/>
          </p:cNvSpPr>
          <p:nvPr>
            <p:ph idx="1"/>
          </p:nvPr>
        </p:nvSpPr>
        <p:spPr>
          <a:xfrm>
            <a:off x="533400" y="1676400"/>
            <a:ext cx="8077200" cy="4572000"/>
          </a:xfrm>
        </p:spPr>
        <p:txBody>
          <a:bodyPr/>
          <a:lstStyle/>
          <a:p>
            <a:r>
              <a:rPr lang="en-US" b="1" dirty="0" smtClean="0"/>
              <a:t>Object-oriented programming </a:t>
            </a:r>
            <a:r>
              <a:rPr lang="en-US" dirty="0" smtClean="0"/>
              <a:t>(OOP) </a:t>
            </a:r>
          </a:p>
          <a:p>
            <a:pPr lvl="1"/>
            <a:r>
              <a:rPr lang="en-US" dirty="0" smtClean="0"/>
              <a:t>A </a:t>
            </a:r>
            <a:r>
              <a:rPr lang="en-US" dirty="0" smtClean="0"/>
              <a:t>programming model that </a:t>
            </a:r>
            <a:r>
              <a:rPr lang="en-US" dirty="0" smtClean="0"/>
              <a:t>focuses on an application’s </a:t>
            </a:r>
            <a:r>
              <a:rPr lang="en-US" dirty="0" smtClean="0"/>
              <a:t>components and data </a:t>
            </a:r>
            <a:r>
              <a:rPr lang="en-US" dirty="0" smtClean="0"/>
              <a:t>and the methods to manipulate </a:t>
            </a:r>
            <a:r>
              <a:rPr lang="en-US" dirty="0" smtClean="0"/>
              <a:t>them</a:t>
            </a:r>
            <a:endParaRPr lang="en-US" dirty="0" smtClean="0"/>
          </a:p>
          <a:p>
            <a:r>
              <a:rPr lang="en-US" dirty="0" smtClean="0"/>
              <a:t>Uses all of the familiar concepts from modular procedural programming</a:t>
            </a:r>
          </a:p>
          <a:p>
            <a:pPr lvl="1"/>
            <a:r>
              <a:rPr lang="en-US" dirty="0" smtClean="0"/>
              <a:t>Variables, methods, passing arguments</a:t>
            </a:r>
          </a:p>
          <a:p>
            <a:pPr lvl="1"/>
            <a:r>
              <a:rPr lang="en-US" dirty="0" smtClean="0"/>
              <a:t>Sequence, selection, and looping structures</a:t>
            </a:r>
          </a:p>
          <a:p>
            <a:pPr lvl="1"/>
            <a:r>
              <a:rPr lang="en-US" dirty="0"/>
              <a:t>But involves a different way of thinking</a:t>
            </a:r>
          </a:p>
          <a:p>
            <a:pPr marL="457200" lvl="1" indent="0">
              <a:buNone/>
            </a:pPr>
            <a:endParaRPr 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28600"/>
            <a:ext cx="8229600" cy="1143000"/>
          </a:xfrm>
        </p:spPr>
        <p:txBody>
          <a:bodyPr/>
          <a:lstStyle/>
          <a:p>
            <a:r>
              <a:rPr lang="en-US" dirty="0"/>
              <a:t>Principles of Object-Oriented</a:t>
            </a:r>
            <a:br>
              <a:rPr lang="en-US" dirty="0"/>
            </a:br>
            <a:r>
              <a:rPr lang="en-US" dirty="0"/>
              <a:t>Programming </a:t>
            </a:r>
            <a:r>
              <a:rPr lang="en-US" sz="1200" dirty="0" smtClean="0"/>
              <a:t>(continued)</a:t>
            </a:r>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Important features of object-oriented languages</a:t>
            </a:r>
          </a:p>
          <a:p>
            <a:pPr lvl="1"/>
            <a:r>
              <a:rPr lang="en-US" dirty="0" smtClean="0"/>
              <a:t>Classes</a:t>
            </a:r>
          </a:p>
          <a:p>
            <a:pPr lvl="1"/>
            <a:r>
              <a:rPr lang="en-US" dirty="0" smtClean="0"/>
              <a:t>Objects</a:t>
            </a:r>
          </a:p>
          <a:p>
            <a:pPr lvl="1"/>
            <a:r>
              <a:rPr lang="en-US" dirty="0" smtClean="0"/>
              <a:t>Polymorphism</a:t>
            </a:r>
          </a:p>
          <a:p>
            <a:pPr lvl="1"/>
            <a:r>
              <a:rPr lang="en-US" dirty="0" smtClean="0"/>
              <a:t>Inheritance</a:t>
            </a:r>
          </a:p>
          <a:p>
            <a:pPr lvl="1"/>
            <a:r>
              <a:rPr lang="en-US" dirty="0" smtClean="0"/>
              <a:t>Encapsulation</a:t>
            </a:r>
          </a:p>
        </p:txBody>
      </p:sp>
    </p:spTree>
    <p:extLst>
      <p:ext uri="{BB962C8B-B14F-4D97-AF65-F5344CB8AC3E}">
        <p14:creationId xmlns:p14="http://schemas.microsoft.com/office/powerpoint/2010/main" val="1860004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Title 1"/>
          <p:cNvSpPr>
            <a:spLocks noGrp="1"/>
          </p:cNvSpPr>
          <p:nvPr>
            <p:ph type="title"/>
          </p:nvPr>
        </p:nvSpPr>
        <p:spPr>
          <a:xfrm>
            <a:off x="457200" y="274638"/>
            <a:ext cx="8229600" cy="1143000"/>
          </a:xfrm>
        </p:spPr>
        <p:txBody>
          <a:bodyPr/>
          <a:lstStyle/>
          <a:p>
            <a:r>
              <a:rPr lang="en-US" dirty="0"/>
              <a:t>Classes and Objects</a:t>
            </a:r>
            <a:endParaRPr lang="en-US" dirty="0" smtClean="0"/>
          </a:p>
        </p:txBody>
      </p:sp>
      <p:sp>
        <p:nvSpPr>
          <p:cNvPr id="10" name="Content Placeholder 2"/>
          <p:cNvSpPr>
            <a:spLocks noGrp="1"/>
          </p:cNvSpPr>
          <p:nvPr>
            <p:ph idx="1"/>
          </p:nvPr>
        </p:nvSpPr>
        <p:spPr>
          <a:xfrm>
            <a:off x="533400" y="1371600"/>
            <a:ext cx="8077200" cy="4572000"/>
          </a:xfrm>
        </p:spPr>
        <p:txBody>
          <a:bodyPr/>
          <a:lstStyle/>
          <a:p>
            <a:r>
              <a:rPr lang="en-US" b="1" dirty="0" smtClean="0"/>
              <a:t>Class </a:t>
            </a:r>
          </a:p>
          <a:p>
            <a:pPr lvl="1"/>
            <a:r>
              <a:rPr lang="en-US" dirty="0" smtClean="0"/>
              <a:t>Describes a group or collection of objects with common attributes</a:t>
            </a:r>
          </a:p>
          <a:p>
            <a:r>
              <a:rPr lang="en-US" b="1" dirty="0" smtClean="0"/>
              <a:t>Object  - </a:t>
            </a:r>
            <a:r>
              <a:rPr lang="en-US" dirty="0" smtClean="0"/>
              <a:t>One </a:t>
            </a:r>
            <a:r>
              <a:rPr lang="en-US" b="1" dirty="0" smtClean="0"/>
              <a:t>instance</a:t>
            </a:r>
            <a:r>
              <a:rPr lang="en-US" dirty="0" smtClean="0"/>
              <a:t> of a class</a:t>
            </a:r>
          </a:p>
          <a:p>
            <a:pPr lvl="1"/>
            <a:r>
              <a:rPr lang="en-US" dirty="0" smtClean="0"/>
              <a:t>Sometimes called one </a:t>
            </a:r>
            <a:r>
              <a:rPr lang="en-US" b="1" dirty="0" smtClean="0"/>
              <a:t>instantiation</a:t>
            </a:r>
            <a:r>
              <a:rPr lang="en-US" dirty="0" smtClean="0"/>
              <a:t> of a class</a:t>
            </a:r>
          </a:p>
          <a:p>
            <a:pPr lvl="1"/>
            <a:r>
              <a:rPr lang="en-US" dirty="0" smtClean="0"/>
              <a:t>When a program creates an object, it </a:t>
            </a:r>
            <a:r>
              <a:rPr lang="en-US" b="1" dirty="0" smtClean="0"/>
              <a:t>instantiates</a:t>
            </a:r>
            <a:r>
              <a:rPr lang="en-US" dirty="0" smtClean="0"/>
              <a:t> the object</a:t>
            </a:r>
          </a:p>
          <a:p>
            <a:r>
              <a:rPr lang="en-US" dirty="0" smtClean="0"/>
              <a:t>Example</a:t>
            </a:r>
          </a:p>
          <a:p>
            <a:pPr lvl="1"/>
            <a:r>
              <a:rPr lang="en-US" dirty="0" smtClean="0">
                <a:cs typeface="Courier New" pitchFamily="49" charset="0"/>
              </a:rPr>
              <a:t>Class name: </a:t>
            </a:r>
            <a:r>
              <a:rPr lang="en-US" dirty="0" smtClean="0">
                <a:latin typeface="Courier New" pitchFamily="49" charset="0"/>
                <a:cs typeface="Courier New" pitchFamily="49" charset="0"/>
              </a:rPr>
              <a:t>dog</a:t>
            </a:r>
          </a:p>
          <a:p>
            <a:pPr lvl="1"/>
            <a:r>
              <a:rPr lang="en-US" dirty="0" smtClean="0">
                <a:cs typeface="Courier New" pitchFamily="49" charset="0"/>
              </a:rPr>
              <a:t>Attributes: </a:t>
            </a:r>
            <a:r>
              <a:rPr lang="en-US" dirty="0" smtClean="0">
                <a:latin typeface="Courier New" pitchFamily="49" charset="0"/>
                <a:cs typeface="Courier New" pitchFamily="49" charset="0"/>
              </a:rPr>
              <a:t>name</a:t>
            </a:r>
            <a:r>
              <a:rPr lang="en-US" dirty="0" smtClean="0">
                <a:cs typeface="Courier New" pitchFamily="49" charset="0"/>
              </a:rPr>
              <a:t>, </a:t>
            </a:r>
            <a:r>
              <a:rPr lang="en-US" dirty="0" smtClean="0">
                <a:latin typeface="Courier New" pitchFamily="49" charset="0"/>
                <a:cs typeface="Courier New" pitchFamily="49" charset="0"/>
              </a:rPr>
              <a:t>age</a:t>
            </a:r>
            <a:r>
              <a:rPr lang="en-US" dirty="0" smtClean="0">
                <a:cs typeface="Courier New" pitchFamily="49" charset="0"/>
              </a:rPr>
              <a:t>, </a:t>
            </a:r>
            <a:r>
              <a:rPr lang="en-US" dirty="0" smtClean="0">
                <a:latin typeface="Courier New" pitchFamily="49" charset="0"/>
                <a:cs typeface="Courier New" pitchFamily="49" charset="0"/>
              </a:rPr>
              <a:t>hasShots</a:t>
            </a:r>
          </a:p>
          <a:p>
            <a:pPr lvl="1"/>
            <a:r>
              <a:rPr lang="en-US" dirty="0" smtClean="0">
                <a:cs typeface="Courier New" pitchFamily="49" charset="0"/>
              </a:rPr>
              <a:t>Methods: </a:t>
            </a:r>
            <a:r>
              <a:rPr lang="en-US" dirty="0" smtClean="0">
                <a:latin typeface="Courier New" pitchFamily="49" charset="0"/>
                <a:cs typeface="Courier New" pitchFamily="49" charset="0"/>
              </a:rPr>
              <a:t>changeName</a:t>
            </a:r>
            <a:r>
              <a:rPr lang="en-US" dirty="0" smtClean="0">
                <a:cs typeface="Courier New" pitchFamily="49" charset="0"/>
              </a:rPr>
              <a:t>, </a:t>
            </a:r>
            <a:r>
              <a:rPr lang="en-US" dirty="0" smtClean="0">
                <a:latin typeface="Courier New" pitchFamily="49" charset="0"/>
                <a:cs typeface="Courier New" pitchFamily="49" charset="0"/>
              </a:rPr>
              <a:t>updateShots</a:t>
            </a:r>
          </a:p>
        </p:txBody>
      </p:sp>
    </p:spTree>
    <p:extLst>
      <p:ext uri="{BB962C8B-B14F-4D97-AF65-F5344CB8AC3E}">
        <p14:creationId xmlns:p14="http://schemas.microsoft.com/office/powerpoint/2010/main" val="3758642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Classes and Objects </a:t>
            </a:r>
            <a:r>
              <a:rPr lang="en-US" sz="1200" dirty="0" smtClean="0"/>
              <a:t>(</a:t>
            </a:r>
            <a:r>
              <a:rPr lang="en-US" sz="1200" dirty="0" smtClean="0"/>
              <a:t>continued -1)</a:t>
            </a:r>
            <a:endParaRPr lang="en-US" sz="1200"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572000"/>
          </a:xfrm>
        </p:spPr>
        <p:txBody>
          <a:bodyPr/>
          <a:lstStyle/>
          <a:p>
            <a:r>
              <a:rPr lang="en-US" b="1" dirty="0" smtClean="0"/>
              <a:t>Attributes </a:t>
            </a:r>
          </a:p>
          <a:p>
            <a:pPr lvl="1"/>
            <a:r>
              <a:rPr lang="en-US" dirty="0" smtClean="0"/>
              <a:t>Characteristics that define an object as part of a class</a:t>
            </a:r>
          </a:p>
          <a:p>
            <a:pPr lvl="1"/>
            <a:r>
              <a:rPr lang="en-US" dirty="0" smtClean="0"/>
              <a:t>Example</a:t>
            </a:r>
          </a:p>
          <a:p>
            <a:pPr lvl="2"/>
            <a:r>
              <a:rPr lang="en-US" dirty="0" smtClean="0"/>
              <a:t>Automobile’s attributes: make, model, year, and purchase price</a:t>
            </a:r>
          </a:p>
          <a:p>
            <a:r>
              <a:rPr lang="en-US" dirty="0" smtClean="0"/>
              <a:t>Methods </a:t>
            </a:r>
          </a:p>
          <a:p>
            <a:pPr lvl="1"/>
            <a:r>
              <a:rPr lang="en-US" dirty="0" smtClean="0"/>
              <a:t>Actions that alter, use, or retrieve the attributes</a:t>
            </a:r>
          </a:p>
          <a:p>
            <a:pPr lvl="1"/>
            <a:r>
              <a:rPr lang="en-US" dirty="0" smtClean="0"/>
              <a:t>Example</a:t>
            </a:r>
          </a:p>
          <a:p>
            <a:pPr lvl="2"/>
            <a:r>
              <a:rPr lang="en-US" dirty="0" smtClean="0"/>
              <a:t>Methods for changing an automobile’s running status, gear, speed, and cleanliness</a:t>
            </a:r>
          </a:p>
        </p:txBody>
      </p:sp>
    </p:spTree>
    <p:extLst>
      <p:ext uri="{BB962C8B-B14F-4D97-AF65-F5344CB8AC3E}">
        <p14:creationId xmlns:p14="http://schemas.microsoft.com/office/powerpoint/2010/main" val="3312730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Classes and Objects </a:t>
            </a:r>
            <a:r>
              <a:rPr lang="en-US" sz="1200" dirty="0" smtClean="0"/>
              <a:t>(</a:t>
            </a:r>
            <a:r>
              <a:rPr lang="en-US" sz="1200" dirty="0" smtClean="0"/>
              <a:t>continued -2)</a:t>
            </a:r>
            <a:endParaRPr lang="en-US" sz="1200" dirty="0" smtClean="0"/>
          </a:p>
        </p:txBody>
      </p:sp>
      <p:pic>
        <p:nvPicPr>
          <p:cNvPr id="3" name="Picture 2" descr="The Dog class has attributes of name, age and hasShots and a method to change the name and a method to update shots." title="A Dog class and two instanc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1873" y="1524000"/>
            <a:ext cx="6200254" cy="3746996"/>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7</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657697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Classes and Objects </a:t>
            </a:r>
            <a:r>
              <a:rPr lang="en-US" sz="1200" dirty="0" smtClean="0"/>
              <a:t>(</a:t>
            </a:r>
            <a:r>
              <a:rPr lang="en-US" sz="1200" dirty="0" smtClean="0"/>
              <a:t>continued -3)</a:t>
            </a:r>
            <a:endParaRPr lang="en-US" sz="1200"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Think in an object-oriented manner</a:t>
            </a:r>
          </a:p>
          <a:p>
            <a:pPr lvl="1"/>
            <a:r>
              <a:rPr lang="en-US" dirty="0" smtClean="0"/>
              <a:t>Everything is an object</a:t>
            </a:r>
          </a:p>
          <a:p>
            <a:pPr lvl="1"/>
            <a:r>
              <a:rPr lang="en-US" dirty="0" smtClean="0"/>
              <a:t>Every object is a member of a class</a:t>
            </a:r>
          </a:p>
          <a:p>
            <a:r>
              <a:rPr lang="en-US" b="1" dirty="0" smtClean="0"/>
              <a:t>Is-a relationship</a:t>
            </a:r>
          </a:p>
          <a:p>
            <a:pPr lvl="1"/>
            <a:r>
              <a:rPr lang="en-US" dirty="0" smtClean="0"/>
              <a:t>“My oak desk with the scratch on top </a:t>
            </a:r>
            <a:r>
              <a:rPr lang="en-US" i="1" dirty="0" smtClean="0"/>
              <a:t>is</a:t>
            </a:r>
            <a:r>
              <a:rPr lang="en-US" dirty="0" smtClean="0"/>
              <a:t> a </a:t>
            </a:r>
            <a:r>
              <a:rPr lang="en-US" dirty="0" smtClean="0">
                <a:latin typeface="Courier New" pitchFamily="49" charset="0"/>
                <a:cs typeface="Courier New" pitchFamily="49" charset="0"/>
              </a:rPr>
              <a:t>Desk</a:t>
            </a:r>
            <a:r>
              <a:rPr lang="en-US" dirty="0" smtClean="0"/>
              <a:t>”</a:t>
            </a:r>
          </a:p>
          <a:p>
            <a:r>
              <a:rPr lang="en-US" dirty="0" smtClean="0"/>
              <a:t>Class reusability</a:t>
            </a:r>
          </a:p>
          <a:p>
            <a:r>
              <a:rPr lang="en-US" dirty="0" smtClean="0"/>
              <a:t>Class’s </a:t>
            </a:r>
            <a:r>
              <a:rPr lang="en-US" b="1" dirty="0" smtClean="0"/>
              <a:t>instance variables</a:t>
            </a:r>
          </a:p>
          <a:p>
            <a:pPr lvl="1"/>
            <a:r>
              <a:rPr lang="en-US" dirty="0" smtClean="0"/>
              <a:t>Data components of a class that belong to every instantiated object</a:t>
            </a:r>
          </a:p>
          <a:p>
            <a:pPr lvl="1"/>
            <a:r>
              <a:rPr lang="en-US" dirty="0" smtClean="0"/>
              <a:t>Often called </a:t>
            </a:r>
            <a:r>
              <a:rPr lang="en-US" b="1" dirty="0" smtClean="0"/>
              <a:t>fields</a:t>
            </a:r>
            <a:endParaRPr lang="en-US" dirty="0" smtClean="0"/>
          </a:p>
        </p:txBody>
      </p:sp>
    </p:spTree>
    <p:extLst>
      <p:ext uri="{BB962C8B-B14F-4D97-AF65-F5344CB8AC3E}">
        <p14:creationId xmlns:p14="http://schemas.microsoft.com/office/powerpoint/2010/main" val="144567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Classes and Objects </a:t>
            </a:r>
            <a:r>
              <a:rPr lang="en-US" sz="1200" dirty="0" smtClean="0"/>
              <a:t>(</a:t>
            </a:r>
            <a:r>
              <a:rPr lang="en-US" sz="1200" dirty="0" smtClean="0"/>
              <a:t>continued -4)</a:t>
            </a:r>
            <a:endParaRPr lang="en-US" sz="1200" dirty="0" smtClean="0"/>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9</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572000"/>
          </a:xfrm>
        </p:spPr>
        <p:txBody>
          <a:bodyPr/>
          <a:lstStyle/>
          <a:p>
            <a:r>
              <a:rPr lang="en-US" b="1" dirty="0" smtClean="0"/>
              <a:t>State</a:t>
            </a:r>
          </a:p>
          <a:p>
            <a:pPr lvl="1"/>
            <a:r>
              <a:rPr lang="en-US" dirty="0" smtClean="0"/>
              <a:t>A set of all the values or contents of a class object’s instance variables</a:t>
            </a:r>
          </a:p>
          <a:p>
            <a:r>
              <a:rPr lang="en-US" dirty="0" smtClean="0"/>
              <a:t>Every object that is an instance of a class possesses the same methods</a:t>
            </a:r>
          </a:p>
          <a:p>
            <a:r>
              <a:rPr lang="en-US" dirty="0" smtClean="0"/>
              <a:t>Create classes from which objects will be instantiated</a:t>
            </a:r>
          </a:p>
          <a:p>
            <a:r>
              <a:rPr lang="en-US" b="1" dirty="0" smtClean="0"/>
              <a:t>Class client </a:t>
            </a:r>
            <a:r>
              <a:rPr lang="en-US" dirty="0" smtClean="0"/>
              <a:t>or</a:t>
            </a:r>
            <a:r>
              <a:rPr lang="en-US" b="1" dirty="0" smtClean="0"/>
              <a:t> class user</a:t>
            </a:r>
          </a:p>
          <a:p>
            <a:pPr lvl="1"/>
            <a:r>
              <a:rPr lang="en-US" dirty="0" smtClean="0"/>
              <a:t>A program or class that instantiates objects of another prewritten class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Polymorphism</a:t>
            </a:r>
            <a:endParaRPr lang="en-US" dirty="0" smtClean="0"/>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10</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The world is full of objects</a:t>
            </a:r>
          </a:p>
          <a:p>
            <a:pPr lvl="1"/>
            <a:r>
              <a:rPr lang="en-US" dirty="0" smtClean="0"/>
              <a:t>A door is an object that needs to be open or closed</a:t>
            </a:r>
          </a:p>
          <a:p>
            <a:pPr lvl="1"/>
            <a:r>
              <a:rPr lang="en-US" dirty="0" smtClean="0"/>
              <a:t>But an “open” procedure works differently on different objects</a:t>
            </a:r>
          </a:p>
          <a:p>
            <a:pPr lvl="2"/>
            <a:r>
              <a:rPr lang="en-US" dirty="0" smtClean="0"/>
              <a:t>Open a door</a:t>
            </a:r>
          </a:p>
          <a:p>
            <a:pPr lvl="2"/>
            <a:r>
              <a:rPr lang="en-US" dirty="0" smtClean="0"/>
              <a:t>Open a drawer</a:t>
            </a:r>
          </a:p>
          <a:p>
            <a:pPr lvl="2"/>
            <a:r>
              <a:rPr lang="en-US" dirty="0" smtClean="0"/>
              <a:t>Open a bank account</a:t>
            </a:r>
          </a:p>
          <a:p>
            <a:pPr lvl="2"/>
            <a:r>
              <a:rPr lang="en-US" dirty="0" smtClean="0"/>
              <a:t>Open a file</a:t>
            </a:r>
          </a:p>
          <a:p>
            <a:pPr lvl="2"/>
            <a:r>
              <a:rPr lang="en-US" dirty="0" smtClean="0"/>
              <a:t>Open your eyes</a:t>
            </a:r>
            <a:endParaRPr lang="en-US" dirty="0"/>
          </a:p>
          <a:p>
            <a:pPr lvl="1"/>
            <a:r>
              <a:rPr lang="en-US" dirty="0" smtClean="0"/>
              <a:t>One “open” procedure can open anything if it gets the correct arguments</a:t>
            </a:r>
          </a:p>
        </p:txBody>
      </p:sp>
    </p:spTree>
    <p:extLst>
      <p:ext uri="{BB962C8B-B14F-4D97-AF65-F5344CB8AC3E}">
        <p14:creationId xmlns:p14="http://schemas.microsoft.com/office/powerpoint/2010/main" val="936232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Polymorphism </a:t>
            </a:r>
            <a:r>
              <a:rPr lang="en-US" sz="1200" dirty="0" smtClean="0"/>
              <a:t>(continued)</a:t>
            </a:r>
            <a:endParaRPr lang="en-US" sz="1200" dirty="0" smtClean="0"/>
          </a:p>
        </p:txBody>
      </p:sp>
      <p:pic>
        <p:nvPicPr>
          <p:cNvPr id="3" name="Picture 2" descr="Polymorphism occurs when the same method name works appropriately for different object types. The “open” procedure works differently on a&#10;door than it does a bank account, or your eyes." title="Examples of polymorphis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3600" y="1417638"/>
            <a:ext cx="4866139" cy="4602162"/>
          </a:xfrm>
          <a:prstGeom prst="rect">
            <a:avLst/>
          </a:prstGeom>
        </p:spPr>
      </p:pic>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11</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896004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Inheritance</a:t>
            </a:r>
            <a:endParaRPr lang="en-US" dirty="0" smtClean="0"/>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12</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724400"/>
          </a:xfrm>
        </p:spPr>
        <p:txBody>
          <a:bodyPr>
            <a:normAutofit/>
          </a:bodyPr>
          <a:lstStyle/>
          <a:p>
            <a:r>
              <a:rPr lang="en-US" b="1" dirty="0" smtClean="0"/>
              <a:t>Inheritance</a:t>
            </a:r>
          </a:p>
          <a:p>
            <a:pPr lvl="1"/>
            <a:r>
              <a:rPr lang="en-US" dirty="0" smtClean="0"/>
              <a:t>The </a:t>
            </a:r>
            <a:r>
              <a:rPr lang="en-US" dirty="0" smtClean="0"/>
              <a:t>process of acquiring the traits of one’s predecessors</a:t>
            </a:r>
          </a:p>
          <a:p>
            <a:r>
              <a:rPr lang="en-US" dirty="0" smtClean="0"/>
              <a:t>Example</a:t>
            </a:r>
          </a:p>
          <a:p>
            <a:pPr lvl="1"/>
            <a:r>
              <a:rPr lang="en-US" dirty="0" smtClean="0"/>
              <a:t>A door with a stained glass window inherits all the attributes (doorknob, hinges) and methods (open and close) of a door</a:t>
            </a:r>
          </a:p>
          <a:p>
            <a:r>
              <a:rPr lang="en-US" dirty="0" smtClean="0"/>
              <a:t>Once you create an object</a:t>
            </a:r>
          </a:p>
          <a:p>
            <a:pPr lvl="1"/>
            <a:r>
              <a:rPr lang="en-US" dirty="0" smtClean="0"/>
              <a:t>Develop new objects that possess all the traits of the original object</a:t>
            </a:r>
          </a:p>
          <a:p>
            <a:pPr lvl="1"/>
            <a:r>
              <a:rPr lang="en-US" dirty="0" smtClean="0"/>
              <a:t>Plus new traits</a:t>
            </a:r>
          </a:p>
        </p:txBody>
      </p:sp>
    </p:spTree>
    <p:extLst>
      <p:ext uri="{BB962C8B-B14F-4D97-AF65-F5344CB8AC3E}">
        <p14:creationId xmlns:p14="http://schemas.microsoft.com/office/powerpoint/2010/main" val="547564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Encapsulation</a:t>
            </a:r>
            <a:endParaRPr lang="en-US" dirty="0" smtClean="0"/>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13</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7" name="Content Placeholder 2"/>
          <p:cNvSpPr>
            <a:spLocks noGrp="1"/>
          </p:cNvSpPr>
          <p:nvPr>
            <p:ph idx="1"/>
          </p:nvPr>
        </p:nvSpPr>
        <p:spPr>
          <a:xfrm>
            <a:off x="533400" y="1676400"/>
            <a:ext cx="8077200" cy="4572000"/>
          </a:xfrm>
        </p:spPr>
        <p:txBody>
          <a:bodyPr/>
          <a:lstStyle/>
          <a:p>
            <a:r>
              <a:rPr lang="en-US" b="1" dirty="0" smtClean="0"/>
              <a:t>Encapsulation</a:t>
            </a:r>
          </a:p>
          <a:p>
            <a:pPr lvl="1"/>
            <a:r>
              <a:rPr lang="en-US" dirty="0" smtClean="0"/>
              <a:t>The </a:t>
            </a:r>
            <a:r>
              <a:rPr lang="en-US" dirty="0" smtClean="0"/>
              <a:t>process of combining all of an object’s attributes and methods into a single package</a:t>
            </a:r>
          </a:p>
          <a:p>
            <a:r>
              <a:rPr lang="en-US" b="1" dirty="0" smtClean="0"/>
              <a:t>Information hiding</a:t>
            </a:r>
            <a:r>
              <a:rPr lang="en-US" dirty="0" smtClean="0"/>
              <a:t> (also called </a:t>
            </a:r>
            <a:r>
              <a:rPr lang="en-US" b="1" dirty="0" smtClean="0"/>
              <a:t>data hiding</a:t>
            </a:r>
            <a:r>
              <a:rPr lang="en-US" dirty="0" smtClean="0"/>
              <a:t>)</a:t>
            </a:r>
          </a:p>
          <a:p>
            <a:pPr lvl="1"/>
            <a:r>
              <a:rPr lang="en-US" dirty="0" smtClean="0"/>
              <a:t>Other classes should not alter an object’s attributes</a:t>
            </a:r>
          </a:p>
          <a:p>
            <a:r>
              <a:rPr lang="en-US" dirty="0" smtClean="0"/>
              <a:t>Outside classes should only be allowed to make a request that an attribute be altered</a:t>
            </a:r>
          </a:p>
          <a:p>
            <a:pPr lvl="1"/>
            <a:r>
              <a:rPr lang="en-US" dirty="0" smtClean="0"/>
              <a:t>It is up to the class’s methods to determine whether the request is appropriate</a:t>
            </a:r>
          </a:p>
        </p:txBody>
      </p:sp>
    </p:spTree>
    <p:extLst>
      <p:ext uri="{BB962C8B-B14F-4D97-AF65-F5344CB8AC3E}">
        <p14:creationId xmlns:p14="http://schemas.microsoft.com/office/powerpoint/2010/main" val="909554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228600"/>
            <a:ext cx="8229600" cy="1143000"/>
          </a:xfrm>
        </p:spPr>
        <p:txBody>
          <a:bodyPr/>
          <a:lstStyle/>
          <a:p>
            <a:r>
              <a:rPr lang="en-US" dirty="0"/>
              <a:t>Defining Classes and Creating</a:t>
            </a:r>
            <a:br>
              <a:rPr lang="en-US" dirty="0"/>
            </a:br>
            <a:r>
              <a:rPr lang="en-US" dirty="0"/>
              <a:t>Class Diagrams</a:t>
            </a:r>
            <a:endParaRPr lang="en-US" dirty="0" smtClean="0"/>
          </a:p>
        </p:txBody>
      </p:sp>
      <p:sp>
        <p:nvSpPr>
          <p:cNvPr id="5" name="Slide Number Placeholder 4"/>
          <p:cNvSpPr>
            <a:spLocks noGrp="1"/>
          </p:cNvSpPr>
          <p:nvPr>
            <p:ph type="sldNum" sz="quarter" idx="10"/>
          </p:nvPr>
        </p:nvSpPr>
        <p:spPr/>
        <p:txBody>
          <a:bodyPr/>
          <a:lstStyle/>
          <a:p>
            <a:pPr>
              <a:defRPr/>
            </a:pPr>
            <a:fld id="{228E112E-0EE9-4EBD-95CB-B5BDEC86FD54}" type="slidenum">
              <a:rPr lang="en-US"/>
              <a:pPr>
                <a:defRPr/>
              </a:pPr>
              <a:t>14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8"/>
          <p:cNvSpPr>
            <a:spLocks noGrp="1"/>
          </p:cNvSpPr>
          <p:nvPr>
            <p:ph idx="1"/>
          </p:nvPr>
        </p:nvSpPr>
        <p:spPr>
          <a:xfrm>
            <a:off x="533400" y="1676400"/>
            <a:ext cx="8077200" cy="4572000"/>
          </a:xfrm>
        </p:spPr>
        <p:txBody>
          <a:bodyPr/>
          <a:lstStyle/>
          <a:p>
            <a:r>
              <a:rPr lang="en-US" b="1" dirty="0" smtClean="0"/>
              <a:t>Class definition </a:t>
            </a:r>
          </a:p>
          <a:p>
            <a:pPr lvl="1"/>
            <a:r>
              <a:rPr lang="en-US" dirty="0" smtClean="0"/>
              <a:t>A set of program statements </a:t>
            </a:r>
          </a:p>
          <a:p>
            <a:pPr lvl="1"/>
            <a:r>
              <a:rPr lang="en-US" dirty="0" smtClean="0"/>
              <a:t>Characteristics of the class’s objects and the methods that can be applied to its objects</a:t>
            </a:r>
          </a:p>
          <a:p>
            <a:r>
              <a:rPr lang="en-US" dirty="0" smtClean="0"/>
              <a:t>Three parts:</a:t>
            </a:r>
          </a:p>
          <a:p>
            <a:pPr lvl="1"/>
            <a:r>
              <a:rPr lang="en-US" dirty="0" smtClean="0"/>
              <a:t>Every class has a name</a:t>
            </a:r>
          </a:p>
          <a:p>
            <a:pPr lvl="1"/>
            <a:r>
              <a:rPr lang="en-US" dirty="0" smtClean="0"/>
              <a:t>Most classes contain data (not required)</a:t>
            </a:r>
          </a:p>
          <a:p>
            <a:pPr lvl="1"/>
            <a:r>
              <a:rPr lang="en-US" dirty="0" smtClean="0"/>
              <a:t>Most classes contain methods (not required)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28600"/>
            <a:ext cx="8229600" cy="1143000"/>
          </a:xfrm>
        </p:spPr>
        <p:txBody>
          <a:bodyPr/>
          <a:lstStyle/>
          <a:p>
            <a:r>
              <a:rPr lang="en-US" dirty="0"/>
              <a:t>Defining Classes and Creating</a:t>
            </a:r>
            <a:br>
              <a:rPr lang="en-US" dirty="0"/>
            </a:br>
            <a:r>
              <a:rPr lang="en-US" dirty="0"/>
              <a:t>Class Diagrams </a:t>
            </a:r>
            <a:r>
              <a:rPr lang="en-US" sz="1200" dirty="0" smtClean="0"/>
              <a:t>(</a:t>
            </a:r>
            <a:r>
              <a:rPr lang="en-US" sz="1200" dirty="0" smtClean="0"/>
              <a:t>continued -1)</a:t>
            </a:r>
            <a:endParaRPr lang="en-US" sz="1200"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Declaring a class </a:t>
            </a:r>
          </a:p>
          <a:p>
            <a:pPr lvl="1"/>
            <a:r>
              <a:rPr lang="en-US" dirty="0" smtClean="0"/>
              <a:t>Does not create any actual objects</a:t>
            </a:r>
          </a:p>
          <a:p>
            <a:r>
              <a:rPr lang="en-US" dirty="0" smtClean="0"/>
              <a:t>After an object is instantiated</a:t>
            </a:r>
          </a:p>
          <a:p>
            <a:pPr lvl="1"/>
            <a:r>
              <a:rPr lang="en-US" dirty="0" smtClean="0"/>
              <a:t>Methods can be accessed using an identifier, a dot, and a method call</a:t>
            </a:r>
          </a:p>
          <a:p>
            <a:pPr lvl="1"/>
            <a:r>
              <a:rPr lang="en-US" dirty="0" smtClean="0">
                <a:latin typeface="Courier New" pitchFamily="49" charset="0"/>
                <a:cs typeface="Courier New" pitchFamily="49" charset="0"/>
              </a:rPr>
              <a:t>myAssistant.setHourlyWage(16.75)</a:t>
            </a:r>
          </a:p>
          <a:p>
            <a:r>
              <a:rPr lang="en-US" dirty="0" smtClean="0">
                <a:latin typeface="Courier New" pitchFamily="49" charset="0"/>
                <a:cs typeface="Courier New" pitchFamily="49" charset="0"/>
              </a:rPr>
              <a:t>Employee myAssistant</a:t>
            </a:r>
          </a:p>
          <a:p>
            <a:pPr lvl="1"/>
            <a:r>
              <a:rPr lang="en-US" dirty="0" smtClean="0"/>
              <a:t>Declare the </a:t>
            </a:r>
            <a:r>
              <a:rPr lang="en-US" dirty="0" smtClean="0">
                <a:latin typeface="Courier New" pitchFamily="49" charset="0"/>
                <a:cs typeface="Courier New" pitchFamily="49" charset="0"/>
              </a:rPr>
              <a:t>myAssistant</a:t>
            </a:r>
            <a:r>
              <a:rPr lang="en-US" dirty="0" smtClean="0"/>
              <a:t> object</a:t>
            </a:r>
          </a:p>
          <a:p>
            <a:pPr lvl="1"/>
            <a:r>
              <a:rPr lang="en-US" dirty="0" smtClean="0"/>
              <a:t>Contains all the data fields </a:t>
            </a:r>
          </a:p>
          <a:p>
            <a:pPr lvl="1"/>
            <a:r>
              <a:rPr lang="en-US" dirty="0" smtClean="0"/>
              <a:t>Access to all methods contained within the class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28600"/>
            <a:ext cx="8229600" cy="1143000"/>
          </a:xfrm>
        </p:spPr>
        <p:txBody>
          <a:bodyPr/>
          <a:lstStyle/>
          <a:p>
            <a:r>
              <a:rPr lang="en-US" dirty="0"/>
              <a:t>Defining Classes and Creating</a:t>
            </a:r>
            <a:br>
              <a:rPr lang="en-US" dirty="0"/>
            </a:br>
            <a:r>
              <a:rPr lang="en-US" dirty="0"/>
              <a:t>Class Diagrams </a:t>
            </a:r>
            <a:r>
              <a:rPr lang="en-US" sz="1200" dirty="0" smtClean="0"/>
              <a:t>(</a:t>
            </a:r>
            <a:r>
              <a:rPr lang="en-US" sz="1200" dirty="0" smtClean="0"/>
              <a:t>continued -2)</a:t>
            </a:r>
            <a:endParaRPr lang="en-US" sz="1200" dirty="0" smtClean="0"/>
          </a:p>
        </p:txBody>
      </p:sp>
      <p:pic>
        <p:nvPicPr>
          <p:cNvPr id="2" name="Picture 1" descr="Declare an Employee object, myAssistant, and then use the setLastName, setHourlyWage and getHourlyWage methods." title="Application that declares and uses an Employee objec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2286000"/>
            <a:ext cx="6237534" cy="3066188"/>
          </a:xfrm>
          <a:prstGeom prst="rect">
            <a:avLst/>
          </a:prstGeom>
        </p:spPr>
      </p:pic>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973109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28600"/>
            <a:ext cx="8229600" cy="1143000"/>
          </a:xfrm>
        </p:spPr>
        <p:txBody>
          <a:bodyPr/>
          <a:lstStyle/>
          <a:p>
            <a:r>
              <a:rPr lang="en-US" dirty="0"/>
              <a:t>Defining Classes and Creating</a:t>
            </a:r>
            <a:br>
              <a:rPr lang="en-US" dirty="0"/>
            </a:br>
            <a:r>
              <a:rPr lang="en-US" dirty="0"/>
              <a:t>Class Diagrams </a:t>
            </a:r>
            <a:r>
              <a:rPr lang="en-US" sz="1200" dirty="0" smtClean="0"/>
              <a:t>(</a:t>
            </a:r>
            <a:r>
              <a:rPr lang="en-US" sz="1200" dirty="0" smtClean="0"/>
              <a:t>continued -3)</a:t>
            </a:r>
            <a:endParaRPr lang="en-US" sz="1200"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17</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9" name="Content Placeholder 5"/>
          <p:cNvSpPr>
            <a:spLocks noGrp="1"/>
          </p:cNvSpPr>
          <p:nvPr>
            <p:ph idx="1"/>
          </p:nvPr>
        </p:nvSpPr>
        <p:spPr>
          <a:xfrm>
            <a:off x="533400" y="1676400"/>
            <a:ext cx="8077200" cy="4572000"/>
          </a:xfrm>
        </p:spPr>
        <p:txBody>
          <a:bodyPr/>
          <a:lstStyle/>
          <a:p>
            <a:r>
              <a:rPr lang="en-US" dirty="0" smtClean="0"/>
              <a:t>Programmers call the classes they write </a:t>
            </a:r>
            <a:r>
              <a:rPr lang="en-US" b="1" dirty="0" smtClean="0"/>
              <a:t>user-defined types</a:t>
            </a:r>
          </a:p>
          <a:p>
            <a:pPr lvl="1"/>
            <a:r>
              <a:rPr lang="en-US" dirty="0" smtClean="0"/>
              <a:t>More accurately called </a:t>
            </a:r>
            <a:r>
              <a:rPr lang="en-US" b="1" dirty="0" smtClean="0"/>
              <a:t>programmer-defined types</a:t>
            </a:r>
          </a:p>
          <a:p>
            <a:pPr lvl="1"/>
            <a:r>
              <a:rPr lang="en-US" dirty="0" smtClean="0"/>
              <a:t>OOP programmers call them </a:t>
            </a:r>
            <a:r>
              <a:rPr lang="en-US" b="1" dirty="0" smtClean="0"/>
              <a:t>abstract data types</a:t>
            </a:r>
            <a:r>
              <a:rPr lang="en-US" dirty="0" smtClean="0"/>
              <a:t> (ADTs)</a:t>
            </a:r>
          </a:p>
          <a:p>
            <a:pPr lvl="1"/>
            <a:r>
              <a:rPr lang="en-US" dirty="0" smtClean="0"/>
              <a:t>Simple numbers and characters are called </a:t>
            </a:r>
            <a:r>
              <a:rPr lang="en-US" b="1" dirty="0" smtClean="0"/>
              <a:t>primitive data types</a:t>
            </a:r>
          </a:p>
          <a:p>
            <a:r>
              <a:rPr lang="en-US" dirty="0" smtClean="0"/>
              <a:t>“Black box”</a:t>
            </a:r>
          </a:p>
          <a:p>
            <a:pPr lvl="1"/>
            <a:r>
              <a:rPr lang="en-US" dirty="0" smtClean="0"/>
              <a:t>The ability to use methods without knowing the details of their contents</a:t>
            </a:r>
          </a:p>
          <a:p>
            <a:pPr lvl="1"/>
            <a:r>
              <a:rPr lang="en-US" dirty="0" smtClean="0"/>
              <a:t>A feature of encapsulation</a:t>
            </a:r>
          </a:p>
        </p:txBody>
      </p:sp>
    </p:spTree>
    <p:extLst>
      <p:ext uri="{BB962C8B-B14F-4D97-AF65-F5344CB8AC3E}">
        <p14:creationId xmlns:p14="http://schemas.microsoft.com/office/powerpoint/2010/main" val="506852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Creating Class Diagrams</a:t>
            </a:r>
            <a:endParaRPr lang="en-US" dirty="0" smtClean="0"/>
          </a:p>
        </p:txBody>
      </p:sp>
      <p:sp>
        <p:nvSpPr>
          <p:cNvPr id="8" name="Content Placeholder 2"/>
          <p:cNvSpPr>
            <a:spLocks noGrp="1"/>
          </p:cNvSpPr>
          <p:nvPr>
            <p:ph idx="1"/>
          </p:nvPr>
        </p:nvSpPr>
        <p:spPr>
          <a:xfrm>
            <a:off x="533400" y="1676400"/>
            <a:ext cx="8077200" cy="4572000"/>
          </a:xfrm>
        </p:spPr>
        <p:txBody>
          <a:bodyPr/>
          <a:lstStyle/>
          <a:p>
            <a:r>
              <a:rPr lang="en-US" b="1" dirty="0" smtClean="0"/>
              <a:t>Class diagram </a:t>
            </a:r>
          </a:p>
          <a:p>
            <a:pPr lvl="1"/>
            <a:r>
              <a:rPr lang="en-US" dirty="0" smtClean="0"/>
              <a:t>Three sections</a:t>
            </a:r>
          </a:p>
          <a:p>
            <a:pPr lvl="2"/>
            <a:r>
              <a:rPr lang="en-US" dirty="0" smtClean="0"/>
              <a:t>Top: contains the name of the class</a:t>
            </a:r>
          </a:p>
          <a:p>
            <a:pPr lvl="2"/>
            <a:r>
              <a:rPr lang="en-US" dirty="0" smtClean="0"/>
              <a:t>Middle: contains the names and data types of the attributes</a:t>
            </a:r>
          </a:p>
          <a:p>
            <a:pPr lvl="2"/>
            <a:r>
              <a:rPr lang="en-US" dirty="0" smtClean="0"/>
              <a:t>Bottom: contains the methods</a:t>
            </a:r>
          </a:p>
        </p:txBody>
      </p:sp>
      <p:pic>
        <p:nvPicPr>
          <p:cNvPr id="2" name="Picture 1" descr="A class diagram consists of a rectangle divided into three sections. The top section contains the name of the class, the middle section contains the names and data types of the attributes, and the bottom section contains the  methods." title="Generic class dia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7156" y="3972232"/>
            <a:ext cx="2714244" cy="2298753"/>
          </a:xfrm>
          <a:prstGeom prst="rect">
            <a:avLst/>
          </a:prstGeom>
        </p:spPr>
      </p:pic>
      <p:pic>
        <p:nvPicPr>
          <p:cNvPr id="3" name="Picture 2" descr="This shows the Employee class contains three data fields that represent an employee’s name, hourly pay rate, and weekly pay amount. The Employee class also contains six methods." title="Employee class diagr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53128" y="3736005"/>
            <a:ext cx="3285744" cy="2802907"/>
          </a:xfrm>
          <a:prstGeom prst="rect">
            <a:avLst/>
          </a:prstGeom>
        </p:spPr>
      </p:pic>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41357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28600"/>
            <a:ext cx="8229600" cy="1143000"/>
          </a:xfrm>
        </p:spPr>
        <p:txBody>
          <a:bodyPr/>
          <a:lstStyle/>
          <a:p>
            <a:r>
              <a:rPr lang="en-US" dirty="0"/>
              <a:t>Creating Class Diagrams </a:t>
            </a:r>
            <a:r>
              <a:rPr lang="en-US" sz="1200" dirty="0" smtClean="0"/>
              <a:t>(</a:t>
            </a:r>
            <a:r>
              <a:rPr lang="en-US" sz="1200" dirty="0" smtClean="0"/>
              <a:t>continued -1)</a:t>
            </a:r>
            <a:endParaRPr lang="en-US" sz="1200" dirty="0" smtClean="0"/>
          </a:p>
        </p:txBody>
      </p:sp>
      <p:sp>
        <p:nvSpPr>
          <p:cNvPr id="6" name="Content Placeholder 4"/>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Purpose of </a:t>
            </a:r>
            <a:r>
              <a:rPr lang="en-US" dirty="0" smtClean="0">
                <a:latin typeface="Courier New" pitchFamily="49" charset="0"/>
                <a:cs typeface="Courier New" pitchFamily="49" charset="0"/>
              </a:rPr>
              <a:t>Employee</a:t>
            </a:r>
            <a:r>
              <a:rPr lang="en-US" dirty="0" smtClean="0"/>
              <a:t> class methods</a:t>
            </a:r>
          </a:p>
          <a:p>
            <a:pPr lvl="1"/>
            <a:r>
              <a:rPr lang="en-US" dirty="0" smtClean="0"/>
              <a:t>Two of the methods accept values from the outside world</a:t>
            </a:r>
          </a:p>
          <a:p>
            <a:pPr lvl="1"/>
            <a:r>
              <a:rPr lang="en-US" dirty="0" smtClean="0"/>
              <a:t>Three of the methods send data to the outside world</a:t>
            </a:r>
          </a:p>
          <a:p>
            <a:pPr lvl="1"/>
            <a:r>
              <a:rPr lang="en-US" dirty="0" smtClean="0"/>
              <a:t>One method performs work within the class</a:t>
            </a:r>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19</a:t>
            </a:fld>
            <a:endParaRPr lang="en-US" dirty="0"/>
          </a:p>
        </p:txBody>
      </p:sp>
      <p:sp>
        <p:nvSpPr>
          <p:cNvPr id="7" name="Footer Placeholder 6"/>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496343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81000" y="304800"/>
            <a:ext cx="3238576" cy="2544762"/>
          </a:xfrm>
        </p:spPr>
        <p:txBody>
          <a:bodyPr/>
          <a:lstStyle/>
          <a:p>
            <a:r>
              <a:rPr lang="en-US" dirty="0"/>
              <a:t>Creating Class </a:t>
            </a:r>
            <a:r>
              <a:rPr lang="en-US" dirty="0" smtClean="0"/>
              <a:t>Diagrams </a:t>
            </a:r>
            <a:r>
              <a:rPr lang="en-US" dirty="0" smtClean="0"/>
              <a:t/>
            </a:r>
            <a:br>
              <a:rPr lang="en-US" dirty="0" smtClean="0"/>
            </a:br>
            <a:r>
              <a:rPr lang="en-US" sz="1200" dirty="0" smtClean="0"/>
              <a:t>(continued -2)</a:t>
            </a:r>
            <a:endParaRPr lang="en-US" dirty="0" smtClean="0"/>
          </a:p>
        </p:txBody>
      </p:sp>
      <p:pic>
        <p:nvPicPr>
          <p:cNvPr id="2" name="Picture 1" descr="The Employee class attributes are identified with a data type and a field name. In addition, the figure shows the complete methods for the Employee class. The purposes of the methods can be divided into three categories:&#10;Two of the methods accept values from a client and assign them to data fields; these methods, by convention, have the prefix set.&#10; Three of the methods send data to a client; these methods, by convention, have the prefix get.&#10;One method performs work within the class; this method is named&#10;calculateWeeklyPay(). This method does not communicate with any client; its purpose is to multiply hourlyWage by the number of hours in a week." title="Pseudocode for Employee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95687" y="685800"/>
            <a:ext cx="5448225" cy="5528507"/>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20</a:t>
            </a:fld>
            <a:endParaRPr lang="en-US" dirty="0"/>
          </a:p>
        </p:txBody>
      </p:sp>
      <p:sp>
        <p:nvSpPr>
          <p:cNvPr id="7" name="Footer Placeholder 6"/>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887140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The Set Methods</a:t>
            </a:r>
            <a:endParaRPr lang="en-US" dirty="0" smtClean="0"/>
          </a:p>
        </p:txBody>
      </p:sp>
      <p:sp>
        <p:nvSpPr>
          <p:cNvPr id="9"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smtClean="0"/>
              <a:t>Set method </a:t>
            </a:r>
            <a:r>
              <a:rPr lang="en-US" dirty="0" smtClean="0"/>
              <a:t>(also called </a:t>
            </a:r>
            <a:r>
              <a:rPr lang="en-US" b="1" dirty="0" smtClean="0"/>
              <a:t>mutator method</a:t>
            </a:r>
            <a:r>
              <a:rPr lang="en-US" dirty="0" smtClean="0"/>
              <a:t>)</a:t>
            </a:r>
          </a:p>
          <a:p>
            <a:pPr lvl="1"/>
            <a:r>
              <a:rPr lang="en-US" dirty="0" smtClean="0"/>
              <a:t>Sets the values of data fields within the class</a:t>
            </a:r>
          </a:p>
          <a:p>
            <a:pPr lvl="1">
              <a:buFontTx/>
              <a:buNone/>
            </a:pPr>
            <a:r>
              <a:rPr lang="en-US" dirty="0" smtClean="0">
                <a:latin typeface="Courier New" pitchFamily="49" charset="0"/>
                <a:cs typeface="Courier New" pitchFamily="49" charset="0"/>
              </a:rPr>
              <a:t>void setLastName(string name)</a:t>
            </a:r>
          </a:p>
          <a:p>
            <a:pPr lvl="1">
              <a:buFontTx/>
              <a:buNone/>
            </a:pPr>
            <a:r>
              <a:rPr lang="en-US" dirty="0" smtClean="0">
                <a:latin typeface="Courier New" pitchFamily="49" charset="0"/>
                <a:cs typeface="Courier New" pitchFamily="49" charset="0"/>
              </a:rPr>
              <a:t>	 lastName = name</a:t>
            </a:r>
          </a:p>
          <a:p>
            <a:pPr lvl="1">
              <a:buFontTx/>
              <a:buNone/>
            </a:pPr>
            <a:r>
              <a:rPr lang="en-US" dirty="0" smtClean="0">
                <a:latin typeface="Courier New" pitchFamily="49" charset="0"/>
                <a:cs typeface="Courier New" pitchFamily="49" charset="0"/>
              </a:rPr>
              <a:t>return</a:t>
            </a:r>
          </a:p>
          <a:p>
            <a:pPr lvl="1">
              <a:buFontTx/>
              <a:buNone/>
            </a:pPr>
            <a:r>
              <a:rPr lang="en-US" dirty="0" smtClean="0">
                <a:latin typeface="Courier New" pitchFamily="49" charset="0"/>
                <a:cs typeface="Courier New" pitchFamily="49" charset="0"/>
              </a:rPr>
              <a:t>mySecretary.setLastName("Johnson")</a:t>
            </a:r>
          </a:p>
          <a:p>
            <a:pPr lvl="1"/>
            <a:r>
              <a:rPr lang="en-US" dirty="0" smtClean="0"/>
              <a:t>No </a:t>
            </a:r>
            <a:r>
              <a:rPr lang="en-US" dirty="0"/>
              <a:t>requirement that such methods start with the </a:t>
            </a:r>
            <a:r>
              <a:rPr lang="en-US" i="1" dirty="0" smtClean="0"/>
              <a:t>set</a:t>
            </a:r>
            <a:r>
              <a:rPr lang="en-US" dirty="0" smtClean="0"/>
              <a:t> prefix</a:t>
            </a:r>
          </a:p>
          <a:p>
            <a:pPr lvl="1"/>
            <a:r>
              <a:rPr lang="en-US" dirty="0" smtClean="0"/>
              <a:t>Some languages allow you to create a </a:t>
            </a:r>
            <a:r>
              <a:rPr lang="en-US" b="1" dirty="0" smtClean="0"/>
              <a:t>property</a:t>
            </a:r>
            <a:r>
              <a:rPr lang="en-US" dirty="0" smtClean="0"/>
              <a:t> to set field values instead of creating a set method</a:t>
            </a:r>
            <a:endParaRPr lang="en-US" dirty="0"/>
          </a:p>
          <a:p>
            <a:pPr lvl="1">
              <a:buFontTx/>
              <a:buNone/>
            </a:pPr>
            <a:endParaRPr lang="en-US" dirty="0" smtClean="0">
              <a:latin typeface="Courier New" pitchFamily="49" charset="0"/>
              <a:cs typeface="Courier New" pitchFamily="49" charset="0"/>
            </a:endParaRPr>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21</a:t>
            </a:fld>
            <a:endParaRPr lang="en-US" dirty="0"/>
          </a:p>
        </p:txBody>
      </p:sp>
      <p:sp>
        <p:nvSpPr>
          <p:cNvPr id="7" name="Footer Placeholder 6"/>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821847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p:txBody>
          <a:bodyPr/>
          <a:lstStyle/>
          <a:p>
            <a:r>
              <a:rPr lang="en-US" dirty="0"/>
              <a:t>The Set </a:t>
            </a:r>
            <a:r>
              <a:rPr lang="en-US" dirty="0" smtClean="0"/>
              <a:t>Methods </a:t>
            </a:r>
            <a:r>
              <a:rPr lang="en-US" sz="1200" dirty="0" smtClean="0"/>
              <a:t>(continued)</a:t>
            </a:r>
          </a:p>
        </p:txBody>
      </p:sp>
      <p:pic>
        <p:nvPicPr>
          <p:cNvPr id="2" name="Picture 1" descr="The wage passed to the method is tested against minimum and maximum values, and is&#10;assigned to the class field hourlyWage only if it falls within the prescribed limits. If the wage&#10;is too low, the MINWAGE value is substituted, and if the wage is too high, the MAXWAGE value is&#10;substituted." title="A version of the setHourlyWage method including validati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1745281"/>
            <a:ext cx="6288008" cy="4283425"/>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22</a:t>
            </a:fld>
            <a:endParaRPr lang="en-US" dirty="0"/>
          </a:p>
        </p:txBody>
      </p:sp>
      <p:sp>
        <p:nvSpPr>
          <p:cNvPr id="7" name="Footer Placeholder 6"/>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240800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The Get Methods</a:t>
            </a:r>
            <a:endParaRPr lang="en-US" dirty="0" smtClean="0"/>
          </a:p>
        </p:txBody>
      </p:sp>
      <p:sp>
        <p:nvSpPr>
          <p:cNvPr id="6"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smtClean="0"/>
              <a:t>Get method </a:t>
            </a:r>
            <a:r>
              <a:rPr lang="en-US" dirty="0"/>
              <a:t>(also called </a:t>
            </a:r>
            <a:r>
              <a:rPr lang="en-US" b="1" dirty="0" smtClean="0"/>
              <a:t>accessor method</a:t>
            </a:r>
            <a:r>
              <a:rPr lang="en-US" dirty="0" smtClean="0"/>
              <a:t>)</a:t>
            </a:r>
          </a:p>
          <a:p>
            <a:r>
              <a:rPr lang="en-US" dirty="0" smtClean="0"/>
              <a:t>Purpose is to return a value to the world outside the class</a:t>
            </a:r>
          </a:p>
          <a:p>
            <a:pPr lvl="1">
              <a:buFontTx/>
              <a:buNone/>
            </a:pPr>
            <a:r>
              <a:rPr lang="en-US" dirty="0" smtClean="0">
                <a:latin typeface="Courier New" pitchFamily="49" charset="0"/>
                <a:cs typeface="Courier New" pitchFamily="49" charset="0"/>
              </a:rPr>
              <a:t>string getLastName()</a:t>
            </a:r>
          </a:p>
          <a:p>
            <a:pPr lvl="1">
              <a:buFontTx/>
              <a:buNone/>
            </a:pPr>
            <a:r>
              <a:rPr lang="en-US" dirty="0" smtClean="0">
                <a:latin typeface="Courier New" pitchFamily="49" charset="0"/>
                <a:cs typeface="Courier New" pitchFamily="49" charset="0"/>
              </a:rPr>
              <a:t>return lastName</a:t>
            </a:r>
          </a:p>
          <a:p>
            <a:r>
              <a:rPr lang="en-US" dirty="0" smtClean="0"/>
              <a:t>Value returned from a get method can be used as any other variable of its type would be used</a:t>
            </a:r>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23</a:t>
            </a:fld>
            <a:endParaRPr lang="en-US" dirty="0"/>
          </a:p>
        </p:txBody>
      </p:sp>
      <p:sp>
        <p:nvSpPr>
          <p:cNvPr id="7" name="Footer Placeholder 6"/>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858126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7EAC3AC8-25A8-47FA-981D-DF846EFE1FA5}" type="slidenum">
              <a:rPr lang="en-US"/>
              <a:pPr>
                <a:defRPr/>
              </a:pPr>
              <a:t>24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9" name="Content Placeholder 2"/>
          <p:cNvSpPr>
            <a:spLocks noGrp="1"/>
          </p:cNvSpPr>
          <p:nvPr>
            <p:ph idx="1"/>
          </p:nvPr>
        </p:nvSpPr>
        <p:spPr>
          <a:xfrm>
            <a:off x="533400" y="1676400"/>
            <a:ext cx="8077200" cy="4572000"/>
          </a:xfrm>
        </p:spPr>
        <p:txBody>
          <a:bodyPr/>
          <a:lstStyle/>
          <a:p>
            <a:r>
              <a:rPr lang="en-US" b="1" dirty="0" smtClean="0"/>
              <a:t>Work </a:t>
            </a:r>
            <a:r>
              <a:rPr lang="en-US" b="1" dirty="0"/>
              <a:t>method </a:t>
            </a:r>
            <a:r>
              <a:rPr lang="en-US" dirty="0"/>
              <a:t>(also called </a:t>
            </a:r>
            <a:r>
              <a:rPr lang="en-US" b="1" dirty="0" smtClean="0"/>
              <a:t>help method</a:t>
            </a:r>
            <a:r>
              <a:rPr lang="en-US" dirty="0" smtClean="0"/>
              <a:t>, or </a:t>
            </a:r>
            <a:r>
              <a:rPr lang="en-US" b="1" dirty="0" err="1" smtClean="0"/>
              <a:t>faciltator</a:t>
            </a:r>
            <a:r>
              <a:rPr lang="en-US" dirty="0" smtClean="0"/>
              <a:t>)</a:t>
            </a:r>
            <a:endParaRPr lang="en-US" dirty="0"/>
          </a:p>
          <a:p>
            <a:pPr lvl="1"/>
            <a:r>
              <a:rPr lang="en-US" dirty="0" smtClean="0"/>
              <a:t>performs </a:t>
            </a:r>
            <a:r>
              <a:rPr lang="en-US" dirty="0"/>
              <a:t>tasks within a </a:t>
            </a:r>
            <a:r>
              <a:rPr lang="en-US" dirty="0" smtClean="0"/>
              <a:t>class</a:t>
            </a:r>
            <a:endParaRPr lang="en-US" dirty="0"/>
          </a:p>
          <a:p>
            <a:pPr>
              <a:buFontTx/>
              <a:buNone/>
            </a:pPr>
            <a:endParaRPr lang="en-US" sz="2400" dirty="0" smtClean="0">
              <a:latin typeface="Courier New" pitchFamily="49" charset="0"/>
              <a:cs typeface="Courier New" pitchFamily="49" charset="0"/>
            </a:endParaRPr>
          </a:p>
          <a:p>
            <a:pPr>
              <a:buFontTx/>
              <a:buNone/>
            </a:pPr>
            <a:r>
              <a:rPr lang="en-US" sz="2400" dirty="0" smtClean="0">
                <a:latin typeface="Courier New" pitchFamily="49" charset="0"/>
                <a:cs typeface="Courier New" pitchFamily="49" charset="0"/>
              </a:rPr>
              <a:t>void </a:t>
            </a:r>
            <a:r>
              <a:rPr lang="en-US" sz="2400" dirty="0" smtClean="0">
                <a:latin typeface="Courier New" pitchFamily="49" charset="0"/>
                <a:cs typeface="Courier New" pitchFamily="49" charset="0"/>
              </a:rPr>
              <a:t>calculateWeeklyPay()</a:t>
            </a:r>
          </a:p>
          <a:p>
            <a:pPr>
              <a:buFontTx/>
              <a:buNone/>
            </a:pPr>
            <a:r>
              <a:rPr lang="en-US" sz="2400" dirty="0" smtClean="0">
                <a:latin typeface="Courier New" pitchFamily="49" charset="0"/>
                <a:cs typeface="Courier New" pitchFamily="49" charset="0"/>
              </a:rPr>
              <a:t>	Declarations</a:t>
            </a:r>
          </a:p>
          <a:p>
            <a:pPr>
              <a:buFontTx/>
              <a:buNone/>
            </a:pPr>
            <a:r>
              <a:rPr lang="en-US" sz="2400" dirty="0" smtClean="0">
                <a:latin typeface="Courier New" pitchFamily="49" charset="0"/>
                <a:cs typeface="Courier New" pitchFamily="49" charset="0"/>
              </a:rPr>
              <a:t>		num WORK_WEEK_HOURS = 40</a:t>
            </a:r>
          </a:p>
          <a:p>
            <a:pPr>
              <a:buFontTx/>
              <a:buNone/>
            </a:pPr>
            <a:r>
              <a:rPr lang="en-US" sz="2400" dirty="0" smtClean="0">
                <a:latin typeface="Courier New" pitchFamily="49" charset="0"/>
                <a:cs typeface="Courier New" pitchFamily="49" charset="0"/>
              </a:rPr>
              <a:t>	weeklyPay = hourlyWage * WORK_WEEK_HOURS</a:t>
            </a:r>
          </a:p>
          <a:p>
            <a:pPr>
              <a:buFontTx/>
              <a:buNone/>
            </a:pPr>
            <a:r>
              <a:rPr lang="en-US" sz="2400" dirty="0" smtClean="0">
                <a:latin typeface="Courier New" pitchFamily="49" charset="0"/>
                <a:cs typeface="Courier New" pitchFamily="49" charset="0"/>
              </a:rPr>
              <a:t>return</a:t>
            </a:r>
            <a:endParaRPr lang="en-US" dirty="0" smtClean="0">
              <a:latin typeface="Courier New" pitchFamily="49" charset="0"/>
              <a:cs typeface="Courier New" pitchFamily="49" charset="0"/>
            </a:endParaRPr>
          </a:p>
        </p:txBody>
      </p:sp>
      <p:sp>
        <p:nvSpPr>
          <p:cNvPr id="8" name="Title 1"/>
          <p:cNvSpPr>
            <a:spLocks noGrp="1"/>
          </p:cNvSpPr>
          <p:nvPr>
            <p:ph type="title"/>
          </p:nvPr>
        </p:nvSpPr>
        <p:spPr>
          <a:xfrm>
            <a:off x="457200" y="274638"/>
            <a:ext cx="8229600" cy="1143000"/>
          </a:xfrm>
        </p:spPr>
        <p:txBody>
          <a:bodyPr/>
          <a:lstStyle/>
          <a:p>
            <a:r>
              <a:rPr lang="en-US" dirty="0" smtClean="0"/>
              <a:t>Work </a:t>
            </a:r>
            <a:r>
              <a:rPr lang="en-US" dirty="0"/>
              <a:t>Methods</a:t>
            </a:r>
            <a:endParaRPr lang="en-US"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274638"/>
            <a:ext cx="8229600" cy="1143000"/>
          </a:xfrm>
        </p:spPr>
        <p:txBody>
          <a:bodyPr/>
          <a:lstStyle/>
          <a:p>
            <a:r>
              <a:rPr lang="en-US" dirty="0" smtClean="0"/>
              <a:t>Work Methods </a:t>
            </a:r>
            <a:r>
              <a:rPr lang="en-US" sz="1200" dirty="0" smtClean="0"/>
              <a:t>(continued)</a:t>
            </a:r>
          </a:p>
        </p:txBody>
      </p:sp>
      <p:pic>
        <p:nvPicPr>
          <p:cNvPr id="2" name="Picture 1" descr="A program that declares an Employee object and sets the hourly wage value. " title="Program that sets and displays Employee data two tim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533937"/>
            <a:ext cx="4363828" cy="2896711"/>
          </a:xfrm>
          <a:prstGeom prst="rect">
            <a:avLst/>
          </a:prstGeom>
        </p:spPr>
      </p:pic>
      <p:pic>
        <p:nvPicPr>
          <p:cNvPr id="3" name="Picture 2" descr="The execution and output of program. " title="Execution of progr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4284" y="4550411"/>
            <a:ext cx="4212516" cy="1809403"/>
          </a:xfrm>
          <a:prstGeom prst="rect">
            <a:avLst/>
          </a:prstGeom>
        </p:spPr>
      </p:pic>
      <p:sp>
        <p:nvSpPr>
          <p:cNvPr id="5" name="Slide Number Placeholder 4"/>
          <p:cNvSpPr>
            <a:spLocks noGrp="1"/>
          </p:cNvSpPr>
          <p:nvPr>
            <p:ph type="sldNum" sz="quarter" idx="10"/>
          </p:nvPr>
        </p:nvSpPr>
        <p:spPr/>
        <p:txBody>
          <a:bodyPr/>
          <a:lstStyle/>
          <a:p>
            <a:pPr>
              <a:defRPr/>
            </a:pPr>
            <a:fld id="{7EAC3AC8-25A8-47FA-981D-DF846EFE1FA5}" type="slidenum">
              <a:rPr lang="en-US"/>
              <a:pPr>
                <a:defRPr/>
              </a:pPr>
              <a:t>25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846491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9" name="Content Placeholder 8"/>
          <p:cNvSpPr>
            <a:spLocks noGrp="1"/>
          </p:cNvSpPr>
          <p:nvPr>
            <p:ph idx="1"/>
          </p:nvPr>
        </p:nvSpPr>
        <p:spPr>
          <a:xfrm>
            <a:off x="533400" y="1676400"/>
            <a:ext cx="8077200" cy="4572000"/>
          </a:xfrm>
        </p:spPr>
        <p:txBody>
          <a:bodyPr/>
          <a:lstStyle/>
          <a:p>
            <a:r>
              <a:rPr lang="en-US" dirty="0" smtClean="0"/>
              <a:t>You do not want any outside programs or methods to alter your class’s data fields unless you have control over the process</a:t>
            </a:r>
          </a:p>
          <a:p>
            <a:r>
              <a:rPr lang="en-US" dirty="0" smtClean="0"/>
              <a:t>Prevent outsiders from changing your data </a:t>
            </a:r>
          </a:p>
          <a:p>
            <a:pPr lvl="1"/>
            <a:r>
              <a:rPr lang="en-US" dirty="0" smtClean="0"/>
              <a:t>Force other programs and methods to use a method that is part of the class</a:t>
            </a:r>
          </a:p>
          <a:p>
            <a:r>
              <a:rPr lang="en-US" dirty="0" smtClean="0"/>
              <a:t>Specify that data fields have </a:t>
            </a:r>
            <a:r>
              <a:rPr lang="en-US" b="1" dirty="0" smtClean="0"/>
              <a:t>private access</a:t>
            </a:r>
          </a:p>
          <a:p>
            <a:pPr lvl="1"/>
            <a:r>
              <a:rPr lang="en-US" dirty="0" smtClean="0"/>
              <a:t>Data cannot be accessed by any method that is not part of the class</a:t>
            </a:r>
          </a:p>
        </p:txBody>
      </p:sp>
      <p:sp>
        <p:nvSpPr>
          <p:cNvPr id="8" name="Title 1"/>
          <p:cNvSpPr>
            <a:spLocks noGrp="1"/>
          </p:cNvSpPr>
          <p:nvPr>
            <p:ph type="title"/>
          </p:nvPr>
        </p:nvSpPr>
        <p:spPr>
          <a:xfrm>
            <a:off x="457200" y="274638"/>
            <a:ext cx="8229600" cy="1143000"/>
          </a:xfrm>
        </p:spPr>
        <p:txBody>
          <a:bodyPr/>
          <a:lstStyle/>
          <a:p>
            <a:r>
              <a:rPr lang="en-US" dirty="0"/>
              <a:t>Understanding Public and Private </a:t>
            </a:r>
            <a:r>
              <a:rPr lang="en-US" dirty="0" smtClean="0"/>
              <a:t>Access </a:t>
            </a:r>
            <a:endParaRPr lang="en-US" sz="1200"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27</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572000"/>
          </a:xfrm>
        </p:spPr>
        <p:txBody>
          <a:bodyPr/>
          <a:lstStyle/>
          <a:p>
            <a:r>
              <a:rPr lang="en-US" b="1" dirty="0" smtClean="0"/>
              <a:t>Public access</a:t>
            </a:r>
          </a:p>
          <a:p>
            <a:pPr lvl="1"/>
            <a:r>
              <a:rPr lang="en-US" dirty="0" smtClean="0"/>
              <a:t>Other programs and methods may use the methods that control access to the private data</a:t>
            </a:r>
          </a:p>
          <a:p>
            <a:r>
              <a:rPr lang="en-US" b="1" dirty="0" smtClean="0"/>
              <a:t>Access specifier </a:t>
            </a:r>
          </a:p>
          <a:p>
            <a:pPr lvl="1"/>
            <a:r>
              <a:rPr lang="en-US" dirty="0" smtClean="0"/>
              <a:t>Also called an access modifier</a:t>
            </a:r>
          </a:p>
          <a:p>
            <a:pPr lvl="1"/>
            <a:r>
              <a:rPr lang="en-US" dirty="0" smtClean="0"/>
              <a:t>An adjective defining the type of access that outside classes will have to the attribute or method</a:t>
            </a:r>
          </a:p>
          <a:p>
            <a:pPr lvl="2"/>
            <a:r>
              <a:rPr lang="en-US" sz="2200" dirty="0" smtClean="0">
                <a:latin typeface="Courier New" pitchFamily="49" charset="0"/>
                <a:cs typeface="Courier New" pitchFamily="49" charset="0"/>
              </a:rPr>
              <a:t>public</a:t>
            </a:r>
            <a:r>
              <a:rPr lang="en-US" sz="2200" dirty="0" smtClean="0"/>
              <a:t> or </a:t>
            </a:r>
            <a:r>
              <a:rPr lang="en-US" sz="2200" dirty="0" smtClean="0">
                <a:latin typeface="Courier New" pitchFamily="49" charset="0"/>
                <a:cs typeface="Courier New" pitchFamily="49" charset="0"/>
              </a:rPr>
              <a:t>private</a:t>
            </a:r>
          </a:p>
        </p:txBody>
      </p:sp>
      <p:sp>
        <p:nvSpPr>
          <p:cNvPr id="9" name="Title 1"/>
          <p:cNvSpPr>
            <a:spLocks noGrp="1"/>
          </p:cNvSpPr>
          <p:nvPr>
            <p:ph type="title"/>
          </p:nvPr>
        </p:nvSpPr>
        <p:spPr>
          <a:xfrm>
            <a:off x="457200" y="274638"/>
            <a:ext cx="8229600" cy="1143000"/>
          </a:xfrm>
        </p:spPr>
        <p:txBody>
          <a:bodyPr/>
          <a:lstStyle/>
          <a:p>
            <a:r>
              <a:rPr lang="en-US" dirty="0"/>
              <a:t>Understanding Public and Private </a:t>
            </a:r>
            <a:r>
              <a:rPr lang="en-US" dirty="0" smtClean="0"/>
              <a:t>Access </a:t>
            </a:r>
            <a:r>
              <a:rPr lang="en-US" sz="1200" dirty="0" smtClean="0"/>
              <a:t>(continued -1)</a:t>
            </a:r>
            <a:endParaRPr lang="en-US" sz="1200" dirty="0" smtClean="0"/>
          </a:p>
        </p:txBody>
      </p:sp>
    </p:spTree>
    <p:extLst>
      <p:ext uri="{BB962C8B-B14F-4D97-AF65-F5344CB8AC3E}">
        <p14:creationId xmlns:p14="http://schemas.microsoft.com/office/powerpoint/2010/main" val="2237310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838200"/>
            <a:ext cx="3601212" cy="2590800"/>
          </a:xfrm>
        </p:spPr>
        <p:txBody>
          <a:bodyPr/>
          <a:lstStyle/>
          <a:p>
            <a:r>
              <a:rPr lang="en-US" dirty="0"/>
              <a:t>Understanding Public and Private </a:t>
            </a:r>
            <a:r>
              <a:rPr lang="en-US" dirty="0" smtClean="0"/>
              <a:t>Access </a:t>
            </a:r>
            <a:r>
              <a:rPr lang="en-US" sz="1200" dirty="0" smtClean="0"/>
              <a:t>(continued -2)</a:t>
            </a:r>
            <a:endParaRPr lang="en-US" sz="1200" dirty="0" smtClean="0"/>
          </a:p>
        </p:txBody>
      </p:sp>
      <p:pic>
        <p:nvPicPr>
          <p:cNvPr id="2" name="Picture 1" descr="A complete Employee class to which access specifiers have been added&#10;to describe each attribute and method.&#10;Each of the data fields is private, which means each field is inaccessible to an&#10;object declared in a client program. &#10;All of the methods are public except one—the calculateWeeklyPay method is private." title="Employee class including public and private access specifier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7200" y="936388"/>
            <a:ext cx="4443845" cy="5025500"/>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71081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29</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4"/>
          <p:cNvSpPr>
            <a:spLocks noGrp="1"/>
          </p:cNvSpPr>
          <p:nvPr>
            <p:ph idx="1"/>
          </p:nvPr>
        </p:nvSpPr>
        <p:spPr>
          <a:xfrm>
            <a:off x="533400" y="1828800"/>
            <a:ext cx="8077200" cy="4419600"/>
          </a:xfrm>
        </p:spPr>
        <p:txBody>
          <a:bodyPr/>
          <a:lstStyle/>
          <a:p>
            <a:r>
              <a:rPr lang="en-US" dirty="0" smtClean="0"/>
              <a:t>Don’t do it:</a:t>
            </a:r>
          </a:p>
          <a:p>
            <a:pPr lvl="1"/>
            <a:r>
              <a:rPr lang="en-US" dirty="0" smtClean="0">
                <a:latin typeface="Courier New" pitchFamily="49" charset="0"/>
                <a:cs typeface="Courier New" pitchFamily="49" charset="0"/>
              </a:rPr>
              <a:t>myAssistant.hourlyWage = 15.00</a:t>
            </a:r>
          </a:p>
          <a:p>
            <a:r>
              <a:rPr lang="en-US" dirty="0" smtClean="0"/>
              <a:t>Instead:</a:t>
            </a:r>
          </a:p>
          <a:p>
            <a:pPr lvl="1"/>
            <a:r>
              <a:rPr lang="en-US" dirty="0" smtClean="0">
                <a:latin typeface="Courier New" pitchFamily="49" charset="0"/>
                <a:cs typeface="Courier New" pitchFamily="49" charset="0"/>
              </a:rPr>
              <a:t>myAssistant.setHourlyWage(15.00)</a:t>
            </a:r>
          </a:p>
          <a:p>
            <a:r>
              <a:rPr lang="en-US" dirty="0" smtClean="0"/>
              <a:t>Methods may be private; don’t do it:</a:t>
            </a:r>
          </a:p>
          <a:p>
            <a:pPr lvl="1"/>
            <a:r>
              <a:rPr lang="en-US" dirty="0" smtClean="0">
                <a:latin typeface="Courier New" pitchFamily="49" charset="0"/>
                <a:cs typeface="Courier New" pitchFamily="49" charset="0"/>
              </a:rPr>
              <a:t>myAssistant.calculateWeeklyPay()</a:t>
            </a:r>
          </a:p>
        </p:txBody>
      </p:sp>
      <p:sp>
        <p:nvSpPr>
          <p:cNvPr id="7" name="Title 1"/>
          <p:cNvSpPr>
            <a:spLocks noGrp="1"/>
          </p:cNvSpPr>
          <p:nvPr>
            <p:ph type="title"/>
          </p:nvPr>
        </p:nvSpPr>
        <p:spPr>
          <a:xfrm>
            <a:off x="457200" y="274638"/>
            <a:ext cx="8229600" cy="1143000"/>
          </a:xfrm>
        </p:spPr>
        <p:txBody>
          <a:bodyPr/>
          <a:lstStyle/>
          <a:p>
            <a:r>
              <a:rPr lang="en-US" dirty="0"/>
              <a:t>Understanding Public and Private </a:t>
            </a:r>
            <a:r>
              <a:rPr lang="en-US" dirty="0" smtClean="0"/>
              <a:t>Access </a:t>
            </a:r>
            <a:r>
              <a:rPr lang="en-US" sz="1200" dirty="0" smtClean="0"/>
              <a:t>(continued -3)</a:t>
            </a:r>
            <a:endParaRPr lang="en-US" sz="1200" dirty="0" smtClean="0"/>
          </a:p>
        </p:txBody>
      </p:sp>
    </p:spTree>
    <p:extLst>
      <p:ext uri="{BB962C8B-B14F-4D97-AF65-F5344CB8AC3E}">
        <p14:creationId xmlns:p14="http://schemas.microsoft.com/office/powerpoint/2010/main" val="103893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74638"/>
            <a:ext cx="8229600" cy="1143000"/>
          </a:xfrm>
        </p:spPr>
        <p:txBody>
          <a:bodyPr/>
          <a:lstStyle/>
          <a:p>
            <a:r>
              <a:rPr lang="en-US" dirty="0"/>
              <a:t>Understanding Public and Private </a:t>
            </a:r>
            <a:r>
              <a:rPr lang="en-US" dirty="0" smtClean="0"/>
              <a:t>Access </a:t>
            </a:r>
            <a:r>
              <a:rPr lang="en-US" sz="1200" dirty="0" smtClean="0"/>
              <a:t>(continued -4)</a:t>
            </a:r>
            <a:endParaRPr lang="en-US" sz="1200" dirty="0" smtClean="0"/>
          </a:p>
        </p:txBody>
      </p:sp>
      <p:pic>
        <p:nvPicPr>
          <p:cNvPr id="2" name="Picture 1" descr="Many programmers like to specify in class diagrams whether each component in a class is&#10;public or private. The conventions that are typically used; a minus sign precedes the items that are private (less accessible); a plus sign precedes those that are public (more accessible)." title="Employee class diagram with public and private access specifier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9842" y="2057400"/>
            <a:ext cx="6444315" cy="3810000"/>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30</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610778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74638"/>
            <a:ext cx="8229600" cy="1001712"/>
          </a:xfrm>
        </p:spPr>
        <p:txBody>
          <a:bodyPr/>
          <a:lstStyle/>
          <a:p>
            <a:r>
              <a:rPr lang="en-US" dirty="0"/>
              <a:t>Organizing Classes</a:t>
            </a:r>
            <a:endParaRPr lang="en-US"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31</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7" name="Content Placeholder 8"/>
          <p:cNvSpPr>
            <a:spLocks noGrp="1"/>
          </p:cNvSpPr>
          <p:nvPr>
            <p:ph idx="1"/>
          </p:nvPr>
        </p:nvSpPr>
        <p:spPr>
          <a:xfrm>
            <a:off x="533400" y="1676400"/>
            <a:ext cx="8077200" cy="4572000"/>
          </a:xfrm>
        </p:spPr>
        <p:txBody>
          <a:bodyPr/>
          <a:lstStyle/>
          <a:p>
            <a:r>
              <a:rPr lang="en-US" dirty="0" smtClean="0"/>
              <a:t>Most programmers place data fields in logical order at the beginning of a class</a:t>
            </a:r>
          </a:p>
          <a:p>
            <a:pPr lvl="1"/>
            <a:r>
              <a:rPr lang="en-US" dirty="0" smtClean="0"/>
              <a:t>An ID number is most likely used as a unique identifier</a:t>
            </a:r>
          </a:p>
          <a:p>
            <a:pPr lvl="2"/>
            <a:r>
              <a:rPr lang="en-US" dirty="0" smtClean="0"/>
              <a:t>Primary key</a:t>
            </a:r>
          </a:p>
          <a:p>
            <a:pPr lvl="1"/>
            <a:r>
              <a:rPr lang="en-US" dirty="0" smtClean="0"/>
              <a:t>Flexibility in how you position data fields</a:t>
            </a:r>
          </a:p>
          <a:p>
            <a:r>
              <a:rPr lang="en-US" dirty="0" smtClean="0"/>
              <a:t>In some languages, you can organize a class’s data fields and methods in any order</a:t>
            </a:r>
          </a:p>
        </p:txBody>
      </p:sp>
    </p:spTree>
    <p:extLst>
      <p:ext uri="{BB962C8B-B14F-4D97-AF65-F5344CB8AC3E}">
        <p14:creationId xmlns:p14="http://schemas.microsoft.com/office/powerpoint/2010/main" val="3931803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32</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9" name="Content Placeholder 6"/>
          <p:cNvSpPr>
            <a:spLocks noGrp="1"/>
          </p:cNvSpPr>
          <p:nvPr>
            <p:ph idx="1"/>
          </p:nvPr>
        </p:nvSpPr>
        <p:spPr>
          <a:xfrm>
            <a:off x="533400" y="1676400"/>
            <a:ext cx="8077200" cy="4572000"/>
          </a:xfrm>
        </p:spPr>
        <p:txBody>
          <a:bodyPr/>
          <a:lstStyle/>
          <a:p>
            <a:r>
              <a:rPr lang="en-US" dirty="0"/>
              <a:t>Class method ordering</a:t>
            </a:r>
          </a:p>
          <a:p>
            <a:pPr lvl="1"/>
            <a:r>
              <a:rPr lang="en-US" dirty="0"/>
              <a:t>Alphabetical</a:t>
            </a:r>
          </a:p>
          <a:p>
            <a:pPr lvl="1"/>
            <a:r>
              <a:rPr lang="en-US" dirty="0"/>
              <a:t>Pairs of get and set methods</a:t>
            </a:r>
          </a:p>
          <a:p>
            <a:pPr lvl="1"/>
            <a:r>
              <a:rPr lang="en-US" dirty="0"/>
              <a:t>Same order as the data fields are defined</a:t>
            </a:r>
          </a:p>
          <a:p>
            <a:pPr lvl="1"/>
            <a:r>
              <a:rPr lang="en-US" dirty="0"/>
              <a:t>All accessor (get) methods together and all mutator (set) methods together</a:t>
            </a:r>
          </a:p>
        </p:txBody>
      </p:sp>
      <p:sp>
        <p:nvSpPr>
          <p:cNvPr id="8" name="Title 1"/>
          <p:cNvSpPr>
            <a:spLocks noGrp="1"/>
          </p:cNvSpPr>
          <p:nvPr>
            <p:ph type="title"/>
          </p:nvPr>
        </p:nvSpPr>
        <p:spPr>
          <a:xfrm>
            <a:off x="457200" y="274638"/>
            <a:ext cx="8229600" cy="1001712"/>
          </a:xfrm>
        </p:spPr>
        <p:txBody>
          <a:bodyPr/>
          <a:lstStyle/>
          <a:p>
            <a:r>
              <a:rPr lang="en-US" dirty="0"/>
              <a:t>Organizing </a:t>
            </a:r>
            <a:r>
              <a:rPr lang="en-US" dirty="0" smtClean="0"/>
              <a:t>Classes </a:t>
            </a:r>
            <a:r>
              <a:rPr lang="en-US" sz="1200" dirty="0" smtClean="0"/>
              <a:t>(continued)</a:t>
            </a:r>
          </a:p>
        </p:txBody>
      </p:sp>
    </p:spTree>
    <p:extLst>
      <p:ext uri="{BB962C8B-B14F-4D97-AF65-F5344CB8AC3E}">
        <p14:creationId xmlns:p14="http://schemas.microsoft.com/office/powerpoint/2010/main" val="181004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28600"/>
            <a:ext cx="8229600" cy="1173162"/>
          </a:xfrm>
        </p:spPr>
        <p:txBody>
          <a:bodyPr/>
          <a:lstStyle/>
          <a:p>
            <a:r>
              <a:rPr lang="en-US" dirty="0"/>
              <a:t>Understanding Instance Methods</a:t>
            </a:r>
            <a:endParaRPr lang="en-US"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33</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8"/>
          <p:cNvSpPr>
            <a:spLocks noGrp="1"/>
          </p:cNvSpPr>
          <p:nvPr>
            <p:ph idx="1"/>
          </p:nvPr>
        </p:nvSpPr>
        <p:spPr>
          <a:xfrm>
            <a:off x="533400" y="1676400"/>
            <a:ext cx="8077200" cy="1828800"/>
          </a:xfrm>
        </p:spPr>
        <p:txBody>
          <a:bodyPr/>
          <a:lstStyle/>
          <a:p>
            <a:r>
              <a:rPr lang="en-US" dirty="0" smtClean="0"/>
              <a:t>Every object that is an instance of a class is assumed to possess the same data and have access to the same methods</a:t>
            </a:r>
          </a:p>
        </p:txBody>
      </p:sp>
    </p:spTree>
    <p:extLst>
      <p:ext uri="{BB962C8B-B14F-4D97-AF65-F5344CB8AC3E}">
        <p14:creationId xmlns:p14="http://schemas.microsoft.com/office/powerpoint/2010/main" val="2562564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533400" y="228600"/>
            <a:ext cx="8077200" cy="1143000"/>
          </a:xfrm>
        </p:spPr>
        <p:txBody>
          <a:bodyPr/>
          <a:lstStyle/>
          <a:p>
            <a:r>
              <a:rPr lang="en-US" dirty="0" smtClean="0"/>
              <a:t>Understanding Instance Methods </a:t>
            </a:r>
            <a:r>
              <a:rPr lang="en-US" sz="1200" dirty="0" smtClean="0"/>
              <a:t>(</a:t>
            </a:r>
            <a:r>
              <a:rPr lang="en-US" sz="1200" dirty="0" smtClean="0"/>
              <a:t>continued -1)</a:t>
            </a:r>
            <a:endParaRPr lang="en-US" sz="1200" dirty="0" smtClean="0"/>
          </a:p>
        </p:txBody>
      </p:sp>
      <p:pic>
        <p:nvPicPr>
          <p:cNvPr id="2" name="Picture 1" descr="A class diagram for a simple Student class that contains just one private data field for a student’s grade point&#10;average. The class also contains get and set methods for the field." title="Class diagram for Student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 y="1766523"/>
            <a:ext cx="3671587" cy="1955927"/>
          </a:xfrm>
          <a:prstGeom prst="rect">
            <a:avLst/>
          </a:prstGeom>
        </p:spPr>
      </p:pic>
      <p:pic>
        <p:nvPicPr>
          <p:cNvPr id="3" name="Picture 2" descr="This is the pseudocode for the Student class." title="Pseudocode for the Student clas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87156" y="1766523"/>
            <a:ext cx="3699644" cy="2359092"/>
          </a:xfrm>
          <a:prstGeom prst="rect">
            <a:avLst/>
          </a:prstGeom>
        </p:spPr>
      </p:pic>
      <p:pic>
        <p:nvPicPr>
          <p:cNvPr id="4" name="Picture 3" descr="This is a client program that creates three Student objects and assigns values to their gradePointAverage fields. It also shows how the Student objects look in memory after the values have been assigned." title="Program that creates three Student objects and picture of how they look in memory"/>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20125" y="4346810"/>
            <a:ext cx="5516853" cy="2009540"/>
          </a:xfrm>
          <a:prstGeom prst="rect">
            <a:avLst/>
          </a:prstGeom>
        </p:spPr>
      </p:pic>
      <p:sp>
        <p:nvSpPr>
          <p:cNvPr id="5" name="Slide Number Placeholder 4"/>
          <p:cNvSpPr>
            <a:spLocks noGrp="1"/>
          </p:cNvSpPr>
          <p:nvPr>
            <p:ph type="sldNum" sz="quarter" idx="10"/>
          </p:nvPr>
        </p:nvSpPr>
        <p:spPr/>
        <p:txBody>
          <a:bodyPr/>
          <a:lstStyle/>
          <a:p>
            <a:pPr>
              <a:defRPr/>
            </a:pPr>
            <a:fld id="{95A5FCC0-5251-4FC4-B646-20B416B8B42D}" type="slidenum">
              <a:rPr lang="en-US"/>
              <a:pPr>
                <a:defRPr/>
              </a:pPr>
              <a:t>34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228600"/>
            <a:ext cx="8229600" cy="1143000"/>
          </a:xfrm>
        </p:spPr>
        <p:txBody>
          <a:bodyPr/>
          <a:lstStyle/>
          <a:p>
            <a:r>
              <a:rPr lang="en-US" dirty="0"/>
              <a:t>Understanding Instance Methods </a:t>
            </a:r>
            <a:r>
              <a:rPr lang="en-US" sz="1200" dirty="0" smtClean="0"/>
              <a:t>(</a:t>
            </a:r>
            <a:r>
              <a:rPr lang="en-US" sz="1200" dirty="0" smtClean="0"/>
              <a:t>continued -2)</a:t>
            </a:r>
            <a:endParaRPr lang="en-US" sz="1200" dirty="0" smtClean="0"/>
          </a:p>
        </p:txBody>
      </p:sp>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7" name="Content Placeholder 2"/>
          <p:cNvSpPr>
            <a:spLocks noGrp="1"/>
          </p:cNvSpPr>
          <p:nvPr>
            <p:ph idx="1"/>
          </p:nvPr>
        </p:nvSpPr>
        <p:spPr>
          <a:xfrm>
            <a:off x="533400" y="1676400"/>
            <a:ext cx="8077200" cy="4572000"/>
          </a:xfrm>
        </p:spPr>
        <p:txBody>
          <a:bodyPr/>
          <a:lstStyle/>
          <a:p>
            <a:r>
              <a:rPr lang="en-US" b="1" dirty="0" smtClean="0"/>
              <a:t>Instance method </a:t>
            </a:r>
            <a:endParaRPr lang="en-US" b="1" dirty="0" smtClean="0"/>
          </a:p>
          <a:p>
            <a:pPr lvl="1"/>
            <a:r>
              <a:rPr lang="en-US" dirty="0" smtClean="0"/>
              <a:t>Method </a:t>
            </a:r>
            <a:r>
              <a:rPr lang="en-US" dirty="0"/>
              <a:t>that works appropriately with different objects</a:t>
            </a:r>
            <a:endParaRPr lang="en-US" b="1" dirty="0" smtClean="0"/>
          </a:p>
          <a:p>
            <a:pPr lvl="1"/>
            <a:r>
              <a:rPr lang="en-US" dirty="0" smtClean="0"/>
              <a:t>If </a:t>
            </a:r>
            <a:r>
              <a:rPr lang="en-US" dirty="0" smtClean="0"/>
              <a:t>you create 100 </a:t>
            </a:r>
            <a:r>
              <a:rPr lang="en-US" dirty="0" smtClean="0">
                <a:latin typeface="Courier New" pitchFamily="49" charset="0"/>
                <a:cs typeface="Courier New" pitchFamily="49" charset="0"/>
              </a:rPr>
              <a:t>Students</a:t>
            </a:r>
            <a:r>
              <a:rPr lang="en-US" dirty="0" smtClean="0"/>
              <a:t> and assign grade point averages to each of them, you would need 100 storage locations in computer memory </a:t>
            </a:r>
          </a:p>
          <a:p>
            <a:r>
              <a:rPr lang="en-US" dirty="0" smtClean="0"/>
              <a:t>Only one copy of each instance method is stored in memory</a:t>
            </a:r>
          </a:p>
          <a:p>
            <a:pPr lvl="1"/>
            <a:r>
              <a:rPr lang="en-US" dirty="0" smtClean="0"/>
              <a:t>The computer needs a way to determine whose </a:t>
            </a:r>
            <a:r>
              <a:rPr lang="en-US" dirty="0" smtClean="0">
                <a:latin typeface="Courier New" pitchFamily="49" charset="0"/>
                <a:cs typeface="Courier New" pitchFamily="49" charset="0"/>
              </a:rPr>
              <a:t>gradePointAverage</a:t>
            </a:r>
            <a:r>
              <a:rPr lang="en-US" dirty="0" smtClean="0"/>
              <a:t> is being set or retrieved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28600"/>
            <a:ext cx="3581400" cy="2438400"/>
          </a:xfrm>
        </p:spPr>
        <p:txBody>
          <a:bodyPr/>
          <a:lstStyle/>
          <a:p>
            <a:pPr algn="l"/>
            <a:r>
              <a:rPr lang="en-US" dirty="0"/>
              <a:t>Understanding Instance Methods </a:t>
            </a:r>
            <a:r>
              <a:rPr lang="en-US" sz="1200" dirty="0" smtClean="0"/>
              <a:t>(</a:t>
            </a:r>
            <a:r>
              <a:rPr lang="en-US" sz="1200" dirty="0" smtClean="0"/>
              <a:t>continued -3)</a:t>
            </a:r>
            <a:endParaRPr lang="en-US" sz="1200" dirty="0" smtClean="0"/>
          </a:p>
        </p:txBody>
      </p:sp>
      <p:pic>
        <p:nvPicPr>
          <p:cNvPr id="2" name="Picture 1" descr="This shows each place the this reference is used in the Student class. It is implicitly passed as a parameter to each instance method. You never explicitly refer&#10;to the this reference when you write the method header for an instance method; it  just shows where it implicitly exists. Within each instance method, the this reference is implied any time you refer to one of the class data fields." title="How Student object memory addresses are passed from an application to an instance method of the Student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8600" y="548132"/>
            <a:ext cx="4930130" cy="5808218"/>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37358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228600"/>
            <a:ext cx="8229600" cy="1143000"/>
          </a:xfrm>
        </p:spPr>
        <p:txBody>
          <a:bodyPr/>
          <a:lstStyle/>
          <a:p>
            <a:r>
              <a:rPr lang="en-US" dirty="0"/>
              <a:t>Understanding Instance Methods </a:t>
            </a:r>
            <a:r>
              <a:rPr lang="en-US" sz="1200" dirty="0" smtClean="0"/>
              <a:t>(</a:t>
            </a:r>
            <a:r>
              <a:rPr lang="en-US" sz="1200" dirty="0" smtClean="0"/>
              <a:t>continued -4)</a:t>
            </a:r>
            <a:endParaRPr lang="en-US" sz="1200" dirty="0" smtClean="0"/>
          </a:p>
        </p:txBody>
      </p:sp>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37</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7" name="Content Placeholder 2"/>
          <p:cNvSpPr>
            <a:spLocks noGrp="1"/>
          </p:cNvSpPr>
          <p:nvPr>
            <p:ph idx="1"/>
          </p:nvPr>
        </p:nvSpPr>
        <p:spPr>
          <a:xfrm>
            <a:off x="533400" y="1676400"/>
            <a:ext cx="8077200" cy="4572000"/>
          </a:xfrm>
        </p:spPr>
        <p:txBody>
          <a:bodyPr/>
          <a:lstStyle/>
          <a:p>
            <a:r>
              <a:rPr lang="en-US" b="1" dirty="0" smtClean="0">
                <a:latin typeface="Courier New" pitchFamily="49" charset="0"/>
                <a:cs typeface="Courier New" pitchFamily="49" charset="0"/>
              </a:rPr>
              <a:t>this</a:t>
            </a:r>
            <a:r>
              <a:rPr lang="en-US" dirty="0" smtClean="0"/>
              <a:t> </a:t>
            </a:r>
            <a:r>
              <a:rPr lang="en-US" b="1" dirty="0" smtClean="0"/>
              <a:t>reference </a:t>
            </a:r>
          </a:p>
          <a:p>
            <a:pPr lvl="1"/>
            <a:r>
              <a:rPr lang="en-US" dirty="0" smtClean="0"/>
              <a:t>An automatically created variable </a:t>
            </a:r>
          </a:p>
          <a:p>
            <a:pPr lvl="1"/>
            <a:r>
              <a:rPr lang="en-US" dirty="0" smtClean="0"/>
              <a:t>Holds the address of an object </a:t>
            </a:r>
          </a:p>
          <a:p>
            <a:pPr lvl="1"/>
            <a:r>
              <a:rPr lang="en-US" dirty="0" smtClean="0"/>
              <a:t>Passes it to an instance method whenever the method is called</a:t>
            </a:r>
          </a:p>
          <a:p>
            <a:pPr lvl="1"/>
            <a:r>
              <a:rPr lang="en-US" dirty="0" smtClean="0"/>
              <a:t>Refers to “this particular object” using the method</a:t>
            </a:r>
          </a:p>
          <a:p>
            <a:pPr lvl="1"/>
            <a:r>
              <a:rPr lang="en-US" dirty="0" smtClean="0"/>
              <a:t>Implicitly passed as a parameter to each instance method</a:t>
            </a:r>
          </a:p>
        </p:txBody>
      </p:sp>
    </p:spTree>
    <p:extLst>
      <p:ext uri="{BB962C8B-B14F-4D97-AF65-F5344CB8AC3E}">
        <p14:creationId xmlns:p14="http://schemas.microsoft.com/office/powerpoint/2010/main" val="2946003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228600"/>
            <a:ext cx="8229600" cy="1143000"/>
          </a:xfrm>
        </p:spPr>
        <p:txBody>
          <a:bodyPr/>
          <a:lstStyle/>
          <a:p>
            <a:r>
              <a:rPr lang="en-US" dirty="0"/>
              <a:t>Understanding Instance Methods </a:t>
            </a:r>
            <a:r>
              <a:rPr lang="en-US" sz="1200" dirty="0" smtClean="0"/>
              <a:t>(</a:t>
            </a:r>
            <a:r>
              <a:rPr lang="en-US" sz="1200" dirty="0" smtClean="0"/>
              <a:t>continued -5)</a:t>
            </a:r>
            <a:endParaRPr lang="en-US" sz="1200" dirty="0" smtClean="0"/>
          </a:p>
        </p:txBody>
      </p:sp>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Identifiers within the method always mean exactly the same thing</a:t>
            </a:r>
          </a:p>
          <a:p>
            <a:pPr lvl="1"/>
            <a:r>
              <a:rPr lang="en-US" dirty="0" smtClean="0"/>
              <a:t>Any field </a:t>
            </a:r>
            <a:r>
              <a:rPr lang="en-US" dirty="0" smtClean="0"/>
              <a:t>name defined in the class</a:t>
            </a:r>
            <a:endParaRPr lang="en-US" dirty="0" smtClean="0"/>
          </a:p>
          <a:p>
            <a:pPr lvl="1"/>
            <a:r>
              <a:rPr lang="en-US" dirty="0" smtClean="0">
                <a:latin typeface="Courier New" pitchFamily="49" charset="0"/>
                <a:cs typeface="Courier New" pitchFamily="49" charset="0"/>
              </a:rPr>
              <a:t>this</a:t>
            </a:r>
            <a:r>
              <a:rPr lang="en-US" dirty="0" smtClean="0"/>
              <a:t>, followed by a dot, followed by the same field name</a:t>
            </a:r>
          </a:p>
          <a:p>
            <a:r>
              <a:rPr lang="en-US" dirty="0" smtClean="0"/>
              <a:t>Example of an occasion when you might use the </a:t>
            </a:r>
            <a:r>
              <a:rPr lang="en-US" dirty="0" smtClean="0">
                <a:latin typeface="Courier New" pitchFamily="49" charset="0"/>
                <a:cs typeface="Courier New" pitchFamily="49" charset="0"/>
              </a:rPr>
              <a:t>this</a:t>
            </a:r>
            <a:r>
              <a:rPr lang="en-US" dirty="0" smtClean="0"/>
              <a:t> reference explicitly</a:t>
            </a:r>
          </a:p>
        </p:txBody>
      </p:sp>
    </p:spTree>
    <p:extLst>
      <p:ext uri="{BB962C8B-B14F-4D97-AF65-F5344CB8AC3E}">
        <p14:creationId xmlns:p14="http://schemas.microsoft.com/office/powerpoint/2010/main" val="1789931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228600"/>
            <a:ext cx="8229600" cy="1143000"/>
          </a:xfrm>
        </p:spPr>
        <p:txBody>
          <a:bodyPr/>
          <a:lstStyle/>
          <a:p>
            <a:r>
              <a:rPr lang="en-US" dirty="0"/>
              <a:t>Understanding Instance Methods </a:t>
            </a:r>
            <a:r>
              <a:rPr lang="en-US" sz="1200" dirty="0" smtClean="0"/>
              <a:t>(</a:t>
            </a:r>
            <a:r>
              <a:rPr lang="en-US" sz="1200" dirty="0" smtClean="0"/>
              <a:t>continued -6)</a:t>
            </a:r>
            <a:endParaRPr lang="en-US" sz="1200" dirty="0" smtClean="0"/>
          </a:p>
        </p:txBody>
      </p:sp>
      <p:pic>
        <p:nvPicPr>
          <p:cNvPr id="2" name="Picture 1" descr="This shows two locations where the this reference can be used implicitly, or where you can (but do not have to)&#10;use it explicitly." title="Explicitly using this in the Student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2033" y="2209800"/>
            <a:ext cx="6859933" cy="3057144"/>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39</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2218708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228600" y="274638"/>
            <a:ext cx="8915400" cy="1143000"/>
          </a:xfrm>
        </p:spPr>
        <p:txBody>
          <a:bodyPr/>
          <a:lstStyle/>
          <a:p>
            <a:r>
              <a:rPr lang="en-US" dirty="0"/>
              <a:t>Understanding Static Methods</a:t>
            </a:r>
            <a:endParaRPr lang="en-US" dirty="0" smtClean="0"/>
          </a:p>
        </p:txBody>
      </p:sp>
      <p:sp>
        <p:nvSpPr>
          <p:cNvPr id="5" name="Slide Number Placeholder 4"/>
          <p:cNvSpPr>
            <a:spLocks noGrp="1"/>
          </p:cNvSpPr>
          <p:nvPr>
            <p:ph type="sldNum" sz="quarter" idx="10"/>
          </p:nvPr>
        </p:nvSpPr>
        <p:spPr/>
        <p:txBody>
          <a:bodyPr/>
          <a:lstStyle/>
          <a:p>
            <a:pPr>
              <a:defRPr/>
            </a:pPr>
            <a:fld id="{F1DBD341-A3F5-4E4F-BCCA-C427F51E2F61}" type="slidenum">
              <a:rPr lang="en-US"/>
              <a:pPr>
                <a:defRPr/>
              </a:pPr>
              <a:t>40</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9" name="Content Placeholder 8"/>
          <p:cNvSpPr>
            <a:spLocks noGrp="1"/>
          </p:cNvSpPr>
          <p:nvPr>
            <p:ph idx="1"/>
          </p:nvPr>
        </p:nvSpPr>
        <p:spPr>
          <a:xfrm>
            <a:off x="533400" y="1676400"/>
            <a:ext cx="8077200" cy="4572000"/>
          </a:xfrm>
        </p:spPr>
        <p:txBody>
          <a:bodyPr/>
          <a:lstStyle/>
          <a:p>
            <a:r>
              <a:rPr lang="en-US" dirty="0" smtClean="0"/>
              <a:t>Some methods do not require a </a:t>
            </a:r>
            <a:r>
              <a:rPr lang="en-US" dirty="0" smtClean="0">
                <a:latin typeface="Courier New" pitchFamily="49" charset="0"/>
                <a:cs typeface="Courier New" pitchFamily="49" charset="0"/>
              </a:rPr>
              <a:t>this</a:t>
            </a:r>
            <a:r>
              <a:rPr lang="en-US" dirty="0" smtClean="0"/>
              <a:t> reference</a:t>
            </a:r>
          </a:p>
          <a:p>
            <a:r>
              <a:rPr lang="en-US" dirty="0" smtClean="0">
                <a:latin typeface="Courier New" pitchFamily="49" charset="0"/>
                <a:cs typeface="Courier New" pitchFamily="49" charset="0"/>
              </a:rPr>
              <a:t>displayStudentMotto()</a:t>
            </a:r>
          </a:p>
          <a:p>
            <a:pPr lvl="1"/>
            <a:r>
              <a:rPr lang="en-US" dirty="0" smtClean="0"/>
              <a:t>A class method instead of an instance method</a:t>
            </a:r>
          </a:p>
          <a:p>
            <a:r>
              <a:rPr lang="en-US" dirty="0" smtClean="0"/>
              <a:t>Two types of methods</a:t>
            </a:r>
          </a:p>
          <a:p>
            <a:pPr lvl="1"/>
            <a:r>
              <a:rPr lang="en-US" b="1" dirty="0" smtClean="0"/>
              <a:t>Static methods</a:t>
            </a:r>
            <a:r>
              <a:rPr lang="en-US" dirty="0" smtClean="0"/>
              <a:t> (also called </a:t>
            </a:r>
            <a:r>
              <a:rPr lang="en-US" b="1" dirty="0" smtClean="0"/>
              <a:t>class methods</a:t>
            </a:r>
            <a:r>
              <a:rPr lang="en-US" dirty="0" smtClean="0"/>
              <a:t>)</a:t>
            </a:r>
          </a:p>
          <a:p>
            <a:pPr lvl="2"/>
            <a:r>
              <a:rPr lang="en-US" dirty="0" smtClean="0"/>
              <a:t>Methods for which no object needs to exist</a:t>
            </a:r>
          </a:p>
          <a:p>
            <a:pPr lvl="1"/>
            <a:r>
              <a:rPr lang="en-US" b="1" dirty="0" smtClean="0"/>
              <a:t>Nonstatic methods</a:t>
            </a:r>
          </a:p>
          <a:p>
            <a:pPr lvl="2"/>
            <a:r>
              <a:rPr lang="en-US" dirty="0" smtClean="0"/>
              <a:t>Methods that exist to be used with an object</a:t>
            </a:r>
          </a:p>
          <a:p>
            <a:r>
              <a:rPr lang="en-US" dirty="0" smtClean="0">
                <a:latin typeface="Courier New" pitchFamily="49" charset="0"/>
                <a:cs typeface="Courier New" pitchFamily="49" charset="0"/>
              </a:rPr>
              <a:t>Student.displayStudentMotto()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228600" y="228600"/>
            <a:ext cx="8915400" cy="1143000"/>
          </a:xfrm>
        </p:spPr>
        <p:txBody>
          <a:bodyPr/>
          <a:lstStyle/>
          <a:p>
            <a:r>
              <a:rPr lang="en-US" dirty="0"/>
              <a:t>Understanding Static </a:t>
            </a:r>
            <a:r>
              <a:rPr lang="en-US" dirty="0" smtClean="0"/>
              <a:t>Methods </a:t>
            </a:r>
            <a:r>
              <a:rPr lang="en-US" sz="1200" dirty="0" smtClean="0"/>
              <a:t>(continued)</a:t>
            </a:r>
          </a:p>
        </p:txBody>
      </p:sp>
      <p:pic>
        <p:nvPicPr>
          <p:cNvPr id="2" name="Picture 1" descr="The displayStudentMotto method in &#10;could be added to the Student class. Its purpose is to display a motto that all Student objects use in the same way." title="Student class displayStudentMotto metho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0705" y="2605210"/>
            <a:ext cx="5960859" cy="2517529"/>
          </a:xfrm>
          <a:prstGeom prst="rect">
            <a:avLst/>
          </a:prstGeom>
        </p:spPr>
      </p:pic>
      <p:sp>
        <p:nvSpPr>
          <p:cNvPr id="5" name="Slide Number Placeholder 4"/>
          <p:cNvSpPr>
            <a:spLocks noGrp="1"/>
          </p:cNvSpPr>
          <p:nvPr>
            <p:ph type="sldNum" sz="quarter" idx="10"/>
          </p:nvPr>
        </p:nvSpPr>
        <p:spPr/>
        <p:txBody>
          <a:bodyPr/>
          <a:lstStyle/>
          <a:p>
            <a:pPr>
              <a:defRPr/>
            </a:pPr>
            <a:fld id="{F1DBD341-A3F5-4E4F-BCCA-C427F51E2F61}" type="slidenum">
              <a:rPr lang="en-US"/>
              <a:pPr>
                <a:defRPr/>
              </a:pPr>
              <a:t>41</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790815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228600" y="274638"/>
            <a:ext cx="8915400" cy="1143000"/>
          </a:xfrm>
        </p:spPr>
        <p:txBody>
          <a:bodyPr/>
          <a:lstStyle/>
          <a:p>
            <a:r>
              <a:rPr lang="en-US" dirty="0"/>
              <a:t>Using Objects</a:t>
            </a:r>
            <a:endParaRPr lang="en-US" dirty="0" smtClean="0"/>
          </a:p>
        </p:txBody>
      </p:sp>
      <p:sp>
        <p:nvSpPr>
          <p:cNvPr id="5" name="Slide Number Placeholder 4"/>
          <p:cNvSpPr>
            <a:spLocks noGrp="1"/>
          </p:cNvSpPr>
          <p:nvPr>
            <p:ph type="sldNum" sz="quarter" idx="10"/>
          </p:nvPr>
        </p:nvSpPr>
        <p:spPr/>
        <p:txBody>
          <a:bodyPr/>
          <a:lstStyle/>
          <a:p>
            <a:pPr>
              <a:defRPr/>
            </a:pPr>
            <a:fld id="{F1DBD341-A3F5-4E4F-BCCA-C427F51E2F61}" type="slidenum">
              <a:rPr lang="en-US"/>
              <a:pPr>
                <a:defRPr/>
              </a:pPr>
              <a:t>42</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8"/>
          <p:cNvSpPr>
            <a:spLocks noGrp="1"/>
          </p:cNvSpPr>
          <p:nvPr>
            <p:ph idx="1"/>
          </p:nvPr>
        </p:nvSpPr>
        <p:spPr>
          <a:xfrm>
            <a:off x="533400" y="1676400"/>
            <a:ext cx="8077200" cy="4572000"/>
          </a:xfrm>
        </p:spPr>
        <p:txBody>
          <a:bodyPr/>
          <a:lstStyle/>
          <a:p>
            <a:r>
              <a:rPr lang="en-US" dirty="0" smtClean="0"/>
              <a:t>You can use objects like you would use any other simpler data type</a:t>
            </a:r>
          </a:p>
          <a:p>
            <a:r>
              <a:rPr lang="en-US" dirty="0" smtClean="0">
                <a:latin typeface="Courier New" pitchFamily="49" charset="0"/>
                <a:cs typeface="Courier New" pitchFamily="49" charset="0"/>
              </a:rPr>
              <a:t>InventoryItem</a:t>
            </a:r>
            <a:r>
              <a:rPr lang="en-US" dirty="0" smtClean="0"/>
              <a:t> class</a:t>
            </a:r>
          </a:p>
          <a:p>
            <a:pPr lvl="1"/>
            <a:r>
              <a:rPr lang="en-US" dirty="0" smtClean="0"/>
              <a:t>Pass to </a:t>
            </a:r>
            <a:r>
              <a:rPr lang="en-US" dirty="0" smtClean="0"/>
              <a:t>an object to a method</a:t>
            </a:r>
            <a:endParaRPr lang="en-US" dirty="0" smtClean="0"/>
          </a:p>
          <a:p>
            <a:pPr lvl="1"/>
            <a:r>
              <a:rPr lang="en-US" dirty="0" smtClean="0"/>
              <a:t>Return </a:t>
            </a:r>
            <a:r>
              <a:rPr lang="en-US" dirty="0" smtClean="0"/>
              <a:t>an object from a method</a:t>
            </a:r>
          </a:p>
          <a:p>
            <a:pPr lvl="1"/>
            <a:r>
              <a:rPr lang="en-US" dirty="0" smtClean="0"/>
              <a:t>Use an array of objects</a:t>
            </a:r>
            <a:endParaRPr lang="en-US" dirty="0" smtClean="0"/>
          </a:p>
        </p:txBody>
      </p:sp>
    </p:spTree>
    <p:extLst>
      <p:ext uri="{BB962C8B-B14F-4D97-AF65-F5344CB8AC3E}">
        <p14:creationId xmlns:p14="http://schemas.microsoft.com/office/powerpoint/2010/main" val="3856871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228600" y="274638"/>
            <a:ext cx="8915400" cy="1143000"/>
          </a:xfrm>
        </p:spPr>
        <p:txBody>
          <a:bodyPr/>
          <a:lstStyle/>
          <a:p>
            <a:r>
              <a:rPr lang="en-US" dirty="0"/>
              <a:t>Using </a:t>
            </a:r>
            <a:r>
              <a:rPr lang="en-US" dirty="0" smtClean="0"/>
              <a:t>Objects </a:t>
            </a:r>
            <a:r>
              <a:rPr lang="en-US" sz="1200" dirty="0" smtClean="0"/>
              <a:t>(continued)</a:t>
            </a:r>
          </a:p>
        </p:txBody>
      </p:sp>
      <p:pic>
        <p:nvPicPr>
          <p:cNvPr id="2" name="Picture 1" descr="The class represents items that a&#10;company manufactures and holds in inventory. Each item has a number, description, and price. The class contains a get and set method for each of the three fields." title="InventoryItem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2200" y="1417638"/>
            <a:ext cx="4654296" cy="4898573"/>
          </a:xfrm>
          <a:prstGeom prst="rect">
            <a:avLst/>
          </a:prstGeom>
        </p:spPr>
      </p:pic>
      <p:sp>
        <p:nvSpPr>
          <p:cNvPr id="5" name="Slide Number Placeholder 4"/>
          <p:cNvSpPr>
            <a:spLocks noGrp="1"/>
          </p:cNvSpPr>
          <p:nvPr>
            <p:ph type="sldNum" sz="quarter" idx="10"/>
          </p:nvPr>
        </p:nvSpPr>
        <p:spPr/>
        <p:txBody>
          <a:bodyPr/>
          <a:lstStyle/>
          <a:p>
            <a:pPr>
              <a:defRPr/>
            </a:pPr>
            <a:fld id="{F1DBD341-A3F5-4E4F-BCCA-C427F51E2F61}" type="slidenum">
              <a:rPr lang="en-US"/>
              <a:pPr>
                <a:defRPr/>
              </a:pPr>
              <a:t>43</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7584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228600" y="274638"/>
            <a:ext cx="8915400" cy="1143000"/>
          </a:xfrm>
        </p:spPr>
        <p:txBody>
          <a:bodyPr/>
          <a:lstStyle/>
          <a:p>
            <a:r>
              <a:rPr lang="en-US" dirty="0"/>
              <a:t>Passing an Object to a </a:t>
            </a:r>
            <a:r>
              <a:rPr lang="en-US" dirty="0" smtClean="0"/>
              <a:t>Method</a:t>
            </a:r>
            <a:endParaRPr lang="en-US" sz="1200" dirty="0" smtClean="0"/>
          </a:p>
        </p:txBody>
      </p:sp>
      <p:pic>
        <p:nvPicPr>
          <p:cNvPr id="2" name="Picture 1" descr="A program that declares an InventoryItem object and passes it to a method for display." title="Application that declares and uses an InventoryItem objec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755680"/>
            <a:ext cx="4667708" cy="4262628"/>
          </a:xfrm>
          <a:prstGeom prst="rect">
            <a:avLst/>
          </a:prstGeom>
        </p:spPr>
      </p:pic>
      <p:pic>
        <p:nvPicPr>
          <p:cNvPr id="3" name="Picture 2" descr="The execution and output of the program." title="Execution of applicatio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53584" y="2940590"/>
            <a:ext cx="3633216" cy="1892808"/>
          </a:xfrm>
          <a:prstGeom prst="rect">
            <a:avLst/>
          </a:prstGeom>
        </p:spPr>
      </p:pic>
      <p:sp>
        <p:nvSpPr>
          <p:cNvPr id="5" name="Slide Number Placeholder 4"/>
          <p:cNvSpPr>
            <a:spLocks noGrp="1"/>
          </p:cNvSpPr>
          <p:nvPr>
            <p:ph type="sldNum" sz="quarter" idx="10"/>
          </p:nvPr>
        </p:nvSpPr>
        <p:spPr/>
        <p:txBody>
          <a:bodyPr/>
          <a:lstStyle/>
          <a:p>
            <a:pPr>
              <a:defRPr/>
            </a:pPr>
            <a:fld id="{F1DBD341-A3F5-4E4F-BCCA-C427F51E2F61}" type="slidenum">
              <a:rPr lang="en-US"/>
              <a:pPr>
                <a:defRPr/>
              </a:pPr>
              <a:t>44</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308302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631888"/>
            <a:ext cx="3756167" cy="2367580"/>
          </a:xfrm>
        </p:spPr>
        <p:txBody>
          <a:bodyPr/>
          <a:lstStyle/>
          <a:p>
            <a:r>
              <a:rPr lang="en-US" dirty="0" smtClean="0"/>
              <a:t>Returning </a:t>
            </a:r>
            <a:r>
              <a:rPr lang="en-US" dirty="0"/>
              <a:t>an Object </a:t>
            </a:r>
            <a:r>
              <a:rPr lang="en-US" dirty="0" smtClean="0"/>
              <a:t>from </a:t>
            </a:r>
            <a:r>
              <a:rPr lang="en-US" dirty="0"/>
              <a:t>a </a:t>
            </a:r>
            <a:r>
              <a:rPr lang="en-US" dirty="0" smtClean="0"/>
              <a:t>Method</a:t>
            </a:r>
            <a:endParaRPr lang="en-US" sz="1200" dirty="0" smtClean="0"/>
          </a:p>
        </p:txBody>
      </p:sp>
      <p:pic>
        <p:nvPicPr>
          <p:cNvPr id="2" name="Picture 1" descr="A more realistic application that uses InventoryItem objects. In the&#10;main program, an InventoryItem is declared and the user is prompted for a number. As long as the user does not enter the QUIT value, a loop is executed in which the entered inventory item number is passed to the getItemValues method." title="Application that uses InventoryItem object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632" y="449326"/>
            <a:ext cx="4108704" cy="5907024"/>
          </a:xfrm>
          <a:prstGeom prst="rect">
            <a:avLst/>
          </a:prstGeom>
        </p:spPr>
      </p:pic>
      <p:sp>
        <p:nvSpPr>
          <p:cNvPr id="5" name="Slide Number Placeholder 4"/>
          <p:cNvSpPr>
            <a:spLocks noGrp="1"/>
          </p:cNvSpPr>
          <p:nvPr>
            <p:ph type="sldNum" sz="quarter" idx="10"/>
          </p:nvPr>
        </p:nvSpPr>
        <p:spPr/>
        <p:txBody>
          <a:bodyPr/>
          <a:lstStyle/>
          <a:p>
            <a:pPr>
              <a:defRPr/>
            </a:pPr>
            <a:fld id="{F1DBD341-A3F5-4E4F-BCCA-C427F51E2F61}" type="slidenum">
              <a:rPr lang="en-US"/>
              <a:pPr>
                <a:defRPr/>
              </a:pPr>
              <a:t>45</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8112779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617443"/>
            <a:ext cx="3527567" cy="2620962"/>
          </a:xfrm>
        </p:spPr>
        <p:txBody>
          <a:bodyPr/>
          <a:lstStyle/>
          <a:p>
            <a:r>
              <a:rPr lang="en-US" dirty="0" smtClean="0"/>
              <a:t>Returning </a:t>
            </a:r>
            <a:r>
              <a:rPr lang="en-US" dirty="0"/>
              <a:t>an Object </a:t>
            </a:r>
            <a:r>
              <a:rPr lang="en-US" dirty="0" smtClean="0"/>
              <a:t>from </a:t>
            </a:r>
            <a:r>
              <a:rPr lang="en-US" dirty="0"/>
              <a:t>a </a:t>
            </a:r>
            <a:r>
              <a:rPr lang="en-US" dirty="0" smtClean="0"/>
              <a:t>Method</a:t>
            </a:r>
            <a:br>
              <a:rPr lang="en-US" dirty="0" smtClean="0"/>
            </a:br>
            <a:r>
              <a:rPr lang="en-US" sz="1200" dirty="0"/>
              <a:t>(</a:t>
            </a:r>
            <a:r>
              <a:rPr lang="en-US" sz="1200" dirty="0" smtClean="0"/>
              <a:t>continued)</a:t>
            </a:r>
            <a:endParaRPr lang="en-US" sz="1200" dirty="0" smtClean="0"/>
          </a:p>
        </p:txBody>
      </p:sp>
      <p:pic>
        <p:nvPicPr>
          <p:cNvPr id="3" name="Picture 2" descr="Typical execution and output of the previous program." title="Typical execution of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800" y="228599"/>
            <a:ext cx="4191000" cy="6449081"/>
          </a:xfrm>
          <a:prstGeom prst="rect">
            <a:avLst/>
          </a:prstGeom>
        </p:spPr>
      </p:pic>
      <p:sp>
        <p:nvSpPr>
          <p:cNvPr id="5" name="Slide Number Placeholder 4"/>
          <p:cNvSpPr>
            <a:spLocks noGrp="1"/>
          </p:cNvSpPr>
          <p:nvPr>
            <p:ph type="sldNum" sz="quarter" idx="10"/>
          </p:nvPr>
        </p:nvSpPr>
        <p:spPr/>
        <p:txBody>
          <a:bodyPr/>
          <a:lstStyle/>
          <a:p>
            <a:pPr>
              <a:defRPr/>
            </a:pPr>
            <a:fld id="{F1DBD341-A3F5-4E4F-BCCA-C427F51E2F61}" type="slidenum">
              <a:rPr lang="en-US"/>
              <a:pPr>
                <a:defRPr/>
              </a:pPr>
              <a:t>46</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1055456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228600" y="274638"/>
            <a:ext cx="4038600" cy="1706562"/>
          </a:xfrm>
        </p:spPr>
        <p:txBody>
          <a:bodyPr/>
          <a:lstStyle/>
          <a:p>
            <a:r>
              <a:rPr lang="en-US" dirty="0" smtClean="0"/>
              <a:t>Using Arrays of Objects</a:t>
            </a:r>
            <a:endParaRPr lang="en-US" sz="1200" dirty="0" smtClean="0"/>
          </a:p>
        </p:txBody>
      </p:sp>
      <p:pic>
        <p:nvPicPr>
          <p:cNvPr id="2" name="Picture 1" descr="An array is declared. The program uses a while loop to call a method named getItemValues seven times. The method accepts no parameters. It declares an InventoryItem object,&#10;and then it prompts the user for an item number, description, and price. Those values are assigned to the InventoryItem object using its public methods. The completed object is then returned to the main program, which passes the array and its size to a method named&#10;displayItems that displays data for all the items." title="Application that uses an array of InventoryItem object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7027" y="367871"/>
            <a:ext cx="3986373" cy="6208461"/>
          </a:xfrm>
          <a:prstGeom prst="rect">
            <a:avLst/>
          </a:prstGeom>
        </p:spPr>
      </p:pic>
      <p:sp>
        <p:nvSpPr>
          <p:cNvPr id="5" name="Slide Number Placeholder 4"/>
          <p:cNvSpPr>
            <a:spLocks noGrp="1"/>
          </p:cNvSpPr>
          <p:nvPr>
            <p:ph type="sldNum" sz="quarter" idx="10"/>
          </p:nvPr>
        </p:nvSpPr>
        <p:spPr/>
        <p:txBody>
          <a:bodyPr/>
          <a:lstStyle/>
          <a:p>
            <a:pPr>
              <a:defRPr/>
            </a:pPr>
            <a:fld id="{F1DBD341-A3F5-4E4F-BCCA-C427F51E2F61}" type="slidenum">
              <a:rPr lang="en-US"/>
              <a:pPr>
                <a:defRPr/>
              </a:pPr>
              <a:t>47</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2671543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Summary</a:t>
            </a:r>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48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Classes </a:t>
            </a:r>
          </a:p>
          <a:p>
            <a:pPr lvl="1"/>
            <a:r>
              <a:rPr lang="en-US" dirty="0" smtClean="0"/>
              <a:t>Basic building blocks of object-oriented programming</a:t>
            </a:r>
          </a:p>
          <a:p>
            <a:r>
              <a:rPr lang="en-US" dirty="0" smtClean="0"/>
              <a:t>Class definition</a:t>
            </a:r>
          </a:p>
          <a:p>
            <a:pPr lvl="1"/>
            <a:r>
              <a:rPr lang="en-US" dirty="0" smtClean="0"/>
              <a:t>A set of program statements that tell you the characteristics of the class’s objects and the methods that can be applied to its objects</a:t>
            </a:r>
          </a:p>
          <a:p>
            <a:r>
              <a:rPr lang="en-US" dirty="0" smtClean="0"/>
              <a:t>Object-oriented programmers </a:t>
            </a:r>
          </a:p>
          <a:p>
            <a:pPr lvl="1"/>
            <a:r>
              <a:rPr lang="en-US" dirty="0" smtClean="0"/>
              <a:t>Specify that their data fields will have private </a:t>
            </a:r>
            <a:r>
              <a:rPr lang="en-US" dirty="0" smtClean="0"/>
              <a:t>access</a:t>
            </a:r>
            <a:endParaRPr lang="en-US" dirty="0"/>
          </a:p>
          <a:p>
            <a:r>
              <a:rPr lang="en-US" dirty="0"/>
              <a:t>As classes get more complex, organizing becomes more important</a:t>
            </a:r>
          </a:p>
          <a:p>
            <a:pPr marL="457200" lvl="1" indent="0">
              <a:buNone/>
            </a:pPr>
            <a:endParaRPr lang="en-US"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Summary </a:t>
            </a:r>
            <a:r>
              <a:rPr lang="en-US" sz="1200" dirty="0" smtClean="0"/>
              <a:t>(</a:t>
            </a:r>
            <a:r>
              <a:rPr lang="en-US" sz="1200" dirty="0" smtClean="0"/>
              <a:t>continued -1)</a:t>
            </a:r>
            <a:endParaRPr lang="en-US" sz="1200" dirty="0" smtClean="0"/>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49</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Instance </a:t>
            </a:r>
            <a:r>
              <a:rPr lang="en-US" dirty="0" smtClean="0"/>
              <a:t>method </a:t>
            </a:r>
            <a:r>
              <a:rPr lang="en-US" dirty="0"/>
              <a:t>o</a:t>
            </a:r>
            <a:r>
              <a:rPr lang="en-US" dirty="0" smtClean="0"/>
              <a:t>perates </a:t>
            </a:r>
            <a:r>
              <a:rPr lang="en-US" dirty="0" smtClean="0"/>
              <a:t>correctly yet differently for every object instantiated from a </a:t>
            </a:r>
            <a:r>
              <a:rPr lang="en-US" dirty="0" smtClean="0"/>
              <a:t>class</a:t>
            </a:r>
          </a:p>
          <a:p>
            <a:r>
              <a:rPr lang="en-US" dirty="0"/>
              <a:t>A class can contain two types of methods: </a:t>
            </a:r>
            <a:endParaRPr lang="en-US" dirty="0" smtClean="0"/>
          </a:p>
          <a:p>
            <a:pPr lvl="1"/>
            <a:r>
              <a:rPr lang="en-US" dirty="0" smtClean="0"/>
              <a:t>Static </a:t>
            </a:r>
            <a:r>
              <a:rPr lang="en-US" dirty="0"/>
              <a:t>methods, which are also known as </a:t>
            </a:r>
            <a:r>
              <a:rPr lang="en-US" dirty="0" smtClean="0"/>
              <a:t>class methods </a:t>
            </a:r>
            <a:r>
              <a:rPr lang="en-US" dirty="0"/>
              <a:t>and do not receive a this reference as an implicit </a:t>
            </a:r>
            <a:r>
              <a:rPr lang="en-US" dirty="0" smtClean="0"/>
              <a:t>parameter</a:t>
            </a:r>
          </a:p>
          <a:p>
            <a:pPr lvl="1"/>
            <a:r>
              <a:rPr lang="en-US" dirty="0" err="1" smtClean="0"/>
              <a:t>Nonstatic</a:t>
            </a:r>
            <a:r>
              <a:rPr lang="en-US" dirty="0" smtClean="0"/>
              <a:t> methods</a:t>
            </a:r>
            <a:r>
              <a:rPr lang="en-US" dirty="0"/>
              <a:t>, which are instance methods and do receive a this reference implicitly</a:t>
            </a:r>
            <a:endParaRPr lang="en-US" dirty="0" smtClean="0"/>
          </a:p>
          <a:p>
            <a:pPr marL="457200" lvl="1" indent="0">
              <a:buNone/>
            </a:pPr>
            <a:endParaRPr lang="en-US" dirty="0" smtClean="0"/>
          </a:p>
        </p:txBody>
      </p:sp>
    </p:spTree>
    <p:extLst>
      <p:ext uri="{BB962C8B-B14F-4D97-AF65-F5344CB8AC3E}">
        <p14:creationId xmlns:p14="http://schemas.microsoft.com/office/powerpoint/2010/main" val="16023319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Summary </a:t>
            </a:r>
            <a:r>
              <a:rPr lang="en-US" sz="1200" dirty="0" smtClean="0"/>
              <a:t>(</a:t>
            </a:r>
            <a:r>
              <a:rPr lang="en-US" sz="1200" dirty="0" smtClean="0"/>
              <a:t>continued -2)</a:t>
            </a:r>
            <a:endParaRPr lang="en-US" sz="1200" dirty="0" smtClean="0"/>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50</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a:t>Objects can be used in </a:t>
            </a:r>
            <a:r>
              <a:rPr lang="en-US" dirty="0" smtClean="0"/>
              <a:t>many </a:t>
            </a:r>
            <a:r>
              <a:rPr lang="en-US" dirty="0"/>
              <a:t>of the same ways you use items of simpler data types, </a:t>
            </a:r>
            <a:r>
              <a:rPr lang="en-US" dirty="0" smtClean="0"/>
              <a:t>such as </a:t>
            </a:r>
            <a:r>
              <a:rPr lang="en-US" dirty="0"/>
              <a:t>passing them to and from methods and storing them in arrays</a:t>
            </a:r>
            <a:endParaRPr lang="en-US" dirty="0" smtClean="0"/>
          </a:p>
        </p:txBody>
      </p:sp>
    </p:spTree>
    <p:extLst>
      <p:ext uri="{BB962C8B-B14F-4D97-AF65-F5344CB8AC3E}">
        <p14:creationId xmlns:p14="http://schemas.microsoft.com/office/powerpoint/2010/main" val="2780820252"/>
      </p:ext>
    </p:extLst>
  </p:cSld>
  <p:clrMapOvr>
    <a:masterClrMapping/>
  </p:clrMapOvr>
</p:sld>
</file>

<file path=ppt/theme/theme1.xml><?xml version="1.0" encoding="utf-8"?>
<a:theme xmlns:a="http://schemas.openxmlformats.org/drawingml/2006/main" name="1_Farrell_PL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2079</Words>
  <Application>Microsoft Office PowerPoint</Application>
  <PresentationFormat>On-screen Show (4:3)</PresentationFormat>
  <Paragraphs>397</Paragraphs>
  <Slides>50</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Courier New</vt:lpstr>
      <vt:lpstr>Times New Roman</vt:lpstr>
      <vt:lpstr>1_Farrell_PLD</vt:lpstr>
      <vt:lpstr>Programming Logic and Design Ninth Edition</vt:lpstr>
      <vt:lpstr>Objectives</vt:lpstr>
      <vt:lpstr>Principles of Object-Oriented Programming</vt:lpstr>
      <vt:lpstr>Principles of Object-Oriented Programming (continued)</vt:lpstr>
      <vt:lpstr>Classes and Objects</vt:lpstr>
      <vt:lpstr>Classes and Objects (continued -1)</vt:lpstr>
      <vt:lpstr>Classes and Objects (continued -2)</vt:lpstr>
      <vt:lpstr>Classes and Objects (continued -3)</vt:lpstr>
      <vt:lpstr>Classes and Objects (continued -4)</vt:lpstr>
      <vt:lpstr>Polymorphism</vt:lpstr>
      <vt:lpstr>Polymorphism (continued)</vt:lpstr>
      <vt:lpstr>Inheritance</vt:lpstr>
      <vt:lpstr>Encapsulation</vt:lpstr>
      <vt:lpstr>Defining Classes and Creating Class Diagrams</vt:lpstr>
      <vt:lpstr>Defining Classes and Creating Class Diagrams (continued -1)</vt:lpstr>
      <vt:lpstr>Defining Classes and Creating Class Diagrams (continued -2)</vt:lpstr>
      <vt:lpstr>Defining Classes and Creating Class Diagrams (continued -3)</vt:lpstr>
      <vt:lpstr>Creating Class Diagrams</vt:lpstr>
      <vt:lpstr>Creating Class Diagrams (continued -1)</vt:lpstr>
      <vt:lpstr>Creating Class Diagrams  (continued -2)</vt:lpstr>
      <vt:lpstr>The Set Methods</vt:lpstr>
      <vt:lpstr>The Set Methods (continued)</vt:lpstr>
      <vt:lpstr>The Get Methods</vt:lpstr>
      <vt:lpstr>Work Methods</vt:lpstr>
      <vt:lpstr>Work Methods (continued)</vt:lpstr>
      <vt:lpstr>Understanding Public and Private Access </vt:lpstr>
      <vt:lpstr>Understanding Public and Private Access (continued -1)</vt:lpstr>
      <vt:lpstr>Understanding Public and Private Access (continued -2)</vt:lpstr>
      <vt:lpstr>Understanding Public and Private Access (continued -3)</vt:lpstr>
      <vt:lpstr>Understanding Public and Private Access (continued -4)</vt:lpstr>
      <vt:lpstr>Organizing Classes</vt:lpstr>
      <vt:lpstr>Organizing Classes (continued)</vt:lpstr>
      <vt:lpstr>Understanding Instance Methods</vt:lpstr>
      <vt:lpstr>Understanding Instance Methods (continued -1)</vt:lpstr>
      <vt:lpstr>Understanding Instance Methods (continued -2)</vt:lpstr>
      <vt:lpstr>Understanding Instance Methods (continued -3)</vt:lpstr>
      <vt:lpstr>Understanding Instance Methods (continued -4)</vt:lpstr>
      <vt:lpstr>Understanding Instance Methods (continued -5)</vt:lpstr>
      <vt:lpstr>Understanding Instance Methods (continued -6)</vt:lpstr>
      <vt:lpstr>Understanding Static Methods</vt:lpstr>
      <vt:lpstr>Understanding Static Methods (continued)</vt:lpstr>
      <vt:lpstr>Using Objects</vt:lpstr>
      <vt:lpstr>Using Objects (continued)</vt:lpstr>
      <vt:lpstr>Passing an Object to a Method</vt:lpstr>
      <vt:lpstr>Returning an Object from a Method</vt:lpstr>
      <vt:lpstr>Returning an Object from a Method (continued)</vt:lpstr>
      <vt:lpstr>Using Arrays of Objects</vt:lpstr>
      <vt:lpstr>Summary</vt:lpstr>
      <vt:lpstr>Summary (continued -1)</vt:lpstr>
      <vt:lpstr>Summary (continued -2)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1006</cp:revision>
  <dcterms:created xsi:type="dcterms:W3CDTF">2002-09-27T23:29:22Z</dcterms:created>
  <dcterms:modified xsi:type="dcterms:W3CDTF">2016-11-23T17:58:26Z</dcterms:modified>
</cp:coreProperties>
</file>