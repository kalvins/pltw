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882" r:id="rId1"/>
  </p:sldMasterIdLst>
  <p:notesMasterIdLst>
    <p:notesMasterId r:id="rId48"/>
  </p:notesMasterIdLst>
  <p:handoutMasterIdLst>
    <p:handoutMasterId r:id="rId49"/>
  </p:handoutMasterIdLst>
  <p:sldIdLst>
    <p:sldId id="968" r:id="rId2"/>
    <p:sldId id="257" r:id="rId3"/>
    <p:sldId id="945" r:id="rId4"/>
    <p:sldId id="957" r:id="rId5"/>
    <p:sldId id="849" r:id="rId6"/>
    <p:sldId id="959" r:id="rId7"/>
    <p:sldId id="958" r:id="rId8"/>
    <p:sldId id="960" r:id="rId9"/>
    <p:sldId id="961" r:id="rId10"/>
    <p:sldId id="919" r:id="rId11"/>
    <p:sldId id="962" r:id="rId12"/>
    <p:sldId id="963" r:id="rId13"/>
    <p:sldId id="920" r:id="rId14"/>
    <p:sldId id="921" r:id="rId15"/>
    <p:sldId id="937" r:id="rId16"/>
    <p:sldId id="970" r:id="rId17"/>
    <p:sldId id="922" r:id="rId18"/>
    <p:sldId id="923" r:id="rId19"/>
    <p:sldId id="924" r:id="rId20"/>
    <p:sldId id="861" r:id="rId21"/>
    <p:sldId id="851" r:id="rId22"/>
    <p:sldId id="938" r:id="rId23"/>
    <p:sldId id="925" r:id="rId24"/>
    <p:sldId id="947" r:id="rId25"/>
    <p:sldId id="948" r:id="rId26"/>
    <p:sldId id="967" r:id="rId27"/>
    <p:sldId id="926" r:id="rId28"/>
    <p:sldId id="899" r:id="rId29"/>
    <p:sldId id="964" r:id="rId30"/>
    <p:sldId id="900" r:id="rId31"/>
    <p:sldId id="949" r:id="rId32"/>
    <p:sldId id="901" r:id="rId33"/>
    <p:sldId id="975" r:id="rId34"/>
    <p:sldId id="952" r:id="rId35"/>
    <p:sldId id="927" r:id="rId36"/>
    <p:sldId id="965" r:id="rId37"/>
    <p:sldId id="953" r:id="rId38"/>
    <p:sldId id="972" r:id="rId39"/>
    <p:sldId id="973" r:id="rId40"/>
    <p:sldId id="974" r:id="rId41"/>
    <p:sldId id="887" r:id="rId42"/>
    <p:sldId id="971" r:id="rId43"/>
    <p:sldId id="966" r:id="rId44"/>
    <p:sldId id="905" r:id="rId45"/>
    <p:sldId id="848" r:id="rId46"/>
    <p:sldId id="898" r:id="rId47"/>
  </p:sldIdLst>
  <p:sldSz cx="9144000" cy="6858000" type="screen4x3"/>
  <p:notesSz cx="6858000" cy="9144000"/>
  <p:defaultTextStyle>
    <a:defPPr>
      <a:defRPr lang="en-US"/>
    </a:defPPr>
    <a:lvl1pPr algn="l" rtl="0" fontAlgn="base">
      <a:spcBef>
        <a:spcPct val="0"/>
      </a:spcBef>
      <a:spcAft>
        <a:spcPct val="0"/>
      </a:spcAft>
      <a:defRPr sz="2000" kern="1200">
        <a:solidFill>
          <a:srgbClr val="FFFFFF"/>
        </a:solidFill>
        <a:latin typeface="Times New Roman" pitchFamily="18" charset="0"/>
        <a:ea typeface="+mn-ea"/>
        <a:cs typeface="Arial" pitchFamily="34" charset="0"/>
      </a:defRPr>
    </a:lvl1pPr>
    <a:lvl2pPr marL="457200" algn="l" rtl="0" fontAlgn="base">
      <a:spcBef>
        <a:spcPct val="0"/>
      </a:spcBef>
      <a:spcAft>
        <a:spcPct val="0"/>
      </a:spcAft>
      <a:defRPr sz="2000" kern="1200">
        <a:solidFill>
          <a:srgbClr val="FFFFFF"/>
        </a:solidFill>
        <a:latin typeface="Times New Roman" pitchFamily="18" charset="0"/>
        <a:ea typeface="+mn-ea"/>
        <a:cs typeface="Arial" pitchFamily="34" charset="0"/>
      </a:defRPr>
    </a:lvl2pPr>
    <a:lvl3pPr marL="914400" algn="l" rtl="0" fontAlgn="base">
      <a:spcBef>
        <a:spcPct val="0"/>
      </a:spcBef>
      <a:spcAft>
        <a:spcPct val="0"/>
      </a:spcAft>
      <a:defRPr sz="2000" kern="1200">
        <a:solidFill>
          <a:srgbClr val="FFFFFF"/>
        </a:solidFill>
        <a:latin typeface="Times New Roman" pitchFamily="18" charset="0"/>
        <a:ea typeface="+mn-ea"/>
        <a:cs typeface="Arial" pitchFamily="34" charset="0"/>
      </a:defRPr>
    </a:lvl3pPr>
    <a:lvl4pPr marL="1371600" algn="l" rtl="0" fontAlgn="base">
      <a:spcBef>
        <a:spcPct val="0"/>
      </a:spcBef>
      <a:spcAft>
        <a:spcPct val="0"/>
      </a:spcAft>
      <a:defRPr sz="2000" kern="1200">
        <a:solidFill>
          <a:srgbClr val="FFFFFF"/>
        </a:solidFill>
        <a:latin typeface="Times New Roman" pitchFamily="18" charset="0"/>
        <a:ea typeface="+mn-ea"/>
        <a:cs typeface="Arial" pitchFamily="34" charset="0"/>
      </a:defRPr>
    </a:lvl4pPr>
    <a:lvl5pPr marL="1828800" algn="l" rtl="0" fontAlgn="base">
      <a:spcBef>
        <a:spcPct val="0"/>
      </a:spcBef>
      <a:spcAft>
        <a:spcPct val="0"/>
      </a:spcAft>
      <a:defRPr sz="2000" kern="1200">
        <a:solidFill>
          <a:srgbClr val="FFFFFF"/>
        </a:solidFill>
        <a:latin typeface="Times New Roman" pitchFamily="18" charset="0"/>
        <a:ea typeface="+mn-ea"/>
        <a:cs typeface="Arial" pitchFamily="34" charset="0"/>
      </a:defRPr>
    </a:lvl5pPr>
    <a:lvl6pPr marL="2286000" algn="l" defTabSz="914400" rtl="0" eaLnBrk="1" latinLnBrk="0" hangingPunct="1">
      <a:defRPr sz="2000" kern="1200">
        <a:solidFill>
          <a:srgbClr val="FFFFFF"/>
        </a:solidFill>
        <a:latin typeface="Times New Roman" pitchFamily="18" charset="0"/>
        <a:ea typeface="+mn-ea"/>
        <a:cs typeface="Arial" pitchFamily="34" charset="0"/>
      </a:defRPr>
    </a:lvl6pPr>
    <a:lvl7pPr marL="2743200" algn="l" defTabSz="914400" rtl="0" eaLnBrk="1" latinLnBrk="0" hangingPunct="1">
      <a:defRPr sz="2000" kern="1200">
        <a:solidFill>
          <a:srgbClr val="FFFFFF"/>
        </a:solidFill>
        <a:latin typeface="Times New Roman" pitchFamily="18" charset="0"/>
        <a:ea typeface="+mn-ea"/>
        <a:cs typeface="Arial" pitchFamily="34" charset="0"/>
      </a:defRPr>
    </a:lvl7pPr>
    <a:lvl8pPr marL="3200400" algn="l" defTabSz="914400" rtl="0" eaLnBrk="1" latinLnBrk="0" hangingPunct="1">
      <a:defRPr sz="2000" kern="1200">
        <a:solidFill>
          <a:srgbClr val="FFFFFF"/>
        </a:solidFill>
        <a:latin typeface="Times New Roman" pitchFamily="18" charset="0"/>
        <a:ea typeface="+mn-ea"/>
        <a:cs typeface="Arial" pitchFamily="34" charset="0"/>
      </a:defRPr>
    </a:lvl8pPr>
    <a:lvl9pPr marL="3657600" algn="l" defTabSz="914400" rtl="0" eaLnBrk="1" latinLnBrk="0" hangingPunct="1">
      <a:defRPr sz="2000" kern="1200">
        <a:solidFill>
          <a:srgbClr val="FFFFFF"/>
        </a:solidFill>
        <a:latin typeface="Times New Roman" pitchFamily="18"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3300"/>
    <a:srgbClr val="222222"/>
    <a:srgbClr val="FFFFFF"/>
    <a:srgbClr val="18B2B6"/>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10440" autoAdjust="0"/>
    <p:restoredTop sz="94500" autoAdjust="0"/>
  </p:normalViewPr>
  <p:slideViewPr>
    <p:cSldViewPr>
      <p:cViewPr varScale="1">
        <p:scale>
          <a:sx n="92" d="100"/>
          <a:sy n="92" d="100"/>
        </p:scale>
        <p:origin x="1380"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252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cs typeface="+mn-cs"/>
              </a:defRPr>
            </a:lvl1pPr>
          </a:lstStyle>
          <a:p>
            <a:pPr>
              <a:defRPr/>
            </a:pPr>
            <a:endParaRPr lang="en-US" dirty="0"/>
          </a:p>
        </p:txBody>
      </p:sp>
      <p:sp>
        <p:nvSpPr>
          <p:cNvPr id="12288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cs typeface="+mn-cs"/>
              </a:defRPr>
            </a:lvl1pPr>
          </a:lstStyle>
          <a:p>
            <a:pPr>
              <a:defRPr/>
            </a:pPr>
            <a:endParaRPr lang="en-US" dirty="0"/>
          </a:p>
        </p:txBody>
      </p:sp>
      <p:sp>
        <p:nvSpPr>
          <p:cNvPr id="12288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solidFill>
                  <a:schemeClr val="tx1"/>
                </a:solidFill>
                <a:cs typeface="+mn-cs"/>
              </a:defRPr>
            </a:lvl1pPr>
          </a:lstStyle>
          <a:p>
            <a:pPr>
              <a:defRPr/>
            </a:pPr>
            <a:endParaRPr lang="en-US" dirty="0"/>
          </a:p>
        </p:txBody>
      </p:sp>
      <p:sp>
        <p:nvSpPr>
          <p:cNvPr id="12288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solidFill>
                  <a:schemeClr val="tx1"/>
                </a:solidFill>
                <a:cs typeface="+mn-cs"/>
              </a:defRPr>
            </a:lvl1pPr>
          </a:lstStyle>
          <a:p>
            <a:pPr>
              <a:defRPr/>
            </a:pPr>
            <a:fld id="{6BA85960-FF8D-4966-AFCE-76588880AEA8}" type="slidenum">
              <a:rPr lang="en-US"/>
              <a:pPr>
                <a:defRPr/>
              </a:pPr>
              <a:t>‹#›</a:t>
            </a:fld>
            <a:endParaRPr lang="en-US" dirty="0"/>
          </a:p>
        </p:txBody>
      </p:sp>
    </p:spTree>
    <p:extLst>
      <p:ext uri="{BB962C8B-B14F-4D97-AF65-F5344CB8AC3E}">
        <p14:creationId xmlns:p14="http://schemas.microsoft.com/office/powerpoint/2010/main" val="30329300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cs typeface="+mn-cs"/>
              </a:defRPr>
            </a:lvl1pPr>
          </a:lstStyle>
          <a:p>
            <a:pPr>
              <a:defRPr/>
            </a:pPr>
            <a:endParaRPr lang="en-US" dirty="0"/>
          </a:p>
        </p:txBody>
      </p:sp>
      <p:sp>
        <p:nvSpPr>
          <p:cNvPr id="645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cs typeface="+mn-cs"/>
              </a:defRPr>
            </a:lvl1pPr>
          </a:lstStyle>
          <a:p>
            <a:pPr>
              <a:defRPr/>
            </a:pPr>
            <a:endParaRPr lang="en-US" dirty="0"/>
          </a:p>
        </p:txBody>
      </p:sp>
      <p:sp>
        <p:nvSpPr>
          <p:cNvPr id="5120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45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45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solidFill>
                  <a:schemeClr val="tx1"/>
                </a:solidFill>
                <a:cs typeface="+mn-cs"/>
              </a:defRPr>
            </a:lvl1pPr>
          </a:lstStyle>
          <a:p>
            <a:pPr>
              <a:defRPr/>
            </a:pPr>
            <a:endParaRPr lang="en-US" dirty="0"/>
          </a:p>
        </p:txBody>
      </p:sp>
      <p:sp>
        <p:nvSpPr>
          <p:cNvPr id="645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solidFill>
                  <a:schemeClr val="tx1"/>
                </a:solidFill>
                <a:cs typeface="+mn-cs"/>
              </a:defRPr>
            </a:lvl1pPr>
          </a:lstStyle>
          <a:p>
            <a:pPr>
              <a:defRPr/>
            </a:pPr>
            <a:fld id="{E117145D-B78F-4F40-B0E2-55542D9A63C6}" type="slidenum">
              <a:rPr lang="en-US"/>
              <a:pPr>
                <a:defRPr/>
              </a:pPr>
              <a:t>‹#›</a:t>
            </a:fld>
            <a:endParaRPr lang="en-US" dirty="0"/>
          </a:p>
        </p:txBody>
      </p:sp>
    </p:spTree>
    <p:extLst>
      <p:ext uri="{BB962C8B-B14F-4D97-AF65-F5344CB8AC3E}">
        <p14:creationId xmlns:p14="http://schemas.microsoft.com/office/powerpoint/2010/main" val="10600000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p:txBody>
          <a:bodyPr/>
          <a:lstStyle/>
          <a:p>
            <a:pPr>
              <a:defRPr/>
            </a:pPr>
            <a:fld id="{19F53ABD-6A60-42B9-BFED-40EF7C91BC9B}" type="slidenum">
              <a:rPr lang="en-US" smtClean="0"/>
              <a:pPr>
                <a:defRPr/>
              </a:pPr>
              <a:t>2</a:t>
            </a:fld>
            <a:endParaRPr lang="en-US" dirty="0"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CA" dirty="0" smtClean="0"/>
          </a:p>
        </p:txBody>
      </p:sp>
    </p:spTree>
    <p:extLst>
      <p:ext uri="{BB962C8B-B14F-4D97-AF65-F5344CB8AC3E}">
        <p14:creationId xmlns:p14="http://schemas.microsoft.com/office/powerpoint/2010/main" val="1937137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p:txBody>
          <a:bodyPr/>
          <a:lstStyle/>
          <a:p>
            <a:pPr>
              <a:defRPr/>
            </a:pPr>
            <a:fld id="{19F53ABD-6A60-42B9-BFED-40EF7C91BC9B}" type="slidenum">
              <a:rPr lang="en-US" smtClean="0"/>
              <a:pPr>
                <a:defRPr/>
              </a:pPr>
              <a:t>3</a:t>
            </a:fld>
            <a:endParaRPr lang="en-US" dirty="0"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CA" dirty="0" smtClean="0"/>
          </a:p>
        </p:txBody>
      </p:sp>
    </p:spTree>
    <p:extLst>
      <p:ext uri="{BB962C8B-B14F-4D97-AF65-F5344CB8AC3E}">
        <p14:creationId xmlns:p14="http://schemas.microsoft.com/office/powerpoint/2010/main" val="887445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p:txBody>
          <a:bodyPr/>
          <a:lstStyle/>
          <a:p>
            <a:pPr>
              <a:defRPr/>
            </a:pPr>
            <a:fld id="{19F53ABD-6A60-42B9-BFED-40EF7C91BC9B}" type="slidenum">
              <a:rPr lang="en-US" smtClean="0"/>
              <a:pPr>
                <a:defRPr/>
              </a:pPr>
              <a:t>4</a:t>
            </a:fld>
            <a:endParaRPr lang="en-US" dirty="0"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CA" dirty="0" smtClean="0"/>
          </a:p>
        </p:txBody>
      </p:sp>
    </p:spTree>
    <p:extLst>
      <p:ext uri="{BB962C8B-B14F-4D97-AF65-F5344CB8AC3E}">
        <p14:creationId xmlns:p14="http://schemas.microsoft.com/office/powerpoint/2010/main" val="2446309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5</a:t>
            </a:fld>
            <a:endParaRPr lang="en-US" dirty="0"/>
          </a:p>
        </p:txBody>
      </p:sp>
    </p:spTree>
    <p:extLst>
      <p:ext uri="{BB962C8B-B14F-4D97-AF65-F5344CB8AC3E}">
        <p14:creationId xmlns:p14="http://schemas.microsoft.com/office/powerpoint/2010/main" val="27145414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6</a:t>
            </a:fld>
            <a:endParaRPr lang="en-US" dirty="0"/>
          </a:p>
        </p:txBody>
      </p:sp>
    </p:spTree>
    <p:extLst>
      <p:ext uri="{BB962C8B-B14F-4D97-AF65-F5344CB8AC3E}">
        <p14:creationId xmlns:p14="http://schemas.microsoft.com/office/powerpoint/2010/main" val="4114351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7</a:t>
            </a:fld>
            <a:endParaRPr lang="en-US" dirty="0"/>
          </a:p>
        </p:txBody>
      </p:sp>
    </p:spTree>
    <p:extLst>
      <p:ext uri="{BB962C8B-B14F-4D97-AF65-F5344CB8AC3E}">
        <p14:creationId xmlns:p14="http://schemas.microsoft.com/office/powerpoint/2010/main" val="4265386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8</a:t>
            </a:fld>
            <a:endParaRPr lang="en-US" dirty="0"/>
          </a:p>
        </p:txBody>
      </p:sp>
    </p:spTree>
    <p:extLst>
      <p:ext uri="{BB962C8B-B14F-4D97-AF65-F5344CB8AC3E}">
        <p14:creationId xmlns:p14="http://schemas.microsoft.com/office/powerpoint/2010/main" val="2517150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9</a:t>
            </a:fld>
            <a:endParaRPr lang="en-US" dirty="0"/>
          </a:p>
        </p:txBody>
      </p:sp>
    </p:spTree>
    <p:extLst>
      <p:ext uri="{BB962C8B-B14F-4D97-AF65-F5344CB8AC3E}">
        <p14:creationId xmlns:p14="http://schemas.microsoft.com/office/powerpoint/2010/main" val="135951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10</a:t>
            </a:fld>
            <a:endParaRPr lang="en-US" dirty="0"/>
          </a:p>
        </p:txBody>
      </p:sp>
    </p:spTree>
    <p:extLst>
      <p:ext uri="{BB962C8B-B14F-4D97-AF65-F5344CB8AC3E}">
        <p14:creationId xmlns:p14="http://schemas.microsoft.com/office/powerpoint/2010/main" val="42337563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11</a:t>
            </a:fld>
            <a:endParaRPr lang="en-US" dirty="0"/>
          </a:p>
        </p:txBody>
      </p:sp>
    </p:spTree>
    <p:extLst>
      <p:ext uri="{BB962C8B-B14F-4D97-AF65-F5344CB8AC3E}">
        <p14:creationId xmlns:p14="http://schemas.microsoft.com/office/powerpoint/2010/main" val="28147542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12</a:t>
            </a:fld>
            <a:endParaRPr lang="en-US" dirty="0"/>
          </a:p>
        </p:txBody>
      </p:sp>
    </p:spTree>
    <p:extLst>
      <p:ext uri="{BB962C8B-B14F-4D97-AF65-F5344CB8AC3E}">
        <p14:creationId xmlns:p14="http://schemas.microsoft.com/office/powerpoint/2010/main" val="2990979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13</a:t>
            </a:fld>
            <a:endParaRPr lang="en-US" dirty="0"/>
          </a:p>
        </p:txBody>
      </p:sp>
    </p:spTree>
    <p:extLst>
      <p:ext uri="{BB962C8B-B14F-4D97-AF65-F5344CB8AC3E}">
        <p14:creationId xmlns:p14="http://schemas.microsoft.com/office/powerpoint/2010/main" val="13236197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14</a:t>
            </a:fld>
            <a:endParaRPr lang="en-US" dirty="0"/>
          </a:p>
        </p:txBody>
      </p:sp>
    </p:spTree>
    <p:extLst>
      <p:ext uri="{BB962C8B-B14F-4D97-AF65-F5344CB8AC3E}">
        <p14:creationId xmlns:p14="http://schemas.microsoft.com/office/powerpoint/2010/main" val="5248649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15</a:t>
            </a:fld>
            <a:endParaRPr lang="en-US" dirty="0"/>
          </a:p>
        </p:txBody>
      </p:sp>
    </p:spTree>
    <p:extLst>
      <p:ext uri="{BB962C8B-B14F-4D97-AF65-F5344CB8AC3E}">
        <p14:creationId xmlns:p14="http://schemas.microsoft.com/office/powerpoint/2010/main" val="16572033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6EAC90A4-38AA-460A-AE59-E4EBB584B382}" type="slidenum">
              <a:rPr lang="en-US" smtClean="0"/>
              <a:pPr>
                <a:defRPr/>
              </a:pPr>
              <a:t>16</a:t>
            </a:fld>
            <a:endParaRPr lang="en-US" dirty="0"/>
          </a:p>
        </p:txBody>
      </p:sp>
    </p:spTree>
    <p:extLst>
      <p:ext uri="{BB962C8B-B14F-4D97-AF65-F5344CB8AC3E}">
        <p14:creationId xmlns:p14="http://schemas.microsoft.com/office/powerpoint/2010/main" val="1219861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290946B-D037-4EE6-9007-A953BC9EBBE8}" type="slidenum">
              <a:rPr lang="en-US" smtClean="0"/>
              <a:pPr>
                <a:defRPr/>
              </a:pPr>
              <a:t>17</a:t>
            </a:fld>
            <a:endParaRPr lang="en-US" dirty="0"/>
          </a:p>
        </p:txBody>
      </p:sp>
    </p:spTree>
    <p:extLst>
      <p:ext uri="{BB962C8B-B14F-4D97-AF65-F5344CB8AC3E}">
        <p14:creationId xmlns:p14="http://schemas.microsoft.com/office/powerpoint/2010/main" val="15708944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290946B-D037-4EE6-9007-A953BC9EBBE8}" type="slidenum">
              <a:rPr lang="en-US" smtClean="0"/>
              <a:pPr>
                <a:defRPr/>
              </a:pPr>
              <a:t>18</a:t>
            </a:fld>
            <a:endParaRPr lang="en-US" dirty="0"/>
          </a:p>
        </p:txBody>
      </p:sp>
    </p:spTree>
    <p:extLst>
      <p:ext uri="{BB962C8B-B14F-4D97-AF65-F5344CB8AC3E}">
        <p14:creationId xmlns:p14="http://schemas.microsoft.com/office/powerpoint/2010/main" val="26881993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290946B-D037-4EE6-9007-A953BC9EBBE8}" type="slidenum">
              <a:rPr lang="en-US" smtClean="0"/>
              <a:pPr>
                <a:defRPr/>
              </a:pPr>
              <a:t>19</a:t>
            </a:fld>
            <a:endParaRPr lang="en-US" dirty="0"/>
          </a:p>
        </p:txBody>
      </p:sp>
    </p:spTree>
    <p:extLst>
      <p:ext uri="{BB962C8B-B14F-4D97-AF65-F5344CB8AC3E}">
        <p14:creationId xmlns:p14="http://schemas.microsoft.com/office/powerpoint/2010/main" val="1206074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F3ECACEA-3A71-4EFB-BC72-F34E4F8071A8}" type="slidenum">
              <a:rPr lang="en-US" smtClean="0"/>
              <a:pPr>
                <a:defRPr/>
              </a:pPr>
              <a:t>20</a:t>
            </a:fld>
            <a:endParaRPr lang="en-US" dirty="0"/>
          </a:p>
        </p:txBody>
      </p:sp>
    </p:spTree>
    <p:extLst>
      <p:ext uri="{BB962C8B-B14F-4D97-AF65-F5344CB8AC3E}">
        <p14:creationId xmlns:p14="http://schemas.microsoft.com/office/powerpoint/2010/main" val="22356945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F25BC65-E4DC-4A7A-9E3C-EF3B6F531411}" type="slidenum">
              <a:rPr lang="en-US" smtClean="0"/>
              <a:pPr>
                <a:defRPr/>
              </a:pPr>
              <a:t>21</a:t>
            </a:fld>
            <a:endParaRPr lang="en-US" dirty="0"/>
          </a:p>
        </p:txBody>
      </p:sp>
    </p:spTree>
    <p:extLst>
      <p:ext uri="{BB962C8B-B14F-4D97-AF65-F5344CB8AC3E}">
        <p14:creationId xmlns:p14="http://schemas.microsoft.com/office/powerpoint/2010/main" val="32892710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F25BC65-E4DC-4A7A-9E3C-EF3B6F531411}" type="slidenum">
              <a:rPr lang="en-US" smtClean="0"/>
              <a:pPr>
                <a:defRPr/>
              </a:pPr>
              <a:t>22</a:t>
            </a:fld>
            <a:endParaRPr lang="en-US" dirty="0"/>
          </a:p>
        </p:txBody>
      </p:sp>
    </p:spTree>
    <p:extLst>
      <p:ext uri="{BB962C8B-B14F-4D97-AF65-F5344CB8AC3E}">
        <p14:creationId xmlns:p14="http://schemas.microsoft.com/office/powerpoint/2010/main" val="10443194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F25BC65-E4DC-4A7A-9E3C-EF3B6F531411}" type="slidenum">
              <a:rPr lang="en-US" smtClean="0"/>
              <a:pPr>
                <a:defRPr/>
              </a:pPr>
              <a:t>23</a:t>
            </a:fld>
            <a:endParaRPr lang="en-US" dirty="0"/>
          </a:p>
        </p:txBody>
      </p:sp>
    </p:spTree>
    <p:extLst>
      <p:ext uri="{BB962C8B-B14F-4D97-AF65-F5344CB8AC3E}">
        <p14:creationId xmlns:p14="http://schemas.microsoft.com/office/powerpoint/2010/main" val="17366448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F25BC65-E4DC-4A7A-9E3C-EF3B6F531411}" type="slidenum">
              <a:rPr lang="en-US" smtClean="0"/>
              <a:pPr>
                <a:defRPr/>
              </a:pPr>
              <a:t>24</a:t>
            </a:fld>
            <a:endParaRPr lang="en-US" dirty="0"/>
          </a:p>
        </p:txBody>
      </p:sp>
    </p:spTree>
    <p:extLst>
      <p:ext uri="{BB962C8B-B14F-4D97-AF65-F5344CB8AC3E}">
        <p14:creationId xmlns:p14="http://schemas.microsoft.com/office/powerpoint/2010/main" val="35471136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F25BC65-E4DC-4A7A-9E3C-EF3B6F531411}" type="slidenum">
              <a:rPr lang="en-US" smtClean="0"/>
              <a:pPr>
                <a:defRPr/>
              </a:pPr>
              <a:t>25</a:t>
            </a:fld>
            <a:endParaRPr lang="en-US" dirty="0"/>
          </a:p>
        </p:txBody>
      </p:sp>
    </p:spTree>
    <p:extLst>
      <p:ext uri="{BB962C8B-B14F-4D97-AF65-F5344CB8AC3E}">
        <p14:creationId xmlns:p14="http://schemas.microsoft.com/office/powerpoint/2010/main" val="27032044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F25BC65-E4DC-4A7A-9E3C-EF3B6F531411}" type="slidenum">
              <a:rPr lang="en-US" smtClean="0"/>
              <a:pPr>
                <a:defRPr/>
              </a:pPr>
              <a:t>26</a:t>
            </a:fld>
            <a:endParaRPr lang="en-US" dirty="0"/>
          </a:p>
        </p:txBody>
      </p:sp>
    </p:spTree>
    <p:extLst>
      <p:ext uri="{BB962C8B-B14F-4D97-AF65-F5344CB8AC3E}">
        <p14:creationId xmlns:p14="http://schemas.microsoft.com/office/powerpoint/2010/main" val="4258737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7F25BC65-E4DC-4A7A-9E3C-EF3B6F531411}" type="slidenum">
              <a:rPr lang="en-US" smtClean="0"/>
              <a:pPr>
                <a:defRPr/>
              </a:pPr>
              <a:t>27</a:t>
            </a:fld>
            <a:endParaRPr lang="en-US" dirty="0"/>
          </a:p>
        </p:txBody>
      </p:sp>
    </p:spTree>
    <p:extLst>
      <p:ext uri="{BB962C8B-B14F-4D97-AF65-F5344CB8AC3E}">
        <p14:creationId xmlns:p14="http://schemas.microsoft.com/office/powerpoint/2010/main" val="34222726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28</a:t>
            </a:fld>
            <a:endParaRPr lang="en-US" dirty="0"/>
          </a:p>
        </p:txBody>
      </p:sp>
    </p:spTree>
    <p:extLst>
      <p:ext uri="{BB962C8B-B14F-4D97-AF65-F5344CB8AC3E}">
        <p14:creationId xmlns:p14="http://schemas.microsoft.com/office/powerpoint/2010/main" val="19668832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29</a:t>
            </a:fld>
            <a:endParaRPr lang="en-US" dirty="0"/>
          </a:p>
        </p:txBody>
      </p:sp>
    </p:spTree>
    <p:extLst>
      <p:ext uri="{BB962C8B-B14F-4D97-AF65-F5344CB8AC3E}">
        <p14:creationId xmlns:p14="http://schemas.microsoft.com/office/powerpoint/2010/main" val="17097588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30</a:t>
            </a:fld>
            <a:endParaRPr lang="en-US" dirty="0"/>
          </a:p>
        </p:txBody>
      </p:sp>
    </p:spTree>
    <p:extLst>
      <p:ext uri="{BB962C8B-B14F-4D97-AF65-F5344CB8AC3E}">
        <p14:creationId xmlns:p14="http://schemas.microsoft.com/office/powerpoint/2010/main" val="29512886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31</a:t>
            </a:fld>
            <a:endParaRPr lang="en-US" dirty="0"/>
          </a:p>
        </p:txBody>
      </p:sp>
    </p:spTree>
    <p:extLst>
      <p:ext uri="{BB962C8B-B14F-4D97-AF65-F5344CB8AC3E}">
        <p14:creationId xmlns:p14="http://schemas.microsoft.com/office/powerpoint/2010/main" val="21110843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32</a:t>
            </a:fld>
            <a:endParaRPr lang="en-US" dirty="0"/>
          </a:p>
        </p:txBody>
      </p:sp>
    </p:spTree>
    <p:extLst>
      <p:ext uri="{BB962C8B-B14F-4D97-AF65-F5344CB8AC3E}">
        <p14:creationId xmlns:p14="http://schemas.microsoft.com/office/powerpoint/2010/main" val="1889547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33</a:t>
            </a:fld>
            <a:endParaRPr lang="en-US" dirty="0"/>
          </a:p>
        </p:txBody>
      </p:sp>
    </p:spTree>
    <p:extLst>
      <p:ext uri="{BB962C8B-B14F-4D97-AF65-F5344CB8AC3E}">
        <p14:creationId xmlns:p14="http://schemas.microsoft.com/office/powerpoint/2010/main" val="32146986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34</a:t>
            </a:fld>
            <a:endParaRPr lang="en-US" dirty="0"/>
          </a:p>
        </p:txBody>
      </p:sp>
    </p:spTree>
    <p:extLst>
      <p:ext uri="{BB962C8B-B14F-4D97-AF65-F5344CB8AC3E}">
        <p14:creationId xmlns:p14="http://schemas.microsoft.com/office/powerpoint/2010/main" val="1173320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35</a:t>
            </a:fld>
            <a:endParaRPr lang="en-US" dirty="0"/>
          </a:p>
        </p:txBody>
      </p:sp>
    </p:spTree>
    <p:extLst>
      <p:ext uri="{BB962C8B-B14F-4D97-AF65-F5344CB8AC3E}">
        <p14:creationId xmlns:p14="http://schemas.microsoft.com/office/powerpoint/2010/main" val="11200317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36</a:t>
            </a:fld>
            <a:endParaRPr lang="en-US" dirty="0"/>
          </a:p>
        </p:txBody>
      </p:sp>
    </p:spTree>
    <p:extLst>
      <p:ext uri="{BB962C8B-B14F-4D97-AF65-F5344CB8AC3E}">
        <p14:creationId xmlns:p14="http://schemas.microsoft.com/office/powerpoint/2010/main" val="11294792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37</a:t>
            </a:fld>
            <a:endParaRPr lang="en-US" dirty="0"/>
          </a:p>
        </p:txBody>
      </p:sp>
    </p:spTree>
    <p:extLst>
      <p:ext uri="{BB962C8B-B14F-4D97-AF65-F5344CB8AC3E}">
        <p14:creationId xmlns:p14="http://schemas.microsoft.com/office/powerpoint/2010/main" val="6472610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38</a:t>
            </a:fld>
            <a:endParaRPr lang="en-US" dirty="0"/>
          </a:p>
        </p:txBody>
      </p:sp>
    </p:spTree>
    <p:extLst>
      <p:ext uri="{BB962C8B-B14F-4D97-AF65-F5344CB8AC3E}">
        <p14:creationId xmlns:p14="http://schemas.microsoft.com/office/powerpoint/2010/main" val="10680069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39</a:t>
            </a:fld>
            <a:endParaRPr lang="en-US" dirty="0"/>
          </a:p>
        </p:txBody>
      </p:sp>
    </p:spTree>
    <p:extLst>
      <p:ext uri="{BB962C8B-B14F-4D97-AF65-F5344CB8AC3E}">
        <p14:creationId xmlns:p14="http://schemas.microsoft.com/office/powerpoint/2010/main" val="33123093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B9674518-B63F-483F-BAA6-38E6FC3F0F6C}" type="slidenum">
              <a:rPr lang="en-US" smtClean="0"/>
              <a:pPr>
                <a:defRPr/>
              </a:pPr>
              <a:t>40</a:t>
            </a:fld>
            <a:endParaRPr lang="en-US" dirty="0"/>
          </a:p>
        </p:txBody>
      </p:sp>
    </p:spTree>
    <p:extLst>
      <p:ext uri="{BB962C8B-B14F-4D97-AF65-F5344CB8AC3E}">
        <p14:creationId xmlns:p14="http://schemas.microsoft.com/office/powerpoint/2010/main" val="22755909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41</a:t>
            </a:fld>
            <a:endParaRPr lang="en-US" dirty="0"/>
          </a:p>
        </p:txBody>
      </p:sp>
    </p:spTree>
    <p:extLst>
      <p:ext uri="{BB962C8B-B14F-4D97-AF65-F5344CB8AC3E}">
        <p14:creationId xmlns:p14="http://schemas.microsoft.com/office/powerpoint/2010/main" val="5614613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42</a:t>
            </a:fld>
            <a:endParaRPr lang="en-US" dirty="0"/>
          </a:p>
        </p:txBody>
      </p:sp>
    </p:spTree>
    <p:extLst>
      <p:ext uri="{BB962C8B-B14F-4D97-AF65-F5344CB8AC3E}">
        <p14:creationId xmlns:p14="http://schemas.microsoft.com/office/powerpoint/2010/main" val="2553406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43</a:t>
            </a:fld>
            <a:endParaRPr lang="en-US" dirty="0"/>
          </a:p>
        </p:txBody>
      </p:sp>
    </p:spTree>
    <p:extLst>
      <p:ext uri="{BB962C8B-B14F-4D97-AF65-F5344CB8AC3E}">
        <p14:creationId xmlns:p14="http://schemas.microsoft.com/office/powerpoint/2010/main" val="24861706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4C8D6E9C-B7C7-43B9-93A3-6460897D1EC2}" type="slidenum">
              <a:rPr lang="en-US" smtClean="0"/>
              <a:pPr>
                <a:defRPr/>
              </a:pPr>
              <a:t>44</a:t>
            </a:fld>
            <a:endParaRPr lang="en-US" dirty="0"/>
          </a:p>
        </p:txBody>
      </p:sp>
    </p:spTree>
    <p:extLst>
      <p:ext uri="{BB962C8B-B14F-4D97-AF65-F5344CB8AC3E}">
        <p14:creationId xmlns:p14="http://schemas.microsoft.com/office/powerpoint/2010/main" val="244344699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F93558A4-A535-4BE3-9B93-309853BEE120}" type="slidenum">
              <a:rPr lang="en-US" smtClean="0"/>
              <a:pPr>
                <a:defRPr/>
              </a:pPr>
              <a:t>45</a:t>
            </a:fld>
            <a:endParaRPr lang="en-US" dirty="0"/>
          </a:p>
        </p:txBody>
      </p:sp>
    </p:spTree>
    <p:extLst>
      <p:ext uri="{BB962C8B-B14F-4D97-AF65-F5344CB8AC3E}">
        <p14:creationId xmlns:p14="http://schemas.microsoft.com/office/powerpoint/2010/main" val="890519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a:ln/>
        </p:spPr>
      </p:sp>
      <p:sp>
        <p:nvSpPr>
          <p:cNvPr id="89091" name="Notes Placeholder 2"/>
          <p:cNvSpPr>
            <a:spLocks noGrp="1"/>
          </p:cNvSpPr>
          <p:nvPr>
            <p:ph type="body" idx="1"/>
          </p:nvPr>
        </p:nvSpPr>
        <p:spPr>
          <a:noFill/>
          <a:ln/>
        </p:spPr>
        <p:txBody>
          <a:bodyPr/>
          <a:lstStyle/>
          <a:p>
            <a:endParaRPr lang="en-US" dirty="0" smtClean="0"/>
          </a:p>
        </p:txBody>
      </p:sp>
      <p:sp>
        <p:nvSpPr>
          <p:cNvPr id="4" name="Slide Number Placeholder 3"/>
          <p:cNvSpPr>
            <a:spLocks noGrp="1"/>
          </p:cNvSpPr>
          <p:nvPr>
            <p:ph type="sldNum" sz="quarter" idx="5"/>
          </p:nvPr>
        </p:nvSpPr>
        <p:spPr/>
        <p:txBody>
          <a:bodyPr/>
          <a:lstStyle/>
          <a:p>
            <a:pPr>
              <a:defRPr/>
            </a:pPr>
            <a:fld id="{F93558A4-A535-4BE3-9B93-309853BEE120}" type="slidenum">
              <a:rPr lang="en-US" smtClean="0"/>
              <a:pPr>
                <a:defRPr/>
              </a:pPr>
              <a:t>46</a:t>
            </a:fld>
            <a:endParaRPr lang="en-US" dirty="0"/>
          </a:p>
        </p:txBody>
      </p:sp>
    </p:spTree>
    <p:extLst>
      <p:ext uri="{BB962C8B-B14F-4D97-AF65-F5344CB8AC3E}">
        <p14:creationId xmlns:p14="http://schemas.microsoft.com/office/powerpoint/2010/main" val="12285928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a:stretch>
            <a:fillRect/>
          </a:stretch>
        </p:blipFill>
        <p:spPr bwMode="auto">
          <a:xfrm>
            <a:off x="0" y="30163"/>
            <a:ext cx="9144000" cy="2906712"/>
          </a:xfrm>
          <a:prstGeom prst="rect">
            <a:avLst/>
          </a:prstGeom>
          <a:noFill/>
          <a:ln w="9525">
            <a:noFill/>
            <a:miter lim="800000"/>
            <a:headEnd/>
            <a:tailEnd/>
          </a:ln>
        </p:spPr>
      </p:pic>
      <p:sp>
        <p:nvSpPr>
          <p:cNvPr id="2" name="Title 1"/>
          <p:cNvSpPr>
            <a:spLocks noGrp="1"/>
          </p:cNvSpPr>
          <p:nvPr>
            <p:ph type="ctrTitle"/>
          </p:nvPr>
        </p:nvSpPr>
        <p:spPr>
          <a:xfrm>
            <a:off x="685800" y="2968625"/>
            <a:ext cx="7772400" cy="1470025"/>
          </a:xfrm>
        </p:spPr>
        <p:txBody>
          <a:bodyPr/>
          <a:lstStyle>
            <a:lvl1pPr>
              <a:defRPr>
                <a:solidFill>
                  <a:schemeClr val="tx2">
                    <a:lumMod val="60000"/>
                    <a:lumOff val="40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4724400"/>
            <a:ext cx="6400800" cy="1752600"/>
          </a:xfrm>
        </p:spPr>
        <p:txBody>
          <a:bodyPr/>
          <a:lstStyle>
            <a:lvl1pPr marL="0" indent="0" algn="ctr">
              <a:buNone/>
              <a:defRPr>
                <a:solidFill>
                  <a:schemeClr val="accent6">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9"/>
          <p:cNvSpPr>
            <a:spLocks noGrp="1"/>
          </p:cNvSpPr>
          <p:nvPr>
            <p:ph type="sldNum" sz="quarter" idx="10"/>
          </p:nvPr>
        </p:nvSpPr>
        <p:spPr/>
        <p:txBody>
          <a:bodyPr/>
          <a:lstStyle>
            <a:lvl1pPr>
              <a:defRPr/>
            </a:lvl1pPr>
          </a:lstStyle>
          <a:p>
            <a:pPr>
              <a:defRPr/>
            </a:pPr>
            <a:fld id="{3F00AF05-15F3-48AB-A909-437515DB97CC}" type="slidenum">
              <a:rPr lang="en-US"/>
              <a:pPr>
                <a:defRPr/>
              </a:pPr>
              <a:t>‹#›</a:t>
            </a:fld>
            <a:endParaRPr lang="en-US" dirty="0"/>
          </a:p>
        </p:txBody>
      </p:sp>
      <p:sp>
        <p:nvSpPr>
          <p:cNvPr id="5" name="Footer Placeholder 10"/>
          <p:cNvSpPr>
            <a:spLocks noGrp="1"/>
          </p:cNvSpPr>
          <p:nvPr>
            <p:ph type="ftr" sz="quarter" idx="11"/>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6"/>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5" name="Slide Number Placeholder 7"/>
          <p:cNvSpPr>
            <a:spLocks noGrp="1"/>
          </p:cNvSpPr>
          <p:nvPr>
            <p:ph type="sldNum" sz="quarter" idx="11"/>
          </p:nvPr>
        </p:nvSpPr>
        <p:spPr/>
        <p:txBody>
          <a:bodyPr/>
          <a:lstStyle>
            <a:lvl1pPr>
              <a:defRPr/>
            </a:lvl1pPr>
          </a:lstStyle>
          <a:p>
            <a:pPr>
              <a:defRPr/>
            </a:pPr>
            <a:fld id="{304D9CCC-5717-4F7A-8350-CCDF597FD56C}" type="slidenum">
              <a:rPr lang="en-US"/>
              <a:pPr>
                <a:defRPr/>
              </a:pPr>
              <a:t>‹#›</a:t>
            </a:fld>
            <a:endParaRPr lang="en-US" dirty="0"/>
          </a:p>
        </p:txBody>
      </p:sp>
      <p:sp>
        <p:nvSpPr>
          <p:cNvPr id="6" name="Footer Placeholder 8"/>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7"/>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6" name="Slide Number Placeholder 8"/>
          <p:cNvSpPr>
            <a:spLocks noGrp="1"/>
          </p:cNvSpPr>
          <p:nvPr>
            <p:ph type="sldNum" sz="quarter" idx="11"/>
          </p:nvPr>
        </p:nvSpPr>
        <p:spPr/>
        <p:txBody>
          <a:bodyPr/>
          <a:lstStyle>
            <a:lvl1pPr>
              <a:defRPr/>
            </a:lvl1pPr>
          </a:lstStyle>
          <a:p>
            <a:pPr>
              <a:defRPr/>
            </a:pPr>
            <a:fld id="{7381D191-2F63-47D7-B430-7050E83CCD6D}" type="slidenum">
              <a:rPr lang="en-US"/>
              <a:pPr>
                <a:defRPr/>
              </a:pPr>
              <a:t>‹#›</a:t>
            </a:fld>
            <a:endParaRPr lang="en-US" dirty="0"/>
          </a:p>
        </p:txBody>
      </p:sp>
      <p:sp>
        <p:nvSpPr>
          <p:cNvPr id="7" name="Footer Placeholder 9"/>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9"/>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8" name="Slide Number Placeholder 10"/>
          <p:cNvSpPr>
            <a:spLocks noGrp="1"/>
          </p:cNvSpPr>
          <p:nvPr>
            <p:ph type="sldNum" sz="quarter" idx="11"/>
          </p:nvPr>
        </p:nvSpPr>
        <p:spPr/>
        <p:txBody>
          <a:bodyPr/>
          <a:lstStyle>
            <a:lvl1pPr>
              <a:defRPr/>
            </a:lvl1pPr>
          </a:lstStyle>
          <a:p>
            <a:pPr>
              <a:defRPr/>
            </a:pPr>
            <a:fld id="{B14B6C1F-85BA-43D0-8199-249FC72844AE}" type="slidenum">
              <a:rPr lang="en-US"/>
              <a:pPr>
                <a:defRPr/>
              </a:pPr>
              <a:t>‹#›</a:t>
            </a:fld>
            <a:endParaRPr lang="en-US" dirty="0"/>
          </a:p>
        </p:txBody>
      </p:sp>
      <p:sp>
        <p:nvSpPr>
          <p:cNvPr id="9" name="Footer Placeholder 11"/>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5"/>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4" name="Slide Number Placeholder 6"/>
          <p:cNvSpPr>
            <a:spLocks noGrp="1"/>
          </p:cNvSpPr>
          <p:nvPr>
            <p:ph type="sldNum" sz="quarter" idx="11"/>
          </p:nvPr>
        </p:nvSpPr>
        <p:spPr/>
        <p:txBody>
          <a:bodyPr/>
          <a:lstStyle>
            <a:lvl1pPr>
              <a:defRPr/>
            </a:lvl1pPr>
          </a:lstStyle>
          <a:p>
            <a:pPr>
              <a:defRPr/>
            </a:pPr>
            <a:fld id="{56554F68-CA65-421A-9FB3-B6B76451E6FA}" type="slidenum">
              <a:rPr lang="en-US"/>
              <a:pPr>
                <a:defRPr/>
              </a:pPr>
              <a:t>‹#›</a:t>
            </a:fld>
            <a:endParaRPr lang="en-US" dirty="0"/>
          </a:p>
        </p:txBody>
      </p:sp>
      <p:sp>
        <p:nvSpPr>
          <p:cNvPr id="5" name="Footer Placeholder 7"/>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3" name="Slide Number Placeholder 5"/>
          <p:cNvSpPr>
            <a:spLocks noGrp="1"/>
          </p:cNvSpPr>
          <p:nvPr>
            <p:ph type="sldNum" sz="quarter" idx="11"/>
          </p:nvPr>
        </p:nvSpPr>
        <p:spPr/>
        <p:txBody>
          <a:bodyPr/>
          <a:lstStyle>
            <a:lvl1pPr>
              <a:defRPr/>
            </a:lvl1pPr>
          </a:lstStyle>
          <a:p>
            <a:pPr>
              <a:defRPr/>
            </a:pPr>
            <a:fld id="{E2A9A62B-65AC-4837-8A2D-56C9A4CD6349}" type="slidenum">
              <a:rPr lang="en-US"/>
              <a:pPr>
                <a:defRPr/>
              </a:pPr>
              <a:t>‹#›</a:t>
            </a:fld>
            <a:endParaRPr lang="en-US" dirty="0"/>
          </a:p>
        </p:txBody>
      </p:sp>
      <p:sp>
        <p:nvSpPr>
          <p:cNvPr id="4" name="Footer Placeholder 6"/>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7"/>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6" name="Slide Number Placeholder 8"/>
          <p:cNvSpPr>
            <a:spLocks noGrp="1"/>
          </p:cNvSpPr>
          <p:nvPr>
            <p:ph type="sldNum" sz="quarter" idx="11"/>
          </p:nvPr>
        </p:nvSpPr>
        <p:spPr/>
        <p:txBody>
          <a:bodyPr/>
          <a:lstStyle>
            <a:lvl1pPr>
              <a:defRPr/>
            </a:lvl1pPr>
          </a:lstStyle>
          <a:p>
            <a:pPr>
              <a:defRPr/>
            </a:pPr>
            <a:fld id="{A10BA6C7-BA7F-48F1-B3AE-EF81C61B39D1}" type="slidenum">
              <a:rPr lang="en-US"/>
              <a:pPr>
                <a:defRPr/>
              </a:pPr>
              <a:t>‹#›</a:t>
            </a:fld>
            <a:endParaRPr lang="en-US" dirty="0"/>
          </a:p>
        </p:txBody>
      </p:sp>
      <p:sp>
        <p:nvSpPr>
          <p:cNvPr id="7" name="Footer Placeholder 9"/>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7"/>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6" name="Slide Number Placeholder 8"/>
          <p:cNvSpPr>
            <a:spLocks noGrp="1"/>
          </p:cNvSpPr>
          <p:nvPr>
            <p:ph type="sldNum" sz="quarter" idx="11"/>
          </p:nvPr>
        </p:nvSpPr>
        <p:spPr/>
        <p:txBody>
          <a:bodyPr/>
          <a:lstStyle>
            <a:lvl1pPr>
              <a:defRPr/>
            </a:lvl1pPr>
          </a:lstStyle>
          <a:p>
            <a:pPr>
              <a:defRPr/>
            </a:pPr>
            <a:fld id="{9CEF07C1-47FC-4251-AEF7-899AC023328D}" type="slidenum">
              <a:rPr lang="en-US"/>
              <a:pPr>
                <a:defRPr/>
              </a:pPr>
              <a:t>‹#›</a:t>
            </a:fld>
            <a:endParaRPr lang="en-US" dirty="0"/>
          </a:p>
        </p:txBody>
      </p:sp>
      <p:sp>
        <p:nvSpPr>
          <p:cNvPr id="7" name="Footer Placeholder 9"/>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6"/>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5" name="Slide Number Placeholder 7"/>
          <p:cNvSpPr>
            <a:spLocks noGrp="1"/>
          </p:cNvSpPr>
          <p:nvPr>
            <p:ph type="sldNum" sz="quarter" idx="11"/>
          </p:nvPr>
        </p:nvSpPr>
        <p:spPr/>
        <p:txBody>
          <a:bodyPr/>
          <a:lstStyle>
            <a:lvl1pPr>
              <a:defRPr/>
            </a:lvl1pPr>
          </a:lstStyle>
          <a:p>
            <a:pPr>
              <a:defRPr/>
            </a:pPr>
            <a:fld id="{7A40A4A9-46CC-49A6-8980-AEC2300E98BA}" type="slidenum">
              <a:rPr lang="en-US"/>
              <a:pPr>
                <a:defRPr/>
              </a:pPr>
              <a:t>‹#›</a:t>
            </a:fld>
            <a:endParaRPr lang="en-US" dirty="0"/>
          </a:p>
        </p:txBody>
      </p:sp>
      <p:sp>
        <p:nvSpPr>
          <p:cNvPr id="6" name="Footer Placeholder 8"/>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6"/>
          <p:cNvSpPr>
            <a:spLocks noGrp="1"/>
          </p:cNvSpPr>
          <p:nvPr>
            <p:ph type="dt" sz="half" idx="10"/>
          </p:nvPr>
        </p:nvSpPr>
        <p:spPr>
          <a:xfrm>
            <a:off x="457200" y="6356350"/>
            <a:ext cx="5791200" cy="365125"/>
          </a:xfrm>
          <a:prstGeom prst="rect">
            <a:avLst/>
          </a:prstGeom>
        </p:spPr>
        <p:txBody>
          <a:bodyPr/>
          <a:lstStyle>
            <a:lvl1pPr>
              <a:defRPr/>
            </a:lvl1pPr>
          </a:lstStyle>
          <a:p>
            <a:pPr>
              <a:defRPr/>
            </a:pPr>
            <a:endParaRPr lang="en-US" dirty="0"/>
          </a:p>
        </p:txBody>
      </p:sp>
      <p:sp>
        <p:nvSpPr>
          <p:cNvPr id="5" name="Slide Number Placeholder 7"/>
          <p:cNvSpPr>
            <a:spLocks noGrp="1"/>
          </p:cNvSpPr>
          <p:nvPr>
            <p:ph type="sldNum" sz="quarter" idx="11"/>
          </p:nvPr>
        </p:nvSpPr>
        <p:spPr/>
        <p:txBody>
          <a:bodyPr/>
          <a:lstStyle>
            <a:lvl1pPr>
              <a:defRPr/>
            </a:lvl1pPr>
          </a:lstStyle>
          <a:p>
            <a:pPr>
              <a:defRPr/>
            </a:pPr>
            <a:fld id="{5CAA3C1D-55C6-40AA-B1E0-05265743EB45}" type="slidenum">
              <a:rPr lang="en-US"/>
              <a:pPr>
                <a:defRPr/>
              </a:pPr>
              <a:t>‹#›</a:t>
            </a:fld>
            <a:endParaRPr lang="en-US" dirty="0"/>
          </a:p>
        </p:txBody>
      </p:sp>
      <p:sp>
        <p:nvSpPr>
          <p:cNvPr id="6" name="Footer Placeholder 8"/>
          <p:cNvSpPr>
            <a:spLocks noGrp="1"/>
          </p:cNvSpPr>
          <p:nvPr>
            <p:ph type="ftr" sz="quarter" idx="12"/>
          </p:nvPr>
        </p:nvSpPr>
        <p:spPr/>
        <p:txBody>
          <a:bodyPr/>
          <a:lstStyle>
            <a:lvl1pPr>
              <a:defRPr/>
            </a:lvl1pPr>
          </a:lstStyle>
          <a:p>
            <a:pPr>
              <a:defRPr/>
            </a:pPr>
            <a:r>
              <a:rPr lang="en-US" dirty="0" smtClean="0"/>
              <a:t>Programming Logic and Design, Ninth Edition</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8" descr="DECOLORED2.jpg"/>
          <p:cNvPicPr>
            <a:picLocks noChangeAspect="1"/>
          </p:cNvPicPr>
          <p:nvPr userDrawn="1"/>
        </p:nvPicPr>
        <p:blipFill>
          <a:blip r:embed="rId13" cstate="print"/>
          <a:srcRect/>
          <a:stretch>
            <a:fillRect/>
          </a:stretch>
        </p:blipFill>
        <p:spPr bwMode="auto">
          <a:xfrm>
            <a:off x="0" y="0"/>
            <a:ext cx="9144000" cy="1600200"/>
          </a:xfrm>
          <a:prstGeom prst="rect">
            <a:avLst/>
          </a:prstGeom>
          <a:noFill/>
          <a:ln w="9525">
            <a:noFill/>
            <a:miter lim="800000"/>
            <a:headEnd/>
            <a:tailEnd/>
          </a:ln>
        </p:spPr>
      </p:pic>
      <p:sp>
        <p:nvSpPr>
          <p:cNvPr id="1027"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8"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accent6">
                    <a:lumMod val="75000"/>
                  </a:schemeClr>
                </a:solidFill>
                <a:latin typeface="+mj-lt"/>
              </a:defRPr>
            </a:lvl1pPr>
          </a:lstStyle>
          <a:p>
            <a:pPr>
              <a:defRPr/>
            </a:pPr>
            <a:fld id="{91DB0802-8C73-4FE0-B249-A6FB9C5E4C8C}" type="slidenum">
              <a:rPr lang="en-US"/>
              <a:pPr>
                <a:defRPr/>
              </a:pPr>
              <a:t>‹#›</a:t>
            </a:fld>
            <a:endParaRPr lang="en-US" dirty="0"/>
          </a:p>
        </p:txBody>
      </p:sp>
      <p:sp>
        <p:nvSpPr>
          <p:cNvPr id="7" name="Footer Placeholder 6"/>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a:defRPr sz="1200" dirty="0" smtClean="0">
                <a:solidFill>
                  <a:schemeClr val="accent6">
                    <a:lumMod val="75000"/>
                  </a:schemeClr>
                </a:solidFill>
                <a:latin typeface="+mj-lt"/>
              </a:defRPr>
            </a:lvl1pPr>
          </a:lstStyle>
          <a:p>
            <a:pPr>
              <a:defRPr/>
            </a:pPr>
            <a:r>
              <a:rPr lang="en-US" dirty="0" smtClean="0"/>
              <a:t>Programming Logic and Design, Ninth Edition</a:t>
            </a:r>
            <a:endParaRPr lang="en-US" dirty="0"/>
          </a:p>
        </p:txBody>
      </p:sp>
    </p:spTree>
  </p:cSld>
  <p:clrMap bg1="lt1" tx1="dk1" bg2="lt2" tx2="dk2" accent1="accent1" accent2="accent2" accent3="accent3" accent4="accent4" accent5="accent5" accent6="accent6" hlink="hlink" folHlink="folHlink"/>
  <p:sldLayoutIdLst>
    <p:sldLayoutId id="2147484905" r:id="rId1"/>
    <p:sldLayoutId id="2147484906" r:id="rId2"/>
    <p:sldLayoutId id="2147484907" r:id="rId3"/>
    <p:sldLayoutId id="2147484908" r:id="rId4"/>
    <p:sldLayoutId id="2147484909" r:id="rId5"/>
    <p:sldLayoutId id="2147484910" r:id="rId6"/>
    <p:sldLayoutId id="2147484911" r:id="rId7"/>
    <p:sldLayoutId id="2147484912" r:id="rId8"/>
    <p:sldLayoutId id="2147484913" r:id="rId9"/>
    <p:sldLayoutId id="2147484914" r:id="rId10"/>
    <p:sldLayoutId id="2147484915" r:id="rId11"/>
  </p:sldLayoutIdLst>
  <p:hf hdr="0" dt="0"/>
  <p:txStyles>
    <p:titleStyle>
      <a:lvl1pPr algn="ctr" rtl="0" fontAlgn="base">
        <a:spcBef>
          <a:spcPct val="0"/>
        </a:spcBef>
        <a:spcAft>
          <a:spcPct val="0"/>
        </a:spcAft>
        <a:defRPr sz="4400" kern="1200">
          <a:solidFill>
            <a:srgbClr val="558ED5"/>
          </a:solidFill>
          <a:latin typeface="+mj-lt"/>
          <a:ea typeface="+mj-ea"/>
          <a:cs typeface="+mj-cs"/>
        </a:defRPr>
      </a:lvl1pPr>
      <a:lvl2pPr algn="ctr" rtl="0" fontAlgn="base">
        <a:spcBef>
          <a:spcPct val="0"/>
        </a:spcBef>
        <a:spcAft>
          <a:spcPct val="0"/>
        </a:spcAft>
        <a:defRPr sz="4400">
          <a:solidFill>
            <a:srgbClr val="558ED5"/>
          </a:solidFill>
          <a:latin typeface="Calibri" pitchFamily="34" charset="0"/>
        </a:defRPr>
      </a:lvl2pPr>
      <a:lvl3pPr algn="ctr" rtl="0" fontAlgn="base">
        <a:spcBef>
          <a:spcPct val="0"/>
        </a:spcBef>
        <a:spcAft>
          <a:spcPct val="0"/>
        </a:spcAft>
        <a:defRPr sz="4400">
          <a:solidFill>
            <a:srgbClr val="558ED5"/>
          </a:solidFill>
          <a:latin typeface="Calibri" pitchFamily="34" charset="0"/>
        </a:defRPr>
      </a:lvl3pPr>
      <a:lvl4pPr algn="ctr" rtl="0" fontAlgn="base">
        <a:spcBef>
          <a:spcPct val="0"/>
        </a:spcBef>
        <a:spcAft>
          <a:spcPct val="0"/>
        </a:spcAft>
        <a:defRPr sz="4400">
          <a:solidFill>
            <a:srgbClr val="558ED5"/>
          </a:solidFill>
          <a:latin typeface="Calibri" pitchFamily="34" charset="0"/>
        </a:defRPr>
      </a:lvl4pPr>
      <a:lvl5pPr algn="ctr" rtl="0" fontAlgn="base">
        <a:spcBef>
          <a:spcPct val="0"/>
        </a:spcBef>
        <a:spcAft>
          <a:spcPct val="0"/>
        </a:spcAft>
        <a:defRPr sz="4400">
          <a:solidFill>
            <a:srgbClr val="558ED5"/>
          </a:solidFill>
          <a:latin typeface="Calibri" pitchFamily="34" charset="0"/>
        </a:defRPr>
      </a:lvl5pPr>
      <a:lvl6pPr marL="457200" algn="ctr" rtl="0" eaLnBrk="1" fontAlgn="base" hangingPunct="1">
        <a:spcBef>
          <a:spcPct val="0"/>
        </a:spcBef>
        <a:spcAft>
          <a:spcPct val="0"/>
        </a:spcAft>
        <a:defRPr sz="4400">
          <a:solidFill>
            <a:srgbClr val="558ED5"/>
          </a:solidFill>
          <a:latin typeface="Calibri" pitchFamily="34" charset="0"/>
        </a:defRPr>
      </a:lvl6pPr>
      <a:lvl7pPr marL="914400" algn="ctr" rtl="0" eaLnBrk="1" fontAlgn="base" hangingPunct="1">
        <a:spcBef>
          <a:spcPct val="0"/>
        </a:spcBef>
        <a:spcAft>
          <a:spcPct val="0"/>
        </a:spcAft>
        <a:defRPr sz="4400">
          <a:solidFill>
            <a:srgbClr val="558ED5"/>
          </a:solidFill>
          <a:latin typeface="Calibri" pitchFamily="34" charset="0"/>
        </a:defRPr>
      </a:lvl7pPr>
      <a:lvl8pPr marL="1371600" algn="ctr" rtl="0" eaLnBrk="1" fontAlgn="base" hangingPunct="1">
        <a:spcBef>
          <a:spcPct val="0"/>
        </a:spcBef>
        <a:spcAft>
          <a:spcPct val="0"/>
        </a:spcAft>
        <a:defRPr sz="4400">
          <a:solidFill>
            <a:srgbClr val="558ED5"/>
          </a:solidFill>
          <a:latin typeface="Calibri" pitchFamily="34" charset="0"/>
        </a:defRPr>
      </a:lvl8pPr>
      <a:lvl9pPr marL="1828800" algn="ctr" rtl="0" eaLnBrk="1" fontAlgn="base" hangingPunct="1">
        <a:spcBef>
          <a:spcPct val="0"/>
        </a:spcBef>
        <a:spcAft>
          <a:spcPct val="0"/>
        </a:spcAft>
        <a:defRPr sz="4400">
          <a:solidFill>
            <a:srgbClr val="558ED5"/>
          </a:solidFill>
          <a:latin typeface="Calibri" pitchFamily="34" charset="0"/>
        </a:defRPr>
      </a:lvl9pPr>
    </p:titleStyle>
    <p:body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13.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16.jpeg"/></Relationships>
</file>

<file path=ppt/slides/_rels/slide3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image" Target="../media/image18.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8.xml"/><Relationship Id="rId1" Type="http://schemas.openxmlformats.org/officeDocument/2006/relationships/slideLayout" Target="../slideLayouts/slideLayout6.xml"/><Relationship Id="rId4" Type="http://schemas.openxmlformats.org/officeDocument/2006/relationships/image" Target="../media/image20.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5986" y="608807"/>
            <a:ext cx="8229600" cy="1143000"/>
          </a:xfrm>
        </p:spPr>
        <p:txBody>
          <a:bodyPr/>
          <a:lstStyle/>
          <a:p>
            <a:r>
              <a:rPr lang="en-US" b="1" dirty="0"/>
              <a:t>Programming Logic and Design</a:t>
            </a:r>
            <a:br>
              <a:rPr lang="en-US" b="1" dirty="0"/>
            </a:br>
            <a:r>
              <a:rPr lang="en-US" b="1" i="1" dirty="0"/>
              <a:t>Ninth Edition</a:t>
            </a:r>
            <a:endParaRPr lang="en-US" b="1" dirty="0"/>
          </a:p>
        </p:txBody>
      </p:sp>
      <p:sp>
        <p:nvSpPr>
          <p:cNvPr id="3" name="Content Placeholder 2"/>
          <p:cNvSpPr>
            <a:spLocks noGrp="1"/>
          </p:cNvSpPr>
          <p:nvPr>
            <p:ph idx="1"/>
          </p:nvPr>
        </p:nvSpPr>
        <p:spPr>
          <a:xfrm>
            <a:off x="457200" y="2438400"/>
            <a:ext cx="8229600" cy="3687763"/>
          </a:xfrm>
        </p:spPr>
        <p:txBody>
          <a:bodyPr/>
          <a:lstStyle/>
          <a:p>
            <a:pPr algn="ctr" eaLnBrk="1" hangingPunct="1">
              <a:lnSpc>
                <a:spcPct val="90000"/>
              </a:lnSpc>
              <a:buFont typeface="Arial" pitchFamily="34" charset="0"/>
              <a:buNone/>
              <a:defRPr/>
            </a:pPr>
            <a:r>
              <a:rPr lang="en-US" sz="3400" i="1" dirty="0"/>
              <a:t>Chapter </a:t>
            </a:r>
            <a:r>
              <a:rPr lang="en-US" sz="3400" i="1" dirty="0" smtClean="0"/>
              <a:t>12</a:t>
            </a:r>
          </a:p>
          <a:p>
            <a:pPr marL="0" indent="0" algn="ctr">
              <a:buNone/>
              <a:defRPr/>
            </a:pPr>
            <a:r>
              <a:rPr lang="en-US" sz="3200" i="1" dirty="0"/>
              <a:t>Event-Driven GUI Programming, </a:t>
            </a:r>
            <a:endParaRPr lang="en-US" sz="3200" i="1" dirty="0" smtClean="0"/>
          </a:p>
          <a:p>
            <a:pPr marL="0" indent="0" algn="ctr">
              <a:buNone/>
              <a:defRPr/>
            </a:pPr>
            <a:r>
              <a:rPr lang="en-US" sz="3200" i="1" dirty="0" smtClean="0"/>
              <a:t>Multithreading</a:t>
            </a:r>
            <a:r>
              <a:rPr lang="en-US" sz="3200" i="1" dirty="0"/>
              <a:t>, and Animation</a:t>
            </a:r>
          </a:p>
        </p:txBody>
      </p:sp>
      <p:sp>
        <p:nvSpPr>
          <p:cNvPr id="4" name="Slide Number Placeholder 3"/>
          <p:cNvSpPr>
            <a:spLocks noGrp="1"/>
          </p:cNvSpPr>
          <p:nvPr>
            <p:ph type="sldNum" sz="quarter" idx="10"/>
          </p:nvPr>
        </p:nvSpPr>
        <p:spPr/>
        <p:txBody>
          <a:bodyPr/>
          <a:lstStyle/>
          <a:p>
            <a:pPr>
              <a:defRPr/>
            </a:pPr>
            <a:fld id="{0F66439E-C25C-4026-841B-CBBDFA57E0D0}" type="slidenum">
              <a:rPr lang="en-US">
                <a:solidFill>
                  <a:srgbClr val="F79646">
                    <a:lumMod val="75000"/>
                  </a:srgbClr>
                </a:solidFill>
              </a:rPr>
              <a:pPr>
                <a:defRPr/>
              </a:pPr>
              <a:t>1</a:t>
            </a:fld>
            <a:endParaRPr lang="en-US" dirty="0">
              <a:solidFill>
                <a:srgbClr val="F79646">
                  <a:lumMod val="75000"/>
                </a:srgbClr>
              </a:solidFill>
            </a:endParaRPr>
          </a:p>
        </p:txBody>
      </p:sp>
      <p:sp>
        <p:nvSpPr>
          <p:cNvPr id="5" name="Footer Placeholder 4"/>
          <p:cNvSpPr>
            <a:spLocks noGrp="1"/>
          </p:cNvSpPr>
          <p:nvPr>
            <p:ph type="ftr" sz="quarter" idx="11"/>
          </p:nvPr>
        </p:nvSpPr>
        <p:spPr/>
        <p:txBody>
          <a:bodyPr/>
          <a:lstStyle/>
          <a:p>
            <a:pPr>
              <a:defRPr/>
            </a:pPr>
            <a:r>
              <a:rPr lang="en-US" dirty="0">
                <a:solidFill>
                  <a:srgbClr val="F79646">
                    <a:lumMod val="75000"/>
                  </a:srgbClr>
                </a:solidFill>
              </a:rPr>
              <a:t>Programming Logic and Design, Ninth Edition</a:t>
            </a:r>
          </a:p>
        </p:txBody>
      </p:sp>
    </p:spTree>
    <p:extLst>
      <p:ext uri="{BB962C8B-B14F-4D97-AF65-F5344CB8AC3E}">
        <p14:creationId xmlns:p14="http://schemas.microsoft.com/office/powerpoint/2010/main" val="30376939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dirty="0" smtClean="0"/>
              <a:t>Objectives</a:t>
            </a:r>
          </a:p>
        </p:txBody>
      </p:sp>
      <p:sp>
        <p:nvSpPr>
          <p:cNvPr id="5" name="Slide Number Placeholder 4"/>
          <p:cNvSpPr>
            <a:spLocks noGrp="1"/>
          </p:cNvSpPr>
          <p:nvPr>
            <p:ph type="sldNum" sz="quarter" idx="10"/>
          </p:nvPr>
        </p:nvSpPr>
        <p:spPr/>
        <p:txBody>
          <a:bodyPr/>
          <a:lstStyle/>
          <a:p>
            <a:pPr>
              <a:defRPr/>
            </a:pPr>
            <a:fld id="{20E4EE77-6894-4CDC-8ADF-1ABB424DE40D}" type="slidenum">
              <a:rPr lang="en-US"/>
              <a:pPr>
                <a:defRPr/>
              </a:pPr>
              <a:t>2</a:t>
            </a:fld>
            <a:endParaRPr lang="en-US" dirty="0"/>
          </a:p>
        </p:txBody>
      </p:sp>
      <p:sp>
        <p:nvSpPr>
          <p:cNvPr id="8" name="Content Placeholder 8"/>
          <p:cNvSpPr>
            <a:spLocks noGrp="1"/>
          </p:cNvSpPr>
          <p:nvPr>
            <p:ph idx="1"/>
          </p:nvPr>
        </p:nvSpPr>
        <p:spPr>
          <a:xfrm>
            <a:off x="533400" y="1676400"/>
            <a:ext cx="8077200" cy="4572000"/>
          </a:xfrm>
        </p:spPr>
        <p:txBody>
          <a:bodyPr/>
          <a:lstStyle/>
          <a:p>
            <a:pPr>
              <a:buFontTx/>
              <a:buNone/>
            </a:pPr>
            <a:r>
              <a:rPr lang="en-US" dirty="0"/>
              <a:t>In this chapter, you will learn about:</a:t>
            </a:r>
          </a:p>
          <a:p>
            <a:r>
              <a:rPr lang="en-US" dirty="0"/>
              <a:t>The principles of event-driven programming</a:t>
            </a:r>
          </a:p>
          <a:p>
            <a:r>
              <a:rPr lang="en-US" dirty="0" smtClean="0"/>
              <a:t>User-initiated actions and </a:t>
            </a:r>
            <a:r>
              <a:rPr lang="en-US" dirty="0"/>
              <a:t>GUI components </a:t>
            </a:r>
          </a:p>
          <a:p>
            <a:r>
              <a:rPr lang="en-US" dirty="0"/>
              <a:t>Designing graphical user interfaces</a:t>
            </a:r>
          </a:p>
          <a:p>
            <a:r>
              <a:rPr lang="en-US" dirty="0"/>
              <a:t>D</a:t>
            </a:r>
            <a:r>
              <a:rPr lang="en-US" dirty="0" smtClean="0"/>
              <a:t>eveloping </a:t>
            </a:r>
            <a:r>
              <a:rPr lang="en-US" dirty="0"/>
              <a:t>an event-driven application</a:t>
            </a:r>
          </a:p>
          <a:p>
            <a:r>
              <a:rPr lang="en-US" dirty="0" smtClean="0"/>
              <a:t>Threads and multithreading</a:t>
            </a:r>
            <a:endParaRPr lang="en-US" dirty="0"/>
          </a:p>
          <a:p>
            <a:r>
              <a:rPr lang="en-US" dirty="0"/>
              <a:t>Creating animation</a:t>
            </a:r>
          </a:p>
          <a:p>
            <a:pPr lvl="1"/>
            <a:endParaRPr lang="en-US" dirty="0" smtClean="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dirty="0"/>
              <a:t>Understanding Event-Driven</a:t>
            </a:r>
            <a:br>
              <a:rPr lang="en-US" dirty="0"/>
            </a:br>
            <a:r>
              <a:rPr lang="en-US" dirty="0"/>
              <a:t>Programming</a:t>
            </a:r>
            <a:endParaRPr lang="en-US" dirty="0" smtClean="0"/>
          </a:p>
        </p:txBody>
      </p:sp>
      <p:sp>
        <p:nvSpPr>
          <p:cNvPr id="5" name="Slide Number Placeholder 4"/>
          <p:cNvSpPr>
            <a:spLocks noGrp="1"/>
          </p:cNvSpPr>
          <p:nvPr>
            <p:ph type="sldNum" sz="quarter" idx="10"/>
          </p:nvPr>
        </p:nvSpPr>
        <p:spPr/>
        <p:txBody>
          <a:bodyPr/>
          <a:lstStyle/>
          <a:p>
            <a:pPr>
              <a:defRPr/>
            </a:pPr>
            <a:fld id="{20E4EE77-6894-4CDC-8ADF-1ABB424DE40D}" type="slidenum">
              <a:rPr lang="en-US"/>
              <a:pPr>
                <a:defRPr/>
              </a:pPr>
              <a:t>3</a:t>
            </a:fld>
            <a:endParaRPr lang="en-US" dirty="0"/>
          </a:p>
        </p:txBody>
      </p:sp>
      <p:sp>
        <p:nvSpPr>
          <p:cNvPr id="7" name="Content Placeholder 8"/>
          <p:cNvSpPr>
            <a:spLocks noGrp="1"/>
          </p:cNvSpPr>
          <p:nvPr>
            <p:ph idx="1"/>
          </p:nvPr>
        </p:nvSpPr>
        <p:spPr>
          <a:xfrm>
            <a:off x="533400" y="1676400"/>
            <a:ext cx="8077200" cy="4572000"/>
          </a:xfrm>
        </p:spPr>
        <p:txBody>
          <a:bodyPr/>
          <a:lstStyle/>
          <a:p>
            <a:r>
              <a:rPr lang="en-US" b="1" dirty="0"/>
              <a:t>Operating system</a:t>
            </a:r>
          </a:p>
          <a:p>
            <a:pPr lvl="1"/>
            <a:r>
              <a:rPr lang="en-US" dirty="0" smtClean="0"/>
              <a:t>The software </a:t>
            </a:r>
            <a:r>
              <a:rPr lang="en-US" dirty="0"/>
              <a:t>used to run a computer and manage its resources</a:t>
            </a:r>
          </a:p>
          <a:p>
            <a:r>
              <a:rPr lang="en-US" dirty="0"/>
              <a:t>Early days of </a:t>
            </a:r>
            <a:r>
              <a:rPr lang="en-US" dirty="0" smtClean="0"/>
              <a:t>computing</a:t>
            </a:r>
          </a:p>
          <a:p>
            <a:pPr lvl="1"/>
            <a:r>
              <a:rPr lang="en-US" dirty="0" smtClean="0"/>
              <a:t>Command line entry: the </a:t>
            </a:r>
            <a:r>
              <a:rPr lang="en-US" b="1" dirty="0" smtClean="0"/>
              <a:t>DOS prompt</a:t>
            </a:r>
            <a:endParaRPr lang="en-US" b="1" dirty="0"/>
          </a:p>
          <a:p>
            <a:pPr lvl="1"/>
            <a:r>
              <a:rPr lang="en-US" dirty="0"/>
              <a:t>Interacting with a computer operating system was difficult </a:t>
            </a:r>
          </a:p>
          <a:p>
            <a:pPr lvl="1"/>
            <a:r>
              <a:rPr lang="en-US" dirty="0" smtClean="0"/>
              <a:t>The user </a:t>
            </a:r>
            <a:r>
              <a:rPr lang="en-US" dirty="0"/>
              <a:t>had to know the exact syntax to use when typing commands</a:t>
            </a:r>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7031782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dirty="0"/>
              <a:t>Understanding Event-Driven</a:t>
            </a:r>
            <a:br>
              <a:rPr lang="en-US" dirty="0"/>
            </a:br>
            <a:r>
              <a:rPr lang="en-US" dirty="0" smtClean="0"/>
              <a:t>Programming </a:t>
            </a:r>
            <a:r>
              <a:rPr lang="en-US" sz="1200" dirty="0" smtClean="0"/>
              <a:t>(</a:t>
            </a:r>
            <a:r>
              <a:rPr lang="en-US" sz="1200" dirty="0" smtClean="0"/>
              <a:t>continued -1)</a:t>
            </a:r>
            <a:endParaRPr lang="en-US" sz="1200" dirty="0" smtClean="0"/>
          </a:p>
        </p:txBody>
      </p:sp>
      <p:pic>
        <p:nvPicPr>
          <p:cNvPr id="4" name="Picture 3" descr="The command prompt in the Windows 10 operating system." title="Command prompt scree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75688" y="2286000"/>
            <a:ext cx="4992624" cy="2429824"/>
          </a:xfrm>
          <a:prstGeom prst="rect">
            <a:avLst/>
          </a:prstGeom>
        </p:spPr>
      </p:pic>
      <p:sp>
        <p:nvSpPr>
          <p:cNvPr id="5" name="Slide Number Placeholder 4"/>
          <p:cNvSpPr>
            <a:spLocks noGrp="1"/>
          </p:cNvSpPr>
          <p:nvPr>
            <p:ph type="sldNum" sz="quarter" idx="10"/>
          </p:nvPr>
        </p:nvSpPr>
        <p:spPr/>
        <p:txBody>
          <a:bodyPr/>
          <a:lstStyle/>
          <a:p>
            <a:pPr>
              <a:defRPr/>
            </a:pPr>
            <a:fld id="{20E4EE77-6894-4CDC-8ADF-1ABB424DE40D}" type="slidenum">
              <a:rPr lang="en-US"/>
              <a:pPr>
                <a:defRPr/>
              </a:pPr>
              <a:t>4</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82904339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5</a:t>
            </a:fld>
            <a:endParaRPr lang="en-US" dirty="0"/>
          </a:p>
        </p:txBody>
      </p:sp>
      <p:sp>
        <p:nvSpPr>
          <p:cNvPr id="7" name="Content Placeholder 2"/>
          <p:cNvSpPr>
            <a:spLocks noGrp="1"/>
          </p:cNvSpPr>
          <p:nvPr>
            <p:ph idx="1"/>
          </p:nvPr>
        </p:nvSpPr>
        <p:spPr>
          <a:xfrm>
            <a:off x="533400" y="1676400"/>
            <a:ext cx="8077200" cy="4572000"/>
          </a:xfrm>
        </p:spPr>
        <p:txBody>
          <a:bodyPr/>
          <a:lstStyle/>
          <a:p>
            <a:r>
              <a:rPr lang="en-US" dirty="0" smtClean="0"/>
              <a:t>Modern operating system software</a:t>
            </a:r>
          </a:p>
          <a:p>
            <a:pPr lvl="1"/>
            <a:r>
              <a:rPr lang="en-US" dirty="0" smtClean="0"/>
              <a:t>Allows use of </a:t>
            </a:r>
            <a:r>
              <a:rPr lang="en-US" dirty="0" smtClean="0"/>
              <a:t>mouse, fingers </a:t>
            </a:r>
            <a:r>
              <a:rPr lang="en-US" dirty="0" smtClean="0"/>
              <a:t>or other pointing device to select </a:t>
            </a:r>
            <a:r>
              <a:rPr lang="en-US" b="1" dirty="0" smtClean="0"/>
              <a:t>icons</a:t>
            </a:r>
          </a:p>
          <a:p>
            <a:pPr lvl="1"/>
            <a:r>
              <a:rPr lang="en-US" dirty="0" smtClean="0"/>
              <a:t>GUI</a:t>
            </a:r>
          </a:p>
          <a:p>
            <a:r>
              <a:rPr lang="en-US" dirty="0" smtClean="0"/>
              <a:t>Computer users can expect to see a standard interface</a:t>
            </a:r>
          </a:p>
          <a:p>
            <a:r>
              <a:rPr lang="en-US" b="1" dirty="0" smtClean="0"/>
              <a:t>Event</a:t>
            </a:r>
          </a:p>
          <a:p>
            <a:pPr lvl="1"/>
            <a:r>
              <a:rPr lang="en-US" dirty="0" smtClean="0"/>
              <a:t>Generates a message sent to an object</a:t>
            </a:r>
          </a:p>
        </p:txBody>
      </p:sp>
      <p:sp>
        <p:nvSpPr>
          <p:cNvPr id="8" name="Rectangle 2"/>
          <p:cNvSpPr>
            <a:spLocks noGrp="1" noChangeArrowheads="1"/>
          </p:cNvSpPr>
          <p:nvPr>
            <p:ph type="title"/>
          </p:nvPr>
        </p:nvSpPr>
        <p:spPr>
          <a:xfrm>
            <a:off x="457200" y="274638"/>
            <a:ext cx="8229600" cy="1143000"/>
          </a:xfrm>
        </p:spPr>
        <p:txBody>
          <a:bodyPr/>
          <a:lstStyle/>
          <a:p>
            <a:r>
              <a:rPr lang="en-US" dirty="0"/>
              <a:t>Understanding Event-Driven</a:t>
            </a:r>
            <a:br>
              <a:rPr lang="en-US" dirty="0"/>
            </a:br>
            <a:r>
              <a:rPr lang="en-US" dirty="0" smtClean="0"/>
              <a:t>Programming </a:t>
            </a:r>
            <a:r>
              <a:rPr lang="en-US" sz="1200" dirty="0" smtClean="0"/>
              <a:t>(</a:t>
            </a:r>
            <a:r>
              <a:rPr lang="en-US" sz="1200" dirty="0" smtClean="0"/>
              <a:t>continued -2)</a:t>
            </a:r>
            <a:endParaRPr lang="en-US" sz="1200" dirty="0" smtClean="0"/>
          </a:p>
        </p:txBody>
      </p:sp>
      <p:sp>
        <p:nvSpPr>
          <p:cNvPr id="9" name="Footer Placeholder 8"/>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6</a:t>
            </a:fld>
            <a:endParaRPr lang="en-US" dirty="0"/>
          </a:p>
        </p:txBody>
      </p:sp>
      <p:sp>
        <p:nvSpPr>
          <p:cNvPr id="8" name="Rectangle 2"/>
          <p:cNvSpPr>
            <a:spLocks noGrp="1" noChangeArrowheads="1"/>
          </p:cNvSpPr>
          <p:nvPr>
            <p:ph type="title"/>
          </p:nvPr>
        </p:nvSpPr>
        <p:spPr>
          <a:xfrm>
            <a:off x="457200" y="274638"/>
            <a:ext cx="8229600" cy="1143000"/>
          </a:xfrm>
        </p:spPr>
        <p:txBody>
          <a:bodyPr/>
          <a:lstStyle/>
          <a:p>
            <a:r>
              <a:rPr lang="en-US" dirty="0"/>
              <a:t>Understanding Event-Driven</a:t>
            </a:r>
            <a:br>
              <a:rPr lang="en-US" dirty="0"/>
            </a:br>
            <a:r>
              <a:rPr lang="en-US" dirty="0" smtClean="0"/>
              <a:t>Programming </a:t>
            </a:r>
            <a:r>
              <a:rPr lang="en-US" sz="1200" dirty="0" smtClean="0"/>
              <a:t>(</a:t>
            </a:r>
            <a:r>
              <a:rPr lang="en-US" sz="1200" dirty="0" smtClean="0"/>
              <a:t>continued -3)</a:t>
            </a:r>
            <a:endParaRPr lang="en-US" sz="1200" dirty="0" smtClean="0"/>
          </a:p>
        </p:txBody>
      </p:sp>
      <p:sp>
        <p:nvSpPr>
          <p:cNvPr id="11" name="Content Placeholder 2"/>
          <p:cNvSpPr>
            <a:spLocks noGrp="1"/>
          </p:cNvSpPr>
          <p:nvPr>
            <p:ph idx="1"/>
          </p:nvPr>
        </p:nvSpPr>
        <p:spPr>
          <a:xfrm>
            <a:off x="533400" y="1676400"/>
            <a:ext cx="8077200" cy="4572000"/>
          </a:xfrm>
        </p:spPr>
        <p:txBody>
          <a:bodyPr/>
          <a:lstStyle/>
          <a:p>
            <a:r>
              <a:rPr lang="en-US" b="1" dirty="0" smtClean="0"/>
              <a:t>Event-driven</a:t>
            </a:r>
            <a:r>
              <a:rPr lang="en-US" dirty="0" smtClean="0"/>
              <a:t> or </a:t>
            </a:r>
            <a:r>
              <a:rPr lang="en-US" b="1" dirty="0" smtClean="0"/>
              <a:t>event-based</a:t>
            </a:r>
            <a:r>
              <a:rPr lang="en-US" dirty="0" smtClean="0"/>
              <a:t> program</a:t>
            </a:r>
          </a:p>
          <a:p>
            <a:pPr lvl="1"/>
            <a:r>
              <a:rPr lang="en-US" dirty="0" smtClean="0"/>
              <a:t>Actions occur in response to user-initiated events such as clicking a mouse </a:t>
            </a:r>
            <a:r>
              <a:rPr lang="en-US" dirty="0" smtClean="0"/>
              <a:t>button or tapping a screen</a:t>
            </a:r>
            <a:endParaRPr lang="en-US" dirty="0" smtClean="0"/>
          </a:p>
          <a:p>
            <a:pPr lvl="1"/>
            <a:r>
              <a:rPr lang="en-US" dirty="0" smtClean="0"/>
              <a:t>Emphasis is on the objects that the user can manipulate</a:t>
            </a:r>
          </a:p>
          <a:p>
            <a:pPr lvl="1"/>
            <a:r>
              <a:rPr lang="en-US" dirty="0" smtClean="0"/>
              <a:t>Programmer writes instructions within modules that execute each type of event</a:t>
            </a:r>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059242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457200" y="274639"/>
            <a:ext cx="8001000" cy="1401762"/>
          </a:xfrm>
        </p:spPr>
        <p:txBody>
          <a:bodyPr/>
          <a:lstStyle/>
          <a:p>
            <a:r>
              <a:rPr lang="en-US" dirty="0"/>
              <a:t>Understanding Event-Driven</a:t>
            </a:r>
            <a:br>
              <a:rPr lang="en-US" dirty="0"/>
            </a:br>
            <a:r>
              <a:rPr lang="en-US" dirty="0" smtClean="0"/>
              <a:t>Programming </a:t>
            </a:r>
            <a:r>
              <a:rPr lang="en-US" sz="1200" dirty="0" smtClean="0"/>
              <a:t>(</a:t>
            </a:r>
            <a:r>
              <a:rPr lang="en-US" sz="1200" dirty="0" smtClean="0"/>
              <a:t>continued -4)</a:t>
            </a:r>
            <a:endParaRPr lang="en-US" sz="1200" dirty="0" smtClean="0"/>
          </a:p>
        </p:txBody>
      </p:sp>
      <p:pic>
        <p:nvPicPr>
          <p:cNvPr id="4" name="Picture 3" descr="A Windows program named Paint in which icons representing paintbrushes and other objects appear on clickable buttons." title="A GUI application that contains buttons and icon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5400" y="1679865"/>
            <a:ext cx="6477000" cy="4349835"/>
          </a:xfrm>
          <a:prstGeom prst="rect">
            <a:avLst/>
          </a:prstGeom>
        </p:spPr>
      </p:pic>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7</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4755317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8</a:t>
            </a:fld>
            <a:endParaRPr lang="en-US" dirty="0"/>
          </a:p>
        </p:txBody>
      </p:sp>
      <p:sp>
        <p:nvSpPr>
          <p:cNvPr id="8" name="Rectangle 2"/>
          <p:cNvSpPr>
            <a:spLocks noGrp="1" noChangeArrowheads="1"/>
          </p:cNvSpPr>
          <p:nvPr>
            <p:ph type="title"/>
          </p:nvPr>
        </p:nvSpPr>
        <p:spPr>
          <a:xfrm>
            <a:off x="457200" y="274638"/>
            <a:ext cx="8229600" cy="1143000"/>
          </a:xfrm>
        </p:spPr>
        <p:txBody>
          <a:bodyPr/>
          <a:lstStyle/>
          <a:p>
            <a:r>
              <a:rPr lang="en-US" dirty="0"/>
              <a:t>Understanding Event-Driven</a:t>
            </a:r>
            <a:br>
              <a:rPr lang="en-US" dirty="0"/>
            </a:br>
            <a:r>
              <a:rPr lang="en-US" dirty="0" smtClean="0"/>
              <a:t>Programming </a:t>
            </a:r>
            <a:r>
              <a:rPr lang="en-US" sz="1200" dirty="0" smtClean="0"/>
              <a:t>(</a:t>
            </a:r>
            <a:r>
              <a:rPr lang="en-US" sz="1200" dirty="0" smtClean="0"/>
              <a:t>continued -5)</a:t>
            </a:r>
            <a:endParaRPr lang="en-US" sz="1200" dirty="0" smtClean="0"/>
          </a:p>
        </p:txBody>
      </p:sp>
      <p:sp>
        <p:nvSpPr>
          <p:cNvPr id="7" name="Content Placeholder 2"/>
          <p:cNvSpPr>
            <a:spLocks noGrp="1"/>
          </p:cNvSpPr>
          <p:nvPr>
            <p:ph idx="1"/>
          </p:nvPr>
        </p:nvSpPr>
        <p:spPr>
          <a:xfrm>
            <a:off x="533400" y="1676400"/>
            <a:ext cx="8077200" cy="4572000"/>
          </a:xfrm>
        </p:spPr>
        <p:txBody>
          <a:bodyPr/>
          <a:lstStyle/>
          <a:p>
            <a:r>
              <a:rPr lang="en-US" dirty="0" smtClean="0"/>
              <a:t>Procedural application</a:t>
            </a:r>
          </a:p>
          <a:p>
            <a:pPr lvl="1"/>
            <a:r>
              <a:rPr lang="en-US" dirty="0" smtClean="0"/>
              <a:t>Programmer controls order of program statements</a:t>
            </a:r>
          </a:p>
          <a:p>
            <a:r>
              <a:rPr lang="en-US" dirty="0" smtClean="0"/>
              <a:t>Event-driven programs</a:t>
            </a:r>
          </a:p>
          <a:p>
            <a:pPr lvl="1"/>
            <a:r>
              <a:rPr lang="en-US" dirty="0" smtClean="0"/>
              <a:t>User might initiate any number of events in any order</a:t>
            </a:r>
          </a:p>
          <a:p>
            <a:pPr lvl="1"/>
            <a:r>
              <a:rPr lang="en-US" dirty="0" smtClean="0"/>
              <a:t>More flexible than procedural </a:t>
            </a:r>
            <a:r>
              <a:rPr lang="en-US" dirty="0" smtClean="0"/>
              <a:t>counterparts</a:t>
            </a:r>
          </a:p>
          <a:p>
            <a:r>
              <a:rPr lang="en-US" b="1" dirty="0"/>
              <a:t>Source of the event</a:t>
            </a:r>
          </a:p>
          <a:p>
            <a:pPr lvl="1"/>
            <a:r>
              <a:rPr lang="en-US" dirty="0"/>
              <a:t>The component from which an event is generated</a:t>
            </a:r>
          </a:p>
          <a:p>
            <a:r>
              <a:rPr lang="en-US" b="1" dirty="0"/>
              <a:t>Listener</a:t>
            </a:r>
          </a:p>
          <a:p>
            <a:pPr lvl="1"/>
            <a:r>
              <a:rPr lang="en-US" dirty="0"/>
              <a:t>An object that is “interested in” an event to which you want it to respond to</a:t>
            </a:r>
          </a:p>
          <a:p>
            <a:pPr marL="457200" lvl="1" indent="0">
              <a:buNone/>
            </a:pPr>
            <a:endParaRPr lang="en-US" dirty="0" smtClean="0"/>
          </a:p>
        </p:txBody>
      </p:sp>
      <p:sp>
        <p:nvSpPr>
          <p:cNvPr id="9" name="Footer Placeholder 8"/>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2036563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9</a:t>
            </a:fld>
            <a:endParaRPr lang="en-US" dirty="0"/>
          </a:p>
        </p:txBody>
      </p:sp>
      <p:sp>
        <p:nvSpPr>
          <p:cNvPr id="8" name="Rectangle 2"/>
          <p:cNvSpPr>
            <a:spLocks noGrp="1" noChangeArrowheads="1"/>
          </p:cNvSpPr>
          <p:nvPr>
            <p:ph type="title"/>
          </p:nvPr>
        </p:nvSpPr>
        <p:spPr>
          <a:xfrm>
            <a:off x="457200" y="274638"/>
            <a:ext cx="8229600" cy="1143000"/>
          </a:xfrm>
        </p:spPr>
        <p:txBody>
          <a:bodyPr/>
          <a:lstStyle/>
          <a:p>
            <a:r>
              <a:rPr lang="en-US" dirty="0"/>
              <a:t>Understanding Event-Driven</a:t>
            </a:r>
            <a:br>
              <a:rPr lang="en-US" dirty="0"/>
            </a:br>
            <a:r>
              <a:rPr lang="en-US" dirty="0" smtClean="0"/>
              <a:t>Programming </a:t>
            </a:r>
            <a:r>
              <a:rPr lang="en-US" sz="1200" dirty="0" smtClean="0"/>
              <a:t>(</a:t>
            </a:r>
            <a:r>
              <a:rPr lang="en-US" sz="1200" dirty="0" smtClean="0"/>
              <a:t>continued -6)</a:t>
            </a:r>
            <a:endParaRPr lang="en-US" sz="1200" dirty="0" smtClean="0"/>
          </a:p>
        </p:txBody>
      </p:sp>
      <p:sp>
        <p:nvSpPr>
          <p:cNvPr id="9" name="Content Placeholder 2"/>
          <p:cNvSpPr>
            <a:spLocks noGrp="1"/>
          </p:cNvSpPr>
          <p:nvPr>
            <p:ph idx="1"/>
          </p:nvPr>
        </p:nvSpPr>
        <p:spPr>
          <a:xfrm>
            <a:off x="533400" y="1676400"/>
            <a:ext cx="8077200" cy="4572000"/>
          </a:xfrm>
        </p:spPr>
        <p:txBody>
          <a:bodyPr/>
          <a:lstStyle/>
          <a:p>
            <a:r>
              <a:rPr lang="en-US" dirty="0" smtClean="0"/>
              <a:t>Not </a:t>
            </a:r>
            <a:r>
              <a:rPr lang="en-US" dirty="0" smtClean="0"/>
              <a:t>all objects can receive all events</a:t>
            </a:r>
          </a:p>
          <a:p>
            <a:r>
              <a:rPr lang="en-US" dirty="0" smtClean="0"/>
              <a:t>Event-driven </a:t>
            </a:r>
            <a:r>
              <a:rPr lang="en-US" dirty="0" smtClean="0"/>
              <a:t>programming</a:t>
            </a:r>
          </a:p>
          <a:p>
            <a:pPr lvl="1"/>
            <a:r>
              <a:rPr lang="en-US" dirty="0" smtClean="0"/>
              <a:t>Newer than procedural programming</a:t>
            </a:r>
            <a:endParaRPr lang="en-US" dirty="0" smtClean="0"/>
          </a:p>
          <a:p>
            <a:pPr lvl="1"/>
            <a:r>
              <a:rPr lang="en-US" dirty="0" smtClean="0"/>
              <a:t>But </a:t>
            </a:r>
            <a:r>
              <a:rPr lang="en-US" dirty="0" smtClean="0"/>
              <a:t>uses </a:t>
            </a:r>
            <a:r>
              <a:rPr lang="en-US" dirty="0" smtClean="0"/>
              <a:t>many similar techniques to </a:t>
            </a:r>
            <a:r>
              <a:rPr lang="en-US" dirty="0" smtClean="0"/>
              <a:t>procedural</a:t>
            </a:r>
          </a:p>
          <a:p>
            <a:r>
              <a:rPr lang="en-US" dirty="0" smtClean="0"/>
              <a:t>In object-oriented languages</a:t>
            </a:r>
            <a:r>
              <a:rPr lang="en-US" dirty="0"/>
              <a:t>, the procedural modules that depend on user-initiated </a:t>
            </a:r>
            <a:r>
              <a:rPr lang="en-US" dirty="0" smtClean="0"/>
              <a:t>events are called </a:t>
            </a:r>
            <a:r>
              <a:rPr lang="en-US" b="1" dirty="0" smtClean="0"/>
              <a:t>scripts</a:t>
            </a:r>
            <a:endParaRPr lang="en-US" b="1" dirty="0" smtClean="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503349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User-Initiated Actions and GUI</a:t>
            </a:r>
            <a:br>
              <a:rPr lang="en-US" dirty="0"/>
            </a:br>
            <a:r>
              <a:rPr lang="en-US" dirty="0"/>
              <a:t>Components</a:t>
            </a:r>
            <a:endParaRPr lang="en-US" dirty="0" smtClean="0"/>
          </a:p>
        </p:txBody>
      </p:sp>
      <p:pic>
        <p:nvPicPr>
          <p:cNvPr id="3" name="Picture 2" descr="A partial list of common user-initiated events. Most languages allow you to distinguish between many additional events. For example, you might be able to initiate three different events when (1) a mouse key is pressed, (2) during the time it is held down,&#10;and (3) when it is released." title="Talbe of common user-initiated event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9322" y="1883859"/>
            <a:ext cx="7545355" cy="4040682"/>
          </a:xfrm>
          <a:prstGeom prst="rect">
            <a:avLst/>
          </a:prstGeom>
        </p:spPr>
      </p:pic>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10</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8600041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User-Initiated Actions and GUI</a:t>
            </a:r>
            <a:br>
              <a:rPr lang="en-US" dirty="0"/>
            </a:br>
            <a:r>
              <a:rPr lang="en-US" dirty="0" smtClean="0"/>
              <a:t>Components </a:t>
            </a:r>
            <a:r>
              <a:rPr lang="en-US" sz="1200" dirty="0" smtClean="0"/>
              <a:t>(</a:t>
            </a:r>
            <a:r>
              <a:rPr lang="en-US" sz="1200" dirty="0" smtClean="0"/>
              <a:t>continued -1)</a:t>
            </a:r>
            <a:endParaRPr lang="en-US" sz="1200" dirty="0" smtClean="0"/>
          </a:p>
        </p:txBody>
      </p:sp>
      <p:pic>
        <p:nvPicPr>
          <p:cNvPr id="3" name="Picture 2" descr="This describes some common GUI components such as: Label, Text box, Check box, Option buttons, List box and Button." title="Table of common GUI component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5624" y="1834510"/>
            <a:ext cx="7432751" cy="4114800"/>
          </a:xfrm>
          <a:prstGeom prst="rect">
            <a:avLst/>
          </a:prstGeom>
        </p:spPr>
      </p:pic>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11</a:t>
            </a:fld>
            <a:endParaRPr lang="en-US" dirty="0"/>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9917168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User-Initiated Actions and GUI</a:t>
            </a:r>
            <a:br>
              <a:rPr lang="en-US" dirty="0"/>
            </a:br>
            <a:r>
              <a:rPr lang="en-US" dirty="0" smtClean="0"/>
              <a:t>Components </a:t>
            </a:r>
            <a:r>
              <a:rPr lang="en-US" sz="1200" dirty="0" smtClean="0"/>
              <a:t>(</a:t>
            </a:r>
            <a:r>
              <a:rPr lang="en-US" sz="1200" dirty="0" smtClean="0"/>
              <a:t>continued -2)</a:t>
            </a:r>
            <a:endParaRPr lang="en-US" sz="1200" dirty="0" smtClean="0"/>
          </a:p>
        </p:txBody>
      </p:sp>
      <p:pic>
        <p:nvPicPr>
          <p:cNvPr id="4" name="Picture 3" descr="This shows how the Label, Text box, Check box, Option buttons, List box and Button look on a screen." title="Common GUI component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18103" y="1678718"/>
            <a:ext cx="4707794" cy="4416552"/>
          </a:xfrm>
          <a:prstGeom prst="rect">
            <a:avLst/>
          </a:prstGeom>
        </p:spPr>
      </p:pic>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12</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1514123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13</a:t>
            </a:fld>
            <a:endParaRPr lang="en-US" dirty="0"/>
          </a:p>
        </p:txBody>
      </p:sp>
      <p:sp>
        <p:nvSpPr>
          <p:cNvPr id="8" name="Title 1"/>
          <p:cNvSpPr>
            <a:spLocks noGrp="1"/>
          </p:cNvSpPr>
          <p:nvPr>
            <p:ph type="title"/>
          </p:nvPr>
        </p:nvSpPr>
        <p:spPr>
          <a:xfrm>
            <a:off x="457200" y="274638"/>
            <a:ext cx="8229600" cy="1143000"/>
          </a:xfrm>
        </p:spPr>
        <p:txBody>
          <a:bodyPr/>
          <a:lstStyle/>
          <a:p>
            <a:r>
              <a:rPr lang="en-US" dirty="0"/>
              <a:t>User-Initiated Actions and GUI</a:t>
            </a:r>
            <a:br>
              <a:rPr lang="en-US" dirty="0"/>
            </a:br>
            <a:r>
              <a:rPr lang="en-US" dirty="0"/>
              <a:t>Components </a:t>
            </a:r>
            <a:r>
              <a:rPr lang="en-US" sz="1200" dirty="0"/>
              <a:t>(</a:t>
            </a:r>
            <a:r>
              <a:rPr lang="en-US" sz="1200" dirty="0" smtClean="0"/>
              <a:t>continued -3)</a:t>
            </a:r>
            <a:endParaRPr lang="en-US" sz="1200" dirty="0" smtClean="0"/>
          </a:p>
        </p:txBody>
      </p:sp>
      <p:sp>
        <p:nvSpPr>
          <p:cNvPr id="9" name="Content Placeholder 2"/>
          <p:cNvSpPr>
            <a:spLocks noGrp="1"/>
          </p:cNvSpPr>
          <p:nvPr>
            <p:ph idx="1"/>
          </p:nvPr>
        </p:nvSpPr>
        <p:spPr>
          <a:xfrm>
            <a:off x="533400" y="1676400"/>
            <a:ext cx="8077200" cy="4572000"/>
          </a:xfrm>
        </p:spPr>
        <p:txBody>
          <a:bodyPr/>
          <a:lstStyle/>
          <a:p>
            <a:r>
              <a:rPr lang="en-US" dirty="0" smtClean="0"/>
              <a:t>Do not create the GUI components you need from scratch</a:t>
            </a:r>
          </a:p>
          <a:p>
            <a:pPr lvl="1"/>
            <a:r>
              <a:rPr lang="en-US" dirty="0" smtClean="0"/>
              <a:t>Call prewritten methods that draw the GUI components on the screen for you</a:t>
            </a:r>
          </a:p>
          <a:p>
            <a:r>
              <a:rPr lang="en-US" dirty="0" smtClean="0"/>
              <a:t>Components themselves are constructed using existing classes complete with names, attributes, and methods</a:t>
            </a:r>
          </a:p>
          <a:p>
            <a:r>
              <a:rPr lang="en-US" dirty="0" smtClean="0"/>
              <a:t>Text or graphical environment</a:t>
            </a:r>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75864218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User-Initiated Actions and GUI</a:t>
            </a:r>
            <a:br>
              <a:rPr lang="en-US" dirty="0"/>
            </a:br>
            <a:r>
              <a:rPr lang="en-US" dirty="0"/>
              <a:t>Components </a:t>
            </a:r>
            <a:r>
              <a:rPr lang="en-US" sz="1200" dirty="0"/>
              <a:t>(</a:t>
            </a:r>
            <a:r>
              <a:rPr lang="en-US" sz="1200" dirty="0" smtClean="0"/>
              <a:t>continued -4)</a:t>
            </a:r>
            <a:endParaRPr lang="en-US" sz="1200" dirty="0" smtClean="0"/>
          </a:p>
        </p:txBody>
      </p:sp>
      <p:pic>
        <p:nvPicPr>
          <p:cNvPr id="3" name="Picture 2" descr="The Button class shows three fields and two set methods." title="Button clas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03102" y="1978075"/>
            <a:ext cx="4937796" cy="3817837"/>
          </a:xfrm>
          <a:prstGeom prst="rect">
            <a:avLst/>
          </a:prstGeom>
        </p:spPr>
      </p:pic>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14</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31273071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User-Initiated Actions and GUI</a:t>
            </a:r>
            <a:br>
              <a:rPr lang="en-US" dirty="0"/>
            </a:br>
            <a:r>
              <a:rPr lang="en-US" dirty="0"/>
              <a:t>Components </a:t>
            </a:r>
            <a:r>
              <a:rPr lang="en-US" sz="1200" dirty="0"/>
              <a:t>(</a:t>
            </a:r>
            <a:r>
              <a:rPr lang="en-US" sz="1200" dirty="0" smtClean="0"/>
              <a:t>continued -5)</a:t>
            </a:r>
            <a:endParaRPr lang="en-US" sz="1200" dirty="0" smtClean="0"/>
          </a:p>
        </p:txBody>
      </p:sp>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15</a:t>
            </a:fld>
            <a:endParaRPr lang="en-US" dirty="0"/>
          </a:p>
        </p:txBody>
      </p:sp>
      <p:sp>
        <p:nvSpPr>
          <p:cNvPr id="7" name="Content Placeholder 2"/>
          <p:cNvSpPr>
            <a:spLocks noGrp="1"/>
          </p:cNvSpPr>
          <p:nvPr>
            <p:ph idx="1"/>
          </p:nvPr>
        </p:nvSpPr>
        <p:spPr>
          <a:xfrm>
            <a:off x="533400" y="1676400"/>
            <a:ext cx="8077200" cy="4572000"/>
          </a:xfrm>
        </p:spPr>
        <p:txBody>
          <a:bodyPr/>
          <a:lstStyle/>
          <a:p>
            <a:r>
              <a:rPr lang="en-US" dirty="0"/>
              <a:t>The </a:t>
            </a:r>
            <a:r>
              <a:rPr lang="en-US" dirty="0" err="1"/>
              <a:t>x_position</a:t>
            </a:r>
            <a:r>
              <a:rPr lang="en-US" dirty="0"/>
              <a:t> and </a:t>
            </a:r>
            <a:r>
              <a:rPr lang="en-US" dirty="0" err="1"/>
              <a:t>y_position</a:t>
            </a:r>
            <a:r>
              <a:rPr lang="en-US" dirty="0"/>
              <a:t> of the Button </a:t>
            </a:r>
            <a:r>
              <a:rPr lang="en-US" dirty="0" smtClean="0"/>
              <a:t>object </a:t>
            </a:r>
            <a:r>
              <a:rPr lang="en-US" dirty="0"/>
              <a:t>refer to horizontal </a:t>
            </a:r>
            <a:r>
              <a:rPr lang="en-US" dirty="0" smtClean="0"/>
              <a:t>and vertical </a:t>
            </a:r>
            <a:r>
              <a:rPr lang="en-US" dirty="0"/>
              <a:t>coordinates where the Button appears on </a:t>
            </a:r>
            <a:r>
              <a:rPr lang="en-US" dirty="0" smtClean="0"/>
              <a:t>the screen</a:t>
            </a:r>
          </a:p>
          <a:p>
            <a:r>
              <a:rPr lang="en-US" dirty="0" smtClean="0"/>
              <a:t>A </a:t>
            </a:r>
            <a:r>
              <a:rPr lang="en-US" b="1" dirty="0" smtClean="0"/>
              <a:t>pixel </a:t>
            </a:r>
            <a:r>
              <a:rPr lang="en-US" dirty="0"/>
              <a:t>is one of the tiny dots of light that form a grid on your screen</a:t>
            </a:r>
            <a:endParaRPr lang="en-US" i="1" dirty="0" smtClean="0"/>
          </a:p>
          <a:p>
            <a:r>
              <a:rPr lang="en-US" dirty="0" smtClean="0"/>
              <a:t>Together</a:t>
            </a:r>
            <a:r>
              <a:rPr lang="en-US" dirty="0"/>
              <a:t>, the </a:t>
            </a:r>
            <a:r>
              <a:rPr lang="en-US" i="1" dirty="0"/>
              <a:t>x</a:t>
            </a:r>
            <a:r>
              <a:rPr lang="en-US" dirty="0"/>
              <a:t> and </a:t>
            </a:r>
            <a:r>
              <a:rPr lang="en-US" i="1" dirty="0"/>
              <a:t>y</a:t>
            </a:r>
            <a:r>
              <a:rPr lang="en-US" dirty="0"/>
              <a:t> coordinates locate any specific pixel location on the </a:t>
            </a:r>
            <a:r>
              <a:rPr lang="en-US" dirty="0" smtClean="0"/>
              <a:t>screen</a:t>
            </a:r>
            <a:endParaRPr lang="en-US" dirty="0" smtClean="0"/>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445672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User-Initiated Actions and GUI</a:t>
            </a:r>
            <a:br>
              <a:rPr lang="en-US" dirty="0"/>
            </a:br>
            <a:r>
              <a:rPr lang="en-US" dirty="0"/>
              <a:t>Components </a:t>
            </a:r>
            <a:r>
              <a:rPr lang="en-US" sz="1200" dirty="0"/>
              <a:t>(</a:t>
            </a:r>
            <a:r>
              <a:rPr lang="en-US" sz="1200" dirty="0" smtClean="0"/>
              <a:t>continued -6)</a:t>
            </a:r>
            <a:endParaRPr lang="en-US" sz="1200" dirty="0" smtClean="0"/>
          </a:p>
        </p:txBody>
      </p:sp>
      <p:sp>
        <p:nvSpPr>
          <p:cNvPr id="5" name="Slide Number Placeholder 4"/>
          <p:cNvSpPr>
            <a:spLocks noGrp="1"/>
          </p:cNvSpPr>
          <p:nvPr>
            <p:ph type="sldNum" sz="quarter" idx="10"/>
          </p:nvPr>
        </p:nvSpPr>
        <p:spPr/>
        <p:txBody>
          <a:bodyPr/>
          <a:lstStyle/>
          <a:p>
            <a:pPr>
              <a:defRPr/>
            </a:pPr>
            <a:fld id="{05FF3DDB-446B-4377-9E15-215A09987F85}" type="slidenum">
              <a:rPr lang="en-US"/>
              <a:pPr>
                <a:defRPr/>
              </a:pPr>
              <a:t>16</a:t>
            </a:fld>
            <a:endParaRPr lang="en-US" dirty="0"/>
          </a:p>
        </p:txBody>
      </p:sp>
      <p:sp>
        <p:nvSpPr>
          <p:cNvPr id="7" name="Content Placeholder 2"/>
          <p:cNvSpPr>
            <a:spLocks noGrp="1"/>
          </p:cNvSpPr>
          <p:nvPr>
            <p:ph idx="1"/>
          </p:nvPr>
        </p:nvSpPr>
        <p:spPr>
          <a:xfrm>
            <a:off x="533400" y="1676400"/>
            <a:ext cx="8077200" cy="4572000"/>
          </a:xfrm>
        </p:spPr>
        <p:txBody>
          <a:bodyPr/>
          <a:lstStyle/>
          <a:p>
            <a:r>
              <a:rPr lang="en-US" dirty="0" smtClean="0"/>
              <a:t>Create </a:t>
            </a:r>
            <a:r>
              <a:rPr lang="en-US" dirty="0" smtClean="0"/>
              <a:t>a </a:t>
            </a:r>
            <a:r>
              <a:rPr lang="en-US" dirty="0" smtClean="0">
                <a:latin typeface="Courier New" pitchFamily="49" charset="0"/>
                <a:cs typeface="Courier New" pitchFamily="49" charset="0"/>
              </a:rPr>
              <a:t>Button</a:t>
            </a:r>
            <a:r>
              <a:rPr lang="en-US" dirty="0" smtClean="0">
                <a:latin typeface="+mj-lt"/>
                <a:cs typeface="Courier New" pitchFamily="49" charset="0"/>
              </a:rPr>
              <a:t> </a:t>
            </a:r>
            <a:r>
              <a:rPr lang="en-US" dirty="0" smtClean="0"/>
              <a:t>object</a:t>
            </a:r>
          </a:p>
          <a:p>
            <a:pPr lvl="1"/>
            <a:r>
              <a:rPr lang="en-US" dirty="0" smtClean="0">
                <a:latin typeface="Courier New" pitchFamily="49" charset="0"/>
                <a:cs typeface="Courier New" pitchFamily="49" charset="0"/>
              </a:rPr>
              <a:t>Button myProgramButton</a:t>
            </a:r>
          </a:p>
          <a:p>
            <a:r>
              <a:rPr lang="en-US" dirty="0" smtClean="0"/>
              <a:t>Use </a:t>
            </a:r>
            <a:r>
              <a:rPr lang="en-US" dirty="0" smtClean="0">
                <a:latin typeface="Courier New" pitchFamily="49" charset="0"/>
                <a:cs typeface="Courier New" pitchFamily="49" charset="0"/>
              </a:rPr>
              <a:t>Button</a:t>
            </a:r>
            <a:r>
              <a:rPr lang="en-US" dirty="0" smtClean="0"/>
              <a:t>’s methods</a:t>
            </a:r>
          </a:p>
          <a:p>
            <a:pPr lvl="1"/>
            <a:r>
              <a:rPr lang="en-US" dirty="0" smtClean="0">
                <a:latin typeface="Courier New" pitchFamily="49" charset="0"/>
                <a:cs typeface="Courier New" pitchFamily="49" charset="0"/>
              </a:rPr>
              <a:t>myProgramButton.setText("Click here")</a:t>
            </a:r>
          </a:p>
          <a:p>
            <a:pPr lvl="1"/>
            <a:r>
              <a:rPr lang="en-US" dirty="0" smtClean="0">
                <a:latin typeface="Courier New" pitchFamily="49" charset="0"/>
                <a:cs typeface="Courier New" pitchFamily="49" charset="0"/>
              </a:rPr>
              <a:t>myProgramButton.setPosition(10, 30)</a:t>
            </a:r>
          </a:p>
          <a:p>
            <a:r>
              <a:rPr lang="en-US" dirty="0" smtClean="0"/>
              <a:t>Different GUI classes support different attributes and methods</a:t>
            </a:r>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6083505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304800"/>
            <a:ext cx="8229600" cy="1143000"/>
          </a:xfrm>
        </p:spPr>
        <p:txBody>
          <a:bodyPr/>
          <a:lstStyle/>
          <a:p>
            <a:pPr eaLnBrk="0" hangingPunct="0">
              <a:defRPr/>
            </a:pPr>
            <a:r>
              <a:rPr lang="en-US" dirty="0"/>
              <a:t>Designing Graphical User Interfaces</a:t>
            </a:r>
          </a:p>
        </p:txBody>
      </p:sp>
      <p:sp>
        <p:nvSpPr>
          <p:cNvPr id="5" name="Slide Number Placeholder 4"/>
          <p:cNvSpPr>
            <a:spLocks noGrp="1"/>
          </p:cNvSpPr>
          <p:nvPr>
            <p:ph type="sldNum" sz="quarter" idx="10"/>
          </p:nvPr>
        </p:nvSpPr>
        <p:spPr/>
        <p:txBody>
          <a:bodyPr/>
          <a:lstStyle/>
          <a:p>
            <a:pPr>
              <a:defRPr/>
            </a:pPr>
            <a:fld id="{8322460D-90BC-48C1-BDD5-455A774800A3}" type="slidenum">
              <a:rPr lang="en-US"/>
              <a:pPr>
                <a:defRPr/>
              </a:pPr>
              <a:t>17</a:t>
            </a:fld>
            <a:endParaRPr lang="en-US" dirty="0"/>
          </a:p>
        </p:txBody>
      </p:sp>
      <p:sp>
        <p:nvSpPr>
          <p:cNvPr id="7" name="Content Placeholder 8"/>
          <p:cNvSpPr>
            <a:spLocks noGrp="1"/>
          </p:cNvSpPr>
          <p:nvPr>
            <p:ph idx="1"/>
          </p:nvPr>
        </p:nvSpPr>
        <p:spPr>
          <a:xfrm>
            <a:off x="533400" y="1676400"/>
            <a:ext cx="8077200" cy="4572000"/>
          </a:xfrm>
        </p:spPr>
        <p:txBody>
          <a:bodyPr/>
          <a:lstStyle/>
          <a:p>
            <a:r>
              <a:rPr lang="en-US" dirty="0" smtClean="0"/>
              <a:t>The interface should be natural and predictable</a:t>
            </a:r>
          </a:p>
          <a:p>
            <a:r>
              <a:rPr lang="en-US" dirty="0" smtClean="0"/>
              <a:t>The interface should be attractive, easy to read, and nondistracting</a:t>
            </a:r>
          </a:p>
          <a:p>
            <a:r>
              <a:rPr lang="en-US" dirty="0" smtClean="0"/>
              <a:t>To some extent, it’s helpful if the user can customize your applications</a:t>
            </a:r>
          </a:p>
          <a:p>
            <a:r>
              <a:rPr lang="en-US" dirty="0" smtClean="0"/>
              <a:t>The program should be forgiving</a:t>
            </a:r>
          </a:p>
          <a:p>
            <a:r>
              <a:rPr lang="en-US" dirty="0" smtClean="0"/>
              <a:t>The GUI is only a means to an end</a:t>
            </a:r>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93623268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The Interface Should Be Natural</a:t>
            </a:r>
            <a:br>
              <a:rPr lang="en-US" dirty="0"/>
            </a:br>
            <a:r>
              <a:rPr lang="en-US" dirty="0"/>
              <a:t>and Predictable</a:t>
            </a:r>
            <a:endParaRPr lang="en-US" dirty="0" smtClean="0"/>
          </a:p>
        </p:txBody>
      </p:sp>
      <p:sp>
        <p:nvSpPr>
          <p:cNvPr id="5" name="Slide Number Placeholder 4"/>
          <p:cNvSpPr>
            <a:spLocks noGrp="1"/>
          </p:cNvSpPr>
          <p:nvPr>
            <p:ph type="sldNum" sz="quarter" idx="10"/>
          </p:nvPr>
        </p:nvSpPr>
        <p:spPr/>
        <p:txBody>
          <a:bodyPr/>
          <a:lstStyle/>
          <a:p>
            <a:pPr>
              <a:defRPr/>
            </a:pPr>
            <a:fld id="{8322460D-90BC-48C1-BDD5-455A774800A3}" type="slidenum">
              <a:rPr lang="en-US"/>
              <a:pPr>
                <a:defRPr/>
              </a:pPr>
              <a:t>18</a:t>
            </a:fld>
            <a:endParaRPr lang="en-US" dirty="0"/>
          </a:p>
        </p:txBody>
      </p:sp>
      <p:sp>
        <p:nvSpPr>
          <p:cNvPr id="8" name="Content Placeholder 2"/>
          <p:cNvSpPr>
            <a:spLocks noGrp="1"/>
          </p:cNvSpPr>
          <p:nvPr>
            <p:ph idx="1"/>
          </p:nvPr>
        </p:nvSpPr>
        <p:spPr>
          <a:xfrm>
            <a:off x="533400" y="1676400"/>
            <a:ext cx="8077200" cy="4572000"/>
          </a:xfrm>
        </p:spPr>
        <p:txBody>
          <a:bodyPr/>
          <a:lstStyle/>
          <a:p>
            <a:r>
              <a:rPr lang="en-US" dirty="0" smtClean="0"/>
              <a:t>Represent objects like their real-world counterparts</a:t>
            </a:r>
          </a:p>
          <a:p>
            <a:r>
              <a:rPr lang="en-US" dirty="0" smtClean="0"/>
              <a:t>Actions should be predictable</a:t>
            </a:r>
          </a:p>
          <a:p>
            <a:pPr lvl="1"/>
            <a:r>
              <a:rPr lang="en-US" dirty="0" smtClean="0"/>
              <a:t>Similar to other programs</a:t>
            </a:r>
          </a:p>
          <a:p>
            <a:r>
              <a:rPr lang="en-US" dirty="0" smtClean="0"/>
              <a:t>Be predictable in layout</a:t>
            </a:r>
          </a:p>
          <a:p>
            <a:pPr lvl="1"/>
            <a:r>
              <a:rPr lang="en-US" dirty="0" smtClean="0"/>
              <a:t>Put related items together in proper order</a:t>
            </a:r>
          </a:p>
          <a:p>
            <a:pPr lvl="1"/>
            <a:r>
              <a:rPr lang="en-US" dirty="0" smtClean="0"/>
              <a:t>Example: locate </a:t>
            </a:r>
            <a:r>
              <a:rPr lang="en-US" dirty="0" smtClean="0"/>
              <a:t>menu at </a:t>
            </a:r>
            <a:r>
              <a:rPr lang="en-US" dirty="0" smtClean="0"/>
              <a:t>top</a:t>
            </a:r>
            <a:endParaRPr lang="en-US" dirty="0" smtClean="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5475647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228600"/>
            <a:ext cx="8229600" cy="1143000"/>
          </a:xfrm>
        </p:spPr>
        <p:txBody>
          <a:bodyPr/>
          <a:lstStyle/>
          <a:p>
            <a:r>
              <a:rPr lang="en-US" dirty="0"/>
              <a:t>The Interface Should Be Attractive,</a:t>
            </a:r>
            <a:br>
              <a:rPr lang="en-US" dirty="0"/>
            </a:br>
            <a:r>
              <a:rPr lang="en-US" dirty="0"/>
              <a:t>Easy to Read, and Nondistracting</a:t>
            </a:r>
            <a:endParaRPr lang="en-US" dirty="0" smtClean="0"/>
          </a:p>
        </p:txBody>
      </p:sp>
      <p:sp>
        <p:nvSpPr>
          <p:cNvPr id="5" name="Slide Number Placeholder 4"/>
          <p:cNvSpPr>
            <a:spLocks noGrp="1"/>
          </p:cNvSpPr>
          <p:nvPr>
            <p:ph type="sldNum" sz="quarter" idx="10"/>
          </p:nvPr>
        </p:nvSpPr>
        <p:spPr/>
        <p:txBody>
          <a:bodyPr/>
          <a:lstStyle/>
          <a:p>
            <a:pPr>
              <a:defRPr/>
            </a:pPr>
            <a:fld id="{8322460D-90BC-48C1-BDD5-455A774800A3}" type="slidenum">
              <a:rPr lang="en-US"/>
              <a:pPr>
                <a:defRPr/>
              </a:pPr>
              <a:t>19</a:t>
            </a:fld>
            <a:endParaRPr lang="en-US" dirty="0"/>
          </a:p>
        </p:txBody>
      </p:sp>
      <p:sp>
        <p:nvSpPr>
          <p:cNvPr id="7" name="Content Placeholder 2"/>
          <p:cNvSpPr>
            <a:spLocks noGrp="1"/>
          </p:cNvSpPr>
          <p:nvPr>
            <p:ph idx="1"/>
          </p:nvPr>
        </p:nvSpPr>
        <p:spPr>
          <a:xfrm>
            <a:off x="533400" y="1676400"/>
            <a:ext cx="8077200" cy="4572000"/>
          </a:xfrm>
        </p:spPr>
        <p:txBody>
          <a:bodyPr/>
          <a:lstStyle/>
          <a:p>
            <a:r>
              <a:rPr lang="en-US" dirty="0" smtClean="0"/>
              <a:t>Attractive</a:t>
            </a:r>
          </a:p>
          <a:p>
            <a:pPr lvl="1"/>
            <a:r>
              <a:rPr lang="en-US" dirty="0" smtClean="0"/>
              <a:t>People are more likely to use it</a:t>
            </a:r>
          </a:p>
          <a:p>
            <a:r>
              <a:rPr lang="en-US" dirty="0" smtClean="0"/>
              <a:t>Easy to read</a:t>
            </a:r>
          </a:p>
          <a:p>
            <a:pPr lvl="1"/>
            <a:r>
              <a:rPr lang="en-US" dirty="0" smtClean="0"/>
              <a:t>Less likely to make mistakes</a:t>
            </a:r>
          </a:p>
          <a:p>
            <a:r>
              <a:rPr lang="en-US" sz="2800" dirty="0" smtClean="0"/>
              <a:t>Screen designs should not be distracting</a:t>
            </a:r>
          </a:p>
          <a:p>
            <a:pPr lvl="1"/>
            <a:r>
              <a:rPr lang="en-US" dirty="0" smtClean="0"/>
              <a:t>Fancy fonts and weird color combinations are the signs of amateur designers</a:t>
            </a:r>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9095543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57200" y="228600"/>
            <a:ext cx="8229600" cy="1143000"/>
          </a:xfrm>
        </p:spPr>
        <p:txBody>
          <a:bodyPr/>
          <a:lstStyle/>
          <a:p>
            <a:r>
              <a:rPr lang="en-US" sz="4000" dirty="0"/>
              <a:t>To Some Extent, It’s Helpful If the User Can Customize Your Applications</a:t>
            </a:r>
            <a:endParaRPr lang="en-US" sz="4000" dirty="0" smtClean="0"/>
          </a:p>
        </p:txBody>
      </p:sp>
      <p:sp>
        <p:nvSpPr>
          <p:cNvPr id="5" name="Slide Number Placeholder 4"/>
          <p:cNvSpPr>
            <a:spLocks noGrp="1"/>
          </p:cNvSpPr>
          <p:nvPr>
            <p:ph type="sldNum" sz="quarter" idx="10"/>
          </p:nvPr>
        </p:nvSpPr>
        <p:spPr/>
        <p:txBody>
          <a:bodyPr/>
          <a:lstStyle/>
          <a:p>
            <a:pPr>
              <a:defRPr/>
            </a:pPr>
            <a:fld id="{228E112E-0EE9-4EBD-95CB-B5BDEC86FD54}" type="slidenum">
              <a:rPr lang="en-US"/>
              <a:pPr>
                <a:defRPr/>
              </a:pPr>
              <a:t>20</a:t>
            </a:fld>
            <a:endParaRPr lang="en-US" dirty="0"/>
          </a:p>
        </p:txBody>
      </p:sp>
      <p:sp>
        <p:nvSpPr>
          <p:cNvPr id="8" name="Content Placeholder 2"/>
          <p:cNvSpPr>
            <a:spLocks noGrp="1"/>
          </p:cNvSpPr>
          <p:nvPr>
            <p:ph idx="1"/>
          </p:nvPr>
        </p:nvSpPr>
        <p:spPr>
          <a:xfrm>
            <a:off x="533400" y="1676400"/>
            <a:ext cx="8077200" cy="3733800"/>
          </a:xfrm>
        </p:spPr>
        <p:txBody>
          <a:bodyPr/>
          <a:lstStyle/>
          <a:p>
            <a:r>
              <a:rPr lang="en-US" dirty="0" smtClean="0"/>
              <a:t>It’s helpful if users can position </a:t>
            </a:r>
            <a:r>
              <a:rPr lang="en-US" dirty="0" smtClean="0"/>
              <a:t>components </a:t>
            </a:r>
            <a:r>
              <a:rPr lang="en-US" dirty="0" smtClean="0"/>
              <a:t>in the order </a:t>
            </a:r>
            <a:r>
              <a:rPr lang="en-US" dirty="0" smtClean="0"/>
              <a:t>that’s easiest </a:t>
            </a:r>
            <a:r>
              <a:rPr lang="en-US" dirty="0" smtClean="0"/>
              <a:t>for them </a:t>
            </a:r>
            <a:endParaRPr lang="en-US" dirty="0" smtClean="0"/>
          </a:p>
          <a:p>
            <a:r>
              <a:rPr lang="en-US" dirty="0" smtClean="0"/>
              <a:t>Users </a:t>
            </a:r>
            <a:r>
              <a:rPr lang="en-US" dirty="0" smtClean="0"/>
              <a:t>appreciate being able to change features like color schemes</a:t>
            </a:r>
          </a:p>
          <a:p>
            <a:r>
              <a:rPr lang="en-US" b="1" dirty="0" smtClean="0"/>
              <a:t>Accessibility</a:t>
            </a:r>
          </a:p>
          <a:p>
            <a:pPr lvl="1"/>
            <a:r>
              <a:rPr lang="en-US" dirty="0" smtClean="0"/>
              <a:t>Screen design issues that make programs easier to use for people with physical </a:t>
            </a:r>
            <a:r>
              <a:rPr lang="en-US" dirty="0" smtClean="0"/>
              <a:t>limitations</a:t>
            </a:r>
          </a:p>
          <a:p>
            <a:r>
              <a:rPr lang="en-US" dirty="0" smtClean="0"/>
              <a:t>Possibly allow for choice of language and currency</a:t>
            </a:r>
            <a:endParaRPr lang="en-US" dirty="0" smtClean="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The Program Should Be Forgiving</a:t>
            </a:r>
            <a:endParaRPr lang="en-US" dirty="0" smtClean="0"/>
          </a:p>
        </p:txBody>
      </p:sp>
      <p:sp>
        <p:nvSpPr>
          <p:cNvPr id="5" name="Slide Number Placeholder 4"/>
          <p:cNvSpPr>
            <a:spLocks noGrp="1"/>
          </p:cNvSpPr>
          <p:nvPr>
            <p:ph type="sldNum" sz="quarter" idx="10"/>
          </p:nvPr>
        </p:nvSpPr>
        <p:spPr/>
        <p:txBody>
          <a:bodyPr/>
          <a:lstStyle/>
          <a:p>
            <a:pPr>
              <a:defRPr/>
            </a:pPr>
            <a:fld id="{CE52F616-281A-422F-9E0A-E5698A0F5EF9}" type="slidenum">
              <a:rPr lang="en-US"/>
              <a:pPr>
                <a:defRPr/>
              </a:pPr>
              <a:t>21</a:t>
            </a:fld>
            <a:endParaRPr lang="en-US" dirty="0"/>
          </a:p>
        </p:txBody>
      </p:sp>
      <p:sp>
        <p:nvSpPr>
          <p:cNvPr id="7" name="Content Placeholder 2"/>
          <p:cNvSpPr>
            <a:spLocks noGrp="1"/>
          </p:cNvSpPr>
          <p:nvPr>
            <p:ph idx="1"/>
          </p:nvPr>
        </p:nvSpPr>
        <p:spPr>
          <a:xfrm>
            <a:off x="533400" y="1676400"/>
            <a:ext cx="8077200" cy="4572000"/>
          </a:xfrm>
        </p:spPr>
        <p:txBody>
          <a:bodyPr/>
          <a:lstStyle/>
          <a:p>
            <a:r>
              <a:rPr lang="en-US" dirty="0" smtClean="0"/>
              <a:t>Always provide an escape route </a:t>
            </a:r>
          </a:p>
          <a:p>
            <a:pPr lvl="1"/>
            <a:r>
              <a:rPr lang="en-US" dirty="0" smtClean="0"/>
              <a:t>Accommodate users who make bad choices or change their minds</a:t>
            </a:r>
          </a:p>
          <a:p>
            <a:pPr lvl="1"/>
            <a:r>
              <a:rPr lang="en-US" dirty="0" smtClean="0"/>
              <a:t>Back button or functional Escape </a:t>
            </a:r>
            <a:r>
              <a:rPr lang="en-US" dirty="0" smtClean="0"/>
              <a:t>key</a:t>
            </a:r>
          </a:p>
          <a:p>
            <a:pPr lvl="1"/>
            <a:r>
              <a:rPr lang="en-US" dirty="0" smtClean="0"/>
              <a:t>Option to revert </a:t>
            </a:r>
            <a:r>
              <a:rPr lang="en-US" dirty="0"/>
              <a:t>to the default settings</a:t>
            </a:r>
            <a:endParaRPr lang="en-US" dirty="0" smtClean="0"/>
          </a:p>
          <a:p>
            <a:pPr lvl="1"/>
            <a:r>
              <a:rPr lang="en-US" dirty="0" smtClean="0"/>
              <a:t>Allow users to perform tasks in a variety of ways:</a:t>
            </a:r>
          </a:p>
          <a:p>
            <a:pPr lvl="2"/>
            <a:r>
              <a:rPr lang="en-US" dirty="0" smtClean="0"/>
              <a:t>Mouse </a:t>
            </a:r>
            <a:r>
              <a:rPr lang="en-US" dirty="0" smtClean="0"/>
              <a:t>click</a:t>
            </a:r>
          </a:p>
          <a:p>
            <a:pPr lvl="2"/>
            <a:r>
              <a:rPr lang="en-US" dirty="0" smtClean="0"/>
              <a:t>Touch</a:t>
            </a:r>
            <a:endParaRPr lang="en-US" dirty="0" smtClean="0"/>
          </a:p>
          <a:p>
            <a:pPr lvl="2"/>
            <a:r>
              <a:rPr lang="en-US" dirty="0" smtClean="0"/>
              <a:t>Keyboard shortcut</a:t>
            </a:r>
          </a:p>
          <a:p>
            <a:pPr lvl="2"/>
            <a:r>
              <a:rPr lang="en-US" dirty="0" smtClean="0"/>
              <a:t>Menu item</a:t>
            </a:r>
          </a:p>
          <a:p>
            <a:pPr lvl="2"/>
            <a:r>
              <a:rPr lang="en-US" dirty="0" smtClean="0"/>
              <a:t>Disability options</a:t>
            </a:r>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The GUI Is Only a Means to an End</a:t>
            </a:r>
            <a:endParaRPr lang="en-US" dirty="0" smtClean="0"/>
          </a:p>
        </p:txBody>
      </p:sp>
      <p:sp>
        <p:nvSpPr>
          <p:cNvPr id="5" name="Slide Number Placeholder 4"/>
          <p:cNvSpPr>
            <a:spLocks noGrp="1"/>
          </p:cNvSpPr>
          <p:nvPr>
            <p:ph type="sldNum" sz="quarter" idx="10"/>
          </p:nvPr>
        </p:nvSpPr>
        <p:spPr/>
        <p:txBody>
          <a:bodyPr/>
          <a:lstStyle/>
          <a:p>
            <a:pPr>
              <a:defRPr/>
            </a:pPr>
            <a:fld id="{CE52F616-281A-422F-9E0A-E5698A0F5EF9}" type="slidenum">
              <a:rPr lang="en-US"/>
              <a:pPr>
                <a:defRPr/>
              </a:pPr>
              <a:t>22</a:t>
            </a:fld>
            <a:endParaRPr lang="en-US" dirty="0"/>
          </a:p>
        </p:txBody>
      </p:sp>
      <p:sp>
        <p:nvSpPr>
          <p:cNvPr id="7" name="Content Placeholder 2"/>
          <p:cNvSpPr>
            <a:spLocks noGrp="1"/>
          </p:cNvSpPr>
          <p:nvPr>
            <p:ph idx="1"/>
          </p:nvPr>
        </p:nvSpPr>
        <p:spPr>
          <a:xfrm>
            <a:off x="533400" y="1676400"/>
            <a:ext cx="8077200" cy="4572000"/>
          </a:xfrm>
        </p:spPr>
        <p:txBody>
          <a:bodyPr/>
          <a:lstStyle/>
          <a:p>
            <a:r>
              <a:rPr lang="en-US" dirty="0" smtClean="0"/>
              <a:t>The GUI is only an interface</a:t>
            </a:r>
          </a:p>
          <a:p>
            <a:r>
              <a:rPr lang="en-US" dirty="0" smtClean="0"/>
              <a:t>The point of a graphical interface is to help people be more productive</a:t>
            </a:r>
          </a:p>
          <a:p>
            <a:r>
              <a:rPr lang="en-US" dirty="0" smtClean="0"/>
              <a:t>The real work of any GUI program is done after the user clicks a button or makes a list box selection</a:t>
            </a:r>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9731098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smtClean="0"/>
              <a:t>Developing an Event-Driven </a:t>
            </a:r>
            <a:r>
              <a:rPr lang="en-US" dirty="0"/>
              <a:t>Application</a:t>
            </a:r>
            <a:endParaRPr lang="en-US" dirty="0" smtClean="0"/>
          </a:p>
        </p:txBody>
      </p:sp>
      <p:sp>
        <p:nvSpPr>
          <p:cNvPr id="5" name="Slide Number Placeholder 4"/>
          <p:cNvSpPr>
            <a:spLocks noGrp="1"/>
          </p:cNvSpPr>
          <p:nvPr>
            <p:ph type="sldNum" sz="quarter" idx="10"/>
          </p:nvPr>
        </p:nvSpPr>
        <p:spPr/>
        <p:txBody>
          <a:bodyPr/>
          <a:lstStyle/>
          <a:p>
            <a:pPr>
              <a:defRPr/>
            </a:pPr>
            <a:fld id="{CE52F616-281A-422F-9E0A-E5698A0F5EF9}" type="slidenum">
              <a:rPr lang="en-US"/>
              <a:pPr>
                <a:defRPr/>
              </a:pPr>
              <a:t>23</a:t>
            </a:fld>
            <a:endParaRPr lang="en-US" dirty="0"/>
          </a:p>
        </p:txBody>
      </p:sp>
      <p:sp>
        <p:nvSpPr>
          <p:cNvPr id="8" name="Content Placeholder 8"/>
          <p:cNvSpPr>
            <a:spLocks noGrp="1"/>
          </p:cNvSpPr>
          <p:nvPr>
            <p:ph idx="1"/>
          </p:nvPr>
        </p:nvSpPr>
        <p:spPr>
          <a:xfrm>
            <a:off x="533400" y="1676400"/>
            <a:ext cx="8077200" cy="4572000"/>
          </a:xfrm>
        </p:spPr>
        <p:txBody>
          <a:bodyPr/>
          <a:lstStyle/>
          <a:p>
            <a:r>
              <a:rPr lang="en-US" dirty="0" smtClean="0"/>
              <a:t>Steps to developing a </a:t>
            </a:r>
            <a:r>
              <a:rPr lang="en-US" dirty="0" smtClean="0"/>
              <a:t>procedural computer </a:t>
            </a:r>
            <a:r>
              <a:rPr lang="en-US" dirty="0" smtClean="0"/>
              <a:t>program</a:t>
            </a:r>
          </a:p>
          <a:p>
            <a:pPr lvl="1">
              <a:buFontTx/>
              <a:buNone/>
            </a:pPr>
            <a:r>
              <a:rPr lang="en-US" dirty="0" smtClean="0"/>
              <a:t>1. Understanding the problem</a:t>
            </a:r>
          </a:p>
          <a:p>
            <a:pPr lvl="1">
              <a:buFontTx/>
              <a:buNone/>
            </a:pPr>
            <a:r>
              <a:rPr lang="en-US" dirty="0" smtClean="0"/>
              <a:t>2. Planning the logic</a:t>
            </a:r>
          </a:p>
          <a:p>
            <a:pPr lvl="2">
              <a:buFontTx/>
              <a:buNone/>
              <a:defRPr/>
            </a:pPr>
            <a:r>
              <a:rPr lang="en-US" dirty="0"/>
              <a:t>2a. Creating </a:t>
            </a:r>
            <a:r>
              <a:rPr lang="en-US" dirty="0" smtClean="0"/>
              <a:t>storyboards</a:t>
            </a:r>
          </a:p>
          <a:p>
            <a:pPr lvl="2">
              <a:buFontTx/>
              <a:buNone/>
              <a:defRPr/>
            </a:pPr>
            <a:r>
              <a:rPr lang="en-US" dirty="0" smtClean="0"/>
              <a:t>2b</a:t>
            </a:r>
            <a:r>
              <a:rPr lang="en-US" dirty="0"/>
              <a:t>. Defining the objects</a:t>
            </a:r>
          </a:p>
          <a:p>
            <a:pPr marL="1374775" lvl="2" indent="-517525">
              <a:buFontTx/>
              <a:buNone/>
              <a:tabLst>
                <a:tab pos="914400" algn="l"/>
              </a:tabLst>
              <a:defRPr/>
            </a:pPr>
            <a:r>
              <a:rPr lang="en-US" dirty="0" smtClean="0"/>
              <a:t> 2c</a:t>
            </a:r>
            <a:r>
              <a:rPr lang="en-US" dirty="0"/>
              <a:t>. Defining the connections between the screens the user will see</a:t>
            </a:r>
          </a:p>
          <a:p>
            <a:pPr lvl="1">
              <a:buFontTx/>
              <a:buNone/>
            </a:pPr>
            <a:r>
              <a:rPr lang="en-US" dirty="0" smtClean="0"/>
              <a:t>3. Coding the program</a:t>
            </a:r>
          </a:p>
          <a:p>
            <a:pPr lvl="1">
              <a:buFontTx/>
              <a:buNone/>
            </a:pPr>
            <a:r>
              <a:rPr lang="en-US" dirty="0" smtClean="0"/>
              <a:t>4. Translating the program into machine language</a:t>
            </a:r>
          </a:p>
          <a:p>
            <a:pPr lvl="1">
              <a:buFontTx/>
              <a:buNone/>
            </a:pPr>
            <a:r>
              <a:rPr lang="en-US" dirty="0" smtClean="0"/>
              <a:t>5. Testing the program</a:t>
            </a:r>
          </a:p>
          <a:p>
            <a:pPr lvl="1">
              <a:buFontTx/>
              <a:buNone/>
            </a:pPr>
            <a:r>
              <a:rPr lang="en-US" dirty="0" smtClean="0"/>
              <a:t>6. Putting the program into production</a:t>
            </a:r>
          </a:p>
          <a:p>
            <a:pPr lvl="1">
              <a:buFontTx/>
              <a:buNone/>
            </a:pPr>
            <a:r>
              <a:rPr lang="en-US" dirty="0" smtClean="0"/>
              <a:t>7. Maintaining the program</a:t>
            </a:r>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5068524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152400" y="228600"/>
            <a:ext cx="8763000" cy="1143000"/>
          </a:xfrm>
        </p:spPr>
        <p:txBody>
          <a:bodyPr/>
          <a:lstStyle/>
          <a:p>
            <a:r>
              <a:rPr lang="en-US" dirty="0" smtClean="0"/>
              <a:t>Developing </a:t>
            </a:r>
            <a:r>
              <a:rPr lang="en-US" dirty="0"/>
              <a:t>an</a:t>
            </a:r>
            <a:br>
              <a:rPr lang="en-US" dirty="0"/>
            </a:br>
            <a:r>
              <a:rPr lang="en-US" dirty="0"/>
              <a:t>Event-Driven Application </a:t>
            </a:r>
            <a:r>
              <a:rPr lang="en-US" sz="1200" dirty="0"/>
              <a:t>(continued)</a:t>
            </a:r>
            <a:endParaRPr lang="en-US" sz="1200" dirty="0" smtClean="0"/>
          </a:p>
        </p:txBody>
      </p:sp>
      <p:pic>
        <p:nvPicPr>
          <p:cNvPr id="3" name="Picture 2" descr="Insurance premiums based on a policy type. First is the insurance health or auto. Then the user's age, driving record, and whether they smoke." title="Insurance premiums based on customer characteristic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1" y="2514599"/>
            <a:ext cx="8229600" cy="2128431"/>
          </a:xfrm>
          <a:prstGeom prst="rect">
            <a:avLst/>
          </a:prstGeom>
        </p:spPr>
      </p:pic>
      <p:sp>
        <p:nvSpPr>
          <p:cNvPr id="5" name="Slide Number Placeholder 4"/>
          <p:cNvSpPr>
            <a:spLocks noGrp="1"/>
          </p:cNvSpPr>
          <p:nvPr>
            <p:ph type="sldNum" sz="quarter" idx="10"/>
          </p:nvPr>
        </p:nvSpPr>
        <p:spPr/>
        <p:txBody>
          <a:bodyPr/>
          <a:lstStyle/>
          <a:p>
            <a:pPr>
              <a:defRPr/>
            </a:pPr>
            <a:fld id="{CE52F616-281A-422F-9E0A-E5698A0F5EF9}" type="slidenum">
              <a:rPr lang="en-US"/>
              <a:pPr>
                <a:defRPr/>
              </a:pPr>
              <a:t>24</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059016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smtClean="0"/>
              <a:t>Creating Wireframes</a:t>
            </a:r>
          </a:p>
        </p:txBody>
      </p:sp>
      <p:sp>
        <p:nvSpPr>
          <p:cNvPr id="5" name="Slide Number Placeholder 4"/>
          <p:cNvSpPr>
            <a:spLocks noGrp="1"/>
          </p:cNvSpPr>
          <p:nvPr>
            <p:ph type="sldNum" sz="quarter" idx="10"/>
          </p:nvPr>
        </p:nvSpPr>
        <p:spPr/>
        <p:txBody>
          <a:bodyPr/>
          <a:lstStyle/>
          <a:p>
            <a:pPr>
              <a:defRPr/>
            </a:pPr>
            <a:fld id="{CE52F616-281A-422F-9E0A-E5698A0F5EF9}" type="slidenum">
              <a:rPr lang="en-US"/>
              <a:pPr>
                <a:defRPr/>
              </a:pPr>
              <a:t>25</a:t>
            </a:fld>
            <a:endParaRPr lang="en-US" dirty="0"/>
          </a:p>
        </p:txBody>
      </p:sp>
      <p:sp>
        <p:nvSpPr>
          <p:cNvPr id="9" name="Content Placeholder 2"/>
          <p:cNvSpPr>
            <a:spLocks noGrp="1"/>
          </p:cNvSpPr>
          <p:nvPr>
            <p:ph idx="1"/>
          </p:nvPr>
        </p:nvSpPr>
        <p:spPr>
          <a:xfrm>
            <a:off x="533400" y="1676400"/>
            <a:ext cx="8077200" cy="4572000"/>
          </a:xfrm>
        </p:spPr>
        <p:txBody>
          <a:bodyPr/>
          <a:lstStyle/>
          <a:p>
            <a:r>
              <a:rPr lang="en-US" b="1" dirty="0" smtClean="0"/>
              <a:t>Wireframe</a:t>
            </a:r>
          </a:p>
          <a:p>
            <a:pPr lvl="1"/>
            <a:r>
              <a:rPr lang="en-US" dirty="0" smtClean="0"/>
              <a:t>A picture or sketch of a screen the user will see when running a program</a:t>
            </a:r>
          </a:p>
          <a:p>
            <a:pPr lvl="1"/>
            <a:r>
              <a:rPr lang="en-US" dirty="0" smtClean="0"/>
              <a:t>Also called a </a:t>
            </a:r>
            <a:r>
              <a:rPr lang="en-US" b="1" dirty="0" smtClean="0"/>
              <a:t>page schematic </a:t>
            </a:r>
            <a:r>
              <a:rPr lang="en-US" dirty="0" smtClean="0"/>
              <a:t>or </a:t>
            </a:r>
            <a:r>
              <a:rPr lang="en-US" b="1" dirty="0" smtClean="0"/>
              <a:t>screen blueprint</a:t>
            </a:r>
          </a:p>
          <a:p>
            <a:pPr lvl="1"/>
            <a:r>
              <a:rPr lang="en-US" dirty="0"/>
              <a:t>Can be pencil sketches or produced by software </a:t>
            </a:r>
            <a:r>
              <a:rPr lang="en-US" dirty="0" smtClean="0"/>
              <a:t>applications</a:t>
            </a:r>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57966816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smtClean="0"/>
              <a:t>Creating Storyboards</a:t>
            </a:r>
          </a:p>
        </p:txBody>
      </p:sp>
      <p:sp>
        <p:nvSpPr>
          <p:cNvPr id="5" name="Slide Number Placeholder 4"/>
          <p:cNvSpPr>
            <a:spLocks noGrp="1"/>
          </p:cNvSpPr>
          <p:nvPr>
            <p:ph type="sldNum" sz="quarter" idx="10"/>
          </p:nvPr>
        </p:nvSpPr>
        <p:spPr/>
        <p:txBody>
          <a:bodyPr/>
          <a:lstStyle/>
          <a:p>
            <a:pPr>
              <a:defRPr/>
            </a:pPr>
            <a:fld id="{CE52F616-281A-422F-9E0A-E5698A0F5EF9}" type="slidenum">
              <a:rPr lang="en-US"/>
              <a:pPr>
                <a:defRPr/>
              </a:pPr>
              <a:t>26</a:t>
            </a:fld>
            <a:endParaRPr lang="en-US" dirty="0"/>
          </a:p>
        </p:txBody>
      </p:sp>
      <p:sp>
        <p:nvSpPr>
          <p:cNvPr id="9" name="Content Placeholder 2"/>
          <p:cNvSpPr>
            <a:spLocks noGrp="1"/>
          </p:cNvSpPr>
          <p:nvPr>
            <p:ph idx="1"/>
          </p:nvPr>
        </p:nvSpPr>
        <p:spPr>
          <a:xfrm>
            <a:off x="533400" y="1676400"/>
            <a:ext cx="8077200" cy="4572000"/>
          </a:xfrm>
        </p:spPr>
        <p:txBody>
          <a:bodyPr/>
          <a:lstStyle/>
          <a:p>
            <a:r>
              <a:rPr lang="en-US" b="1" dirty="0" smtClean="0"/>
              <a:t>Storyboard </a:t>
            </a:r>
          </a:p>
          <a:p>
            <a:pPr lvl="1"/>
            <a:r>
              <a:rPr lang="en-US" dirty="0" smtClean="0"/>
              <a:t>Contains a series of wireframes that represent a user’s experience with the proposed software</a:t>
            </a:r>
          </a:p>
          <a:p>
            <a:r>
              <a:rPr lang="en-US" dirty="0" smtClean="0"/>
              <a:t>GUI storyboards</a:t>
            </a:r>
          </a:p>
          <a:p>
            <a:pPr lvl="1"/>
            <a:r>
              <a:rPr lang="en-US" dirty="0" smtClean="0"/>
              <a:t>Represent “snapshot” views of the screens the user will encounter during the run of a program</a:t>
            </a:r>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8365502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a:t>Creating Storyboards </a:t>
            </a:r>
            <a:r>
              <a:rPr lang="en-US" sz="1200" dirty="0"/>
              <a:t>(continued)</a:t>
            </a:r>
            <a:endParaRPr lang="en-US" sz="1200" dirty="0" smtClean="0"/>
          </a:p>
        </p:txBody>
      </p:sp>
      <p:pic>
        <p:nvPicPr>
          <p:cNvPr id="3" name="Picture 2" descr="Two wireframes for the program that determines insurance premiums. They represent the introductory screen, at which the user selects a premium type and answers questions, and the final screen, which displays the semiannual premium." title="Storyboard for the insurance program"/>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4599" y="1765941"/>
            <a:ext cx="7794801" cy="4217526"/>
          </a:xfrm>
          <a:prstGeom prst="rect">
            <a:avLst/>
          </a:prstGeom>
        </p:spPr>
      </p:pic>
      <p:sp>
        <p:nvSpPr>
          <p:cNvPr id="5" name="Slide Number Placeholder 4"/>
          <p:cNvSpPr>
            <a:spLocks noGrp="1"/>
          </p:cNvSpPr>
          <p:nvPr>
            <p:ph type="sldNum" sz="quarter" idx="10"/>
          </p:nvPr>
        </p:nvSpPr>
        <p:spPr/>
        <p:txBody>
          <a:bodyPr/>
          <a:lstStyle/>
          <a:p>
            <a:pPr>
              <a:defRPr/>
            </a:pPr>
            <a:fld id="{CE52F616-281A-422F-9E0A-E5698A0F5EF9}" type="slidenum">
              <a:rPr lang="en-US"/>
              <a:pPr>
                <a:defRPr/>
              </a:pPr>
              <a:t>27</a:t>
            </a:fld>
            <a:endParaRPr lang="en-US" dirty="0"/>
          </a:p>
        </p:txBody>
      </p:sp>
      <p:sp>
        <p:nvSpPr>
          <p:cNvPr id="9" name="Footer Placeholder 8"/>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413574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57200" y="274638"/>
            <a:ext cx="8229600" cy="1143000"/>
          </a:xfrm>
        </p:spPr>
        <p:txBody>
          <a:bodyPr/>
          <a:lstStyle/>
          <a:p>
            <a:r>
              <a:rPr lang="en-US" dirty="0"/>
              <a:t>Defining the </a:t>
            </a:r>
            <a:r>
              <a:rPr lang="en-US" dirty="0" smtClean="0"/>
              <a:t>Storyboard </a:t>
            </a:r>
            <a:r>
              <a:rPr lang="en-US" dirty="0"/>
              <a:t>Objects</a:t>
            </a:r>
            <a:br>
              <a:rPr lang="en-US" dirty="0"/>
            </a:br>
            <a:r>
              <a:rPr lang="en-US" dirty="0"/>
              <a:t>in an Object Dictionary</a:t>
            </a:r>
            <a:endParaRPr lang="en-US" dirty="0" smtClean="0"/>
          </a:p>
        </p:txBody>
      </p:sp>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28</a:t>
            </a:fld>
            <a:endParaRPr lang="en-US" dirty="0"/>
          </a:p>
        </p:txBody>
      </p:sp>
      <p:sp>
        <p:nvSpPr>
          <p:cNvPr id="6" name="Content Placeholder 2"/>
          <p:cNvSpPr txBox="1">
            <a:spLocks/>
          </p:cNvSpPr>
          <p:nvPr/>
        </p:nvSpPr>
        <p:spPr>
          <a:xfrm>
            <a:off x="533400" y="1676400"/>
            <a:ext cx="8077200" cy="4572000"/>
          </a:xfrm>
          <a:prstGeom prst="rect">
            <a:avLst/>
          </a:prstGeom>
        </p:spPr>
        <p:txBody>
          <a:bodyPr/>
          <a:lst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An event-driven program may contain dozens or even hundreds of objects</a:t>
            </a:r>
          </a:p>
          <a:p>
            <a:r>
              <a:rPr lang="en-US" b="1" dirty="0" smtClean="0"/>
              <a:t>Object dictionary</a:t>
            </a:r>
          </a:p>
          <a:p>
            <a:pPr lvl="1"/>
            <a:r>
              <a:rPr lang="en-US" dirty="0" smtClean="0"/>
              <a:t>A list of the objects used in a program</a:t>
            </a:r>
          </a:p>
          <a:p>
            <a:pPr lvl="1"/>
            <a:r>
              <a:rPr lang="en-US" dirty="0" smtClean="0"/>
              <a:t>Includes which screens they are used on and whether any code, or script, is associated with them</a:t>
            </a:r>
          </a:p>
        </p:txBody>
      </p:sp>
      <p:sp>
        <p:nvSpPr>
          <p:cNvPr id="9" name="Footer Placeholder 8"/>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4963430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57200" y="274638"/>
            <a:ext cx="8229600" cy="1143000"/>
          </a:xfrm>
        </p:spPr>
        <p:txBody>
          <a:bodyPr/>
          <a:lstStyle/>
          <a:p>
            <a:r>
              <a:rPr lang="en-US" dirty="0"/>
              <a:t>Defining the </a:t>
            </a:r>
            <a:r>
              <a:rPr lang="en-US" dirty="0" smtClean="0"/>
              <a:t>Storyboard </a:t>
            </a:r>
            <a:r>
              <a:rPr lang="en-US" dirty="0"/>
              <a:t>Objects</a:t>
            </a:r>
            <a:br>
              <a:rPr lang="en-US" dirty="0"/>
            </a:br>
            <a:r>
              <a:rPr lang="en-US" dirty="0"/>
              <a:t>in an Object </a:t>
            </a:r>
            <a:r>
              <a:rPr lang="en-US" dirty="0" smtClean="0"/>
              <a:t>Dictionary </a:t>
            </a:r>
            <a:r>
              <a:rPr lang="en-US" sz="1200" dirty="0" smtClean="0"/>
              <a:t>(continued)</a:t>
            </a:r>
          </a:p>
        </p:txBody>
      </p:sp>
      <p:pic>
        <p:nvPicPr>
          <p:cNvPr id="2" name="Picture 1" descr="The type and name of each object to be placed on a screen are listed in the columns on the left. The&#10;third column shows the screen number on which the object appears. The fourth column&#10;names any variables that are affected by an action on the object. The last column indicates whether any code or script is associated with the object." title="Object dictionary for insurance premium program"/>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70824" y="1563624"/>
            <a:ext cx="6202351" cy="4792726"/>
          </a:xfrm>
          <a:prstGeom prst="rect">
            <a:avLst/>
          </a:prstGeom>
        </p:spPr>
      </p:pic>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29</a:t>
            </a:fld>
            <a:endParaRPr lang="en-US" dirty="0"/>
          </a:p>
        </p:txBody>
      </p:sp>
      <p:sp>
        <p:nvSpPr>
          <p:cNvPr id="11" name="Footer Placeholder 10"/>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425174712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57200" y="274638"/>
            <a:ext cx="8229600" cy="1143000"/>
          </a:xfrm>
        </p:spPr>
        <p:txBody>
          <a:bodyPr/>
          <a:lstStyle/>
          <a:p>
            <a:r>
              <a:rPr lang="en-US" dirty="0"/>
              <a:t>Defining Connections </a:t>
            </a:r>
            <a:r>
              <a:rPr lang="en-US" dirty="0" smtClean="0"/>
              <a:t>Between</a:t>
            </a:r>
            <a:r>
              <a:rPr lang="en-US" dirty="0"/>
              <a:t/>
            </a:r>
            <a:br>
              <a:rPr lang="en-US" dirty="0"/>
            </a:br>
            <a:r>
              <a:rPr lang="en-US" dirty="0"/>
              <a:t>the User Screens</a:t>
            </a:r>
            <a:endParaRPr lang="en-US" dirty="0" smtClean="0"/>
          </a:p>
        </p:txBody>
      </p:sp>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30</a:t>
            </a:fld>
            <a:endParaRPr lang="en-US" dirty="0"/>
          </a:p>
        </p:txBody>
      </p:sp>
      <p:sp>
        <p:nvSpPr>
          <p:cNvPr id="9" name="Content Placeholder 2"/>
          <p:cNvSpPr txBox="1">
            <a:spLocks/>
          </p:cNvSpPr>
          <p:nvPr/>
        </p:nvSpPr>
        <p:spPr>
          <a:xfrm>
            <a:off x="533400" y="1676400"/>
            <a:ext cx="8077200" cy="4572000"/>
          </a:xfrm>
          <a:prstGeom prst="rect">
            <a:avLst/>
          </a:prstGeom>
        </p:spPr>
        <p:txBody>
          <a:bodyPr/>
          <a:lst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Draw the connections between the screens to show how they interact</a:t>
            </a:r>
          </a:p>
          <a:p>
            <a:r>
              <a:rPr lang="en-US" b="1" dirty="0" smtClean="0"/>
              <a:t>Interactivity diagram</a:t>
            </a:r>
          </a:p>
          <a:p>
            <a:pPr lvl="1"/>
            <a:r>
              <a:rPr lang="en-US" dirty="0" smtClean="0"/>
              <a:t>Shows the relationship between screens in an interactive GUI program</a:t>
            </a:r>
          </a:p>
          <a:p>
            <a:r>
              <a:rPr lang="en-US" dirty="0" smtClean="0"/>
              <a:t>One screen may lead to different screens depending on the options the user selects at any one screen</a:t>
            </a:r>
          </a:p>
        </p:txBody>
      </p:sp>
      <p:sp>
        <p:nvSpPr>
          <p:cNvPr id="6" name="Footer Placeholder 5"/>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82184765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57200" y="274638"/>
            <a:ext cx="8229600" cy="1143000"/>
          </a:xfrm>
        </p:spPr>
        <p:txBody>
          <a:bodyPr/>
          <a:lstStyle/>
          <a:p>
            <a:r>
              <a:rPr lang="en-US" dirty="0"/>
              <a:t>Defining Connections </a:t>
            </a:r>
            <a:r>
              <a:rPr lang="en-US" dirty="0" smtClean="0"/>
              <a:t>Between</a:t>
            </a:r>
            <a:r>
              <a:rPr lang="en-US" dirty="0"/>
              <a:t/>
            </a:r>
            <a:br>
              <a:rPr lang="en-US" dirty="0"/>
            </a:br>
            <a:r>
              <a:rPr lang="en-US" dirty="0"/>
              <a:t>the User Screens </a:t>
            </a:r>
            <a:r>
              <a:rPr lang="en-US" sz="1200"/>
              <a:t>(</a:t>
            </a:r>
            <a:r>
              <a:rPr lang="en-US" sz="1200" smtClean="0"/>
              <a:t>continued)</a:t>
            </a:r>
            <a:endParaRPr lang="en-US" sz="1200" dirty="0" smtClean="0"/>
          </a:p>
        </p:txBody>
      </p:sp>
      <p:pic>
        <p:nvPicPr>
          <p:cNvPr id="2" name="Picture 1" descr="An interactivity diagram shows the&#10;relationship between screens in an interactive GUI program. In this case, the first screen calls the second screen, and the program ends." title="Interactivity diagram for insurance premium program"/>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399" y="1981200"/>
            <a:ext cx="3854361" cy="990600"/>
          </a:xfrm>
          <a:prstGeom prst="rect">
            <a:avLst/>
          </a:prstGeom>
        </p:spPr>
      </p:pic>
      <p:pic>
        <p:nvPicPr>
          <p:cNvPr id="3" name="Picture 2" descr="A more complicated program in which the user has several options available at Screens 1, 2, and 3. Each of these screens can lead to different screens, depending on the options the user selects." title="Interactivity diagram for a complicated program"/>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86000" y="3425033"/>
            <a:ext cx="6238568" cy="2931317"/>
          </a:xfrm>
          <a:prstGeom prst="rect">
            <a:avLst/>
          </a:prstGeom>
        </p:spPr>
      </p:pic>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31</a:t>
            </a:fld>
            <a:endParaRPr lang="en-US" dirty="0"/>
          </a:p>
        </p:txBody>
      </p:sp>
      <p:sp>
        <p:nvSpPr>
          <p:cNvPr id="9" name="Footer Placeholder 8"/>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62834617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533400" y="304800"/>
            <a:ext cx="8077200" cy="1143000"/>
          </a:xfrm>
        </p:spPr>
        <p:txBody>
          <a:bodyPr/>
          <a:lstStyle/>
          <a:p>
            <a:r>
              <a:rPr lang="en-US" dirty="0"/>
              <a:t>Planning the Logic</a:t>
            </a:r>
            <a:endParaRPr lang="en-US" dirty="0" smtClean="0"/>
          </a:p>
        </p:txBody>
      </p:sp>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32</a:t>
            </a:fld>
            <a:endParaRPr lang="en-US" dirty="0"/>
          </a:p>
        </p:txBody>
      </p:sp>
      <p:sp>
        <p:nvSpPr>
          <p:cNvPr id="6" name="Content Placeholder 2"/>
          <p:cNvSpPr txBox="1">
            <a:spLocks/>
          </p:cNvSpPr>
          <p:nvPr/>
        </p:nvSpPr>
        <p:spPr>
          <a:xfrm>
            <a:off x="533400" y="1676400"/>
            <a:ext cx="8077200" cy="4572000"/>
          </a:xfrm>
          <a:prstGeom prst="rect">
            <a:avLst/>
          </a:prstGeom>
        </p:spPr>
        <p:txBody>
          <a:bodyPr/>
          <a:lst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smtClean="0"/>
              <a:t>Design the screens</a:t>
            </a:r>
          </a:p>
          <a:p>
            <a:r>
              <a:rPr lang="en-US" dirty="0" smtClean="0"/>
              <a:t>Define the objects</a:t>
            </a:r>
          </a:p>
          <a:p>
            <a:r>
              <a:rPr lang="en-US" dirty="0" smtClean="0"/>
              <a:t>Define how the screens will connect </a:t>
            </a:r>
          </a:p>
          <a:p>
            <a:r>
              <a:rPr lang="en-US" dirty="0" smtClean="0"/>
              <a:t>Then start to plan the </a:t>
            </a:r>
            <a:r>
              <a:rPr lang="en-US" dirty="0" smtClean="0"/>
              <a:t>client program</a:t>
            </a:r>
            <a:endParaRPr lang="en-US" dirty="0" smtClean="0"/>
          </a:p>
          <a:p>
            <a:r>
              <a:rPr lang="en-US" dirty="0" smtClean="0"/>
              <a:t>Create the component onto which all the GUI elements are placed</a:t>
            </a:r>
          </a:p>
          <a:p>
            <a:pPr lvl="1"/>
            <a:r>
              <a:rPr lang="en-US" dirty="0" smtClean="0"/>
              <a:t>Might use a class with a name such as </a:t>
            </a:r>
            <a:r>
              <a:rPr lang="en-US" dirty="0" smtClean="0">
                <a:latin typeface="Courier New" pitchFamily="49" charset="0"/>
                <a:cs typeface="Courier New" pitchFamily="49" charset="0"/>
              </a:rPr>
              <a:t>Screen</a:t>
            </a:r>
            <a:r>
              <a:rPr lang="en-US" dirty="0" smtClean="0"/>
              <a:t>, </a:t>
            </a:r>
            <a:r>
              <a:rPr lang="en-US" dirty="0" smtClean="0">
                <a:latin typeface="Courier New" pitchFamily="49" charset="0"/>
                <a:cs typeface="Courier New" pitchFamily="49" charset="0"/>
              </a:rPr>
              <a:t>Form</a:t>
            </a:r>
            <a:r>
              <a:rPr lang="en-US" dirty="0" smtClean="0"/>
              <a:t>, or </a:t>
            </a:r>
            <a:r>
              <a:rPr lang="en-US" dirty="0" smtClean="0">
                <a:latin typeface="Courier New" pitchFamily="49" charset="0"/>
                <a:cs typeface="Courier New" pitchFamily="49" charset="0"/>
              </a:rPr>
              <a:t>Window</a:t>
            </a:r>
          </a:p>
        </p:txBody>
      </p:sp>
      <p:sp>
        <p:nvSpPr>
          <p:cNvPr id="8" name="Footer Placeholder 7"/>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424080019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4742" y="381000"/>
            <a:ext cx="3429000" cy="1295400"/>
          </a:xfrm>
        </p:spPr>
        <p:txBody>
          <a:bodyPr/>
          <a:lstStyle/>
          <a:p>
            <a:r>
              <a:rPr lang="en-US" dirty="0"/>
              <a:t>Planning the </a:t>
            </a:r>
            <a:r>
              <a:rPr lang="en-US" dirty="0" smtClean="0"/>
              <a:t>Logic </a:t>
            </a:r>
            <a:r>
              <a:rPr lang="en-US" sz="1200" dirty="0" smtClean="0"/>
              <a:t>(</a:t>
            </a:r>
            <a:r>
              <a:rPr lang="en-US" sz="1200" dirty="0" smtClean="0"/>
              <a:t>continued -1)</a:t>
            </a:r>
            <a:endParaRPr lang="en-US" sz="1200" dirty="0" smtClean="0"/>
          </a:p>
        </p:txBody>
      </p:sp>
      <p:pic>
        <p:nvPicPr>
          <p:cNvPr id="2" name="Picture 1" descr="Tthe pseudocode that creates four labels, four sets of radio buttons, and a button." title="Component definitions for first screen of insurance program"/>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72806" y="346364"/>
            <a:ext cx="3561049" cy="6344211"/>
          </a:xfrm>
          <a:prstGeom prst="rect">
            <a:avLst/>
          </a:prstGeom>
        </p:spPr>
      </p:pic>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33</a:t>
            </a:fld>
            <a:endParaRPr lang="en-US" dirty="0"/>
          </a:p>
        </p:txBody>
      </p:sp>
      <p:sp>
        <p:nvSpPr>
          <p:cNvPr id="8" name="Footer Placeholder 7"/>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51605990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457200" y="274638"/>
            <a:ext cx="8229600" cy="1143000"/>
          </a:xfrm>
        </p:spPr>
        <p:txBody>
          <a:bodyPr/>
          <a:lstStyle/>
          <a:p>
            <a:r>
              <a:rPr lang="en-US" dirty="0"/>
              <a:t>Planning the Logic </a:t>
            </a:r>
            <a:r>
              <a:rPr lang="en-US" sz="1200" dirty="0"/>
              <a:t>(</a:t>
            </a:r>
            <a:r>
              <a:rPr lang="en-US" sz="1200" dirty="0" smtClean="0"/>
              <a:t>continued -2)</a:t>
            </a:r>
            <a:endParaRPr lang="en-US" sz="1200" dirty="0" smtClean="0"/>
          </a:p>
        </p:txBody>
      </p:sp>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34</a:t>
            </a:fld>
            <a:endParaRPr lang="en-US" dirty="0"/>
          </a:p>
        </p:txBody>
      </p:sp>
      <p:sp>
        <p:nvSpPr>
          <p:cNvPr id="8" name="Content Placeholder 2"/>
          <p:cNvSpPr txBox="1">
            <a:spLocks/>
          </p:cNvSpPr>
          <p:nvPr/>
        </p:nvSpPr>
        <p:spPr>
          <a:xfrm>
            <a:off x="533400" y="1676400"/>
            <a:ext cx="8077200" cy="4572000"/>
          </a:xfrm>
          <a:prstGeom prst="rect">
            <a:avLst/>
          </a:prstGeom>
        </p:spPr>
        <p:txBody>
          <a:bodyPr/>
          <a:lst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smtClean="0"/>
              <a:t>Register </a:t>
            </a:r>
            <a:r>
              <a:rPr lang="en-US" b="1" dirty="0"/>
              <a:t>components</a:t>
            </a:r>
          </a:p>
          <a:p>
            <a:pPr lvl="1"/>
            <a:r>
              <a:rPr lang="en-US" dirty="0" smtClean="0"/>
              <a:t>Sign </a:t>
            </a:r>
            <a:r>
              <a:rPr lang="en-US" dirty="0"/>
              <a:t>them up so that they can react to events initiated by other components</a:t>
            </a:r>
          </a:p>
          <a:p>
            <a:r>
              <a:rPr lang="en-US" b="1" dirty="0" smtClean="0"/>
              <a:t>Container</a:t>
            </a:r>
          </a:p>
          <a:p>
            <a:pPr lvl="1"/>
            <a:r>
              <a:rPr lang="en-US" dirty="0" smtClean="0"/>
              <a:t>A class of objects whose main purpose is to hold other elements</a:t>
            </a:r>
          </a:p>
          <a:p>
            <a:pPr lvl="1"/>
            <a:r>
              <a:rPr lang="en-US" dirty="0" smtClean="0"/>
              <a:t>Contains methods that allow you to set physical properties such as </a:t>
            </a:r>
            <a:r>
              <a:rPr lang="en-US" dirty="0" smtClean="0"/>
              <a:t>height </a:t>
            </a:r>
            <a:r>
              <a:rPr lang="en-US" dirty="0" smtClean="0"/>
              <a:t>and width</a:t>
            </a:r>
          </a:p>
          <a:p>
            <a:pPr lvl="1"/>
            <a:r>
              <a:rPr lang="en-US" dirty="0" smtClean="0"/>
              <a:t>Contains methods that allow you to add the appropriate components to a container</a:t>
            </a:r>
          </a:p>
        </p:txBody>
      </p:sp>
      <p:sp>
        <p:nvSpPr>
          <p:cNvPr id="6" name="Footer Placeholder 5"/>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61358303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title"/>
          </p:nvPr>
        </p:nvSpPr>
        <p:spPr>
          <a:xfrm>
            <a:off x="457200" y="274638"/>
            <a:ext cx="8229600" cy="1143000"/>
          </a:xfrm>
        </p:spPr>
        <p:txBody>
          <a:bodyPr/>
          <a:lstStyle/>
          <a:p>
            <a:r>
              <a:rPr lang="en-US" dirty="0"/>
              <a:t>Planning the Logic </a:t>
            </a:r>
            <a:r>
              <a:rPr lang="en-US" sz="1200" dirty="0"/>
              <a:t>(</a:t>
            </a:r>
            <a:r>
              <a:rPr lang="en-US" sz="1200" dirty="0" smtClean="0"/>
              <a:t>continued -3)</a:t>
            </a:r>
            <a:endParaRPr lang="en-US" sz="1200" dirty="0" smtClean="0"/>
          </a:p>
        </p:txBody>
      </p:sp>
      <p:pic>
        <p:nvPicPr>
          <p:cNvPr id="2" name="Picture 1" descr="Define a Screen object, set its size, and add the necessary components." title="Statements that create screen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3400" y="2078182"/>
            <a:ext cx="3068368" cy="3179618"/>
          </a:xfrm>
          <a:prstGeom prst="rect">
            <a:avLst/>
          </a:prstGeom>
        </p:spPr>
      </p:pic>
      <p:pic>
        <p:nvPicPr>
          <p:cNvPr id="3" name="Picture 2" descr="Create and define the components for the second screen in the insurance program and how to add the components to the container." title="Statements that define and create screen2 and its components"/>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08818" y="2078182"/>
            <a:ext cx="4477982" cy="3688773"/>
          </a:xfrm>
          <a:prstGeom prst="rect">
            <a:avLst/>
          </a:prstGeom>
        </p:spPr>
      </p:pic>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35</a:t>
            </a:fld>
            <a:endParaRPr lang="en-US" dirty="0"/>
          </a:p>
        </p:txBody>
      </p:sp>
      <p:sp>
        <p:nvSpPr>
          <p:cNvPr id="9" name="Footer Placeholder 8"/>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38581263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274638"/>
            <a:ext cx="8229600" cy="1143000"/>
          </a:xfrm>
        </p:spPr>
        <p:txBody>
          <a:bodyPr/>
          <a:lstStyle/>
          <a:p>
            <a:r>
              <a:rPr lang="en-US" dirty="0"/>
              <a:t>Planning the Logic </a:t>
            </a:r>
            <a:r>
              <a:rPr lang="en-US" sz="1200" dirty="0"/>
              <a:t>(</a:t>
            </a:r>
            <a:r>
              <a:rPr lang="en-US" sz="1200" dirty="0" smtClean="0"/>
              <a:t>continued -4)</a:t>
            </a:r>
            <a:endParaRPr lang="en-US" sz="1200" dirty="0" smtClean="0"/>
          </a:p>
        </p:txBody>
      </p:sp>
      <p:pic>
        <p:nvPicPr>
          <p:cNvPr id="2" name="Picture 1" descr="After the premium is calculated based on the user’s choices, it is placed in the label that appears on the second screen. The last two statements in the calcRoutine method indicate that after the insurance premium is calculated and placed in its label, the first screen is removed and the second&#10;screen is displayed." title="Pseudocode for calcRoutine method of insurance premium program"/>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7200" y="1159884"/>
            <a:ext cx="5182600" cy="5196466"/>
          </a:xfrm>
          <a:prstGeom prst="rect">
            <a:avLst/>
          </a:prstGeom>
        </p:spPr>
      </p:pic>
      <p:pic>
        <p:nvPicPr>
          <p:cNvPr id="8" name="Picture 7" descr="Two more program segments are needed to complete the insurance premium program. These segments&#10;include the main program that executes when the program starts and the last method that executes when the program ends." title="The main program and exitRoutine method for the insurance program"/>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00800" y="3276600"/>
            <a:ext cx="2227692" cy="2057400"/>
          </a:xfrm>
          <a:prstGeom prst="rect">
            <a:avLst/>
          </a:prstGeom>
        </p:spPr>
      </p:pic>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36</a:t>
            </a:fld>
            <a:endParaRPr lang="en-US" dirty="0"/>
          </a:p>
        </p:txBody>
      </p:sp>
      <p:sp>
        <p:nvSpPr>
          <p:cNvPr id="6" name="Footer Placeholder 5"/>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48616898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57200" y="274638"/>
            <a:ext cx="8229600" cy="1143000"/>
          </a:xfrm>
        </p:spPr>
        <p:txBody>
          <a:bodyPr/>
          <a:lstStyle/>
          <a:p>
            <a:r>
              <a:rPr lang="en-US" dirty="0"/>
              <a:t>Understanding </a:t>
            </a:r>
            <a:r>
              <a:rPr lang="en-US" dirty="0" smtClean="0"/>
              <a:t>Threads and Multithreading</a:t>
            </a:r>
          </a:p>
        </p:txBody>
      </p:sp>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37</a:t>
            </a:fld>
            <a:endParaRPr lang="en-US" dirty="0"/>
          </a:p>
        </p:txBody>
      </p:sp>
      <p:sp>
        <p:nvSpPr>
          <p:cNvPr id="9" name="Content Placeholder 2"/>
          <p:cNvSpPr txBox="1">
            <a:spLocks/>
          </p:cNvSpPr>
          <p:nvPr/>
        </p:nvSpPr>
        <p:spPr>
          <a:xfrm>
            <a:off x="533400" y="1676400"/>
            <a:ext cx="8077200" cy="4572000"/>
          </a:xfrm>
          <a:prstGeom prst="rect">
            <a:avLst/>
          </a:prstGeom>
        </p:spPr>
        <p:txBody>
          <a:bodyPr/>
          <a:lst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smtClean="0"/>
              <a:t>Thread </a:t>
            </a:r>
          </a:p>
          <a:p>
            <a:pPr lvl="1"/>
            <a:r>
              <a:rPr lang="en-US" dirty="0" smtClean="0"/>
              <a:t>The flow of execution of one set of program statements</a:t>
            </a:r>
          </a:p>
          <a:p>
            <a:r>
              <a:rPr lang="en-US" dirty="0" smtClean="0"/>
              <a:t>Many applications follow a single thread</a:t>
            </a:r>
          </a:p>
          <a:p>
            <a:r>
              <a:rPr lang="en-US" dirty="0" smtClean="0"/>
              <a:t>A computer’s central processing unit (CPU) can execute only one statement at a time regardless of its processor speed</a:t>
            </a:r>
          </a:p>
          <a:p>
            <a:r>
              <a:rPr lang="en-US" dirty="0" smtClean="0"/>
              <a:t>A computer with multiple CPUs can execute multiple instructions simultaneously</a:t>
            </a:r>
          </a:p>
        </p:txBody>
      </p:sp>
      <p:sp>
        <p:nvSpPr>
          <p:cNvPr id="6" name="Footer Placeholder 5"/>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74818435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57200" y="274638"/>
            <a:ext cx="8229600" cy="1143000"/>
          </a:xfrm>
        </p:spPr>
        <p:txBody>
          <a:bodyPr/>
          <a:lstStyle/>
          <a:p>
            <a:r>
              <a:rPr lang="en-US" dirty="0"/>
              <a:t>Understanding </a:t>
            </a:r>
            <a:r>
              <a:rPr lang="en-US" dirty="0" smtClean="0"/>
              <a:t>Threads and </a:t>
            </a:r>
            <a:r>
              <a:rPr lang="en-US" dirty="0"/>
              <a:t>Multithreading </a:t>
            </a:r>
            <a:r>
              <a:rPr lang="en-US" sz="1200" dirty="0"/>
              <a:t>(</a:t>
            </a:r>
            <a:r>
              <a:rPr lang="en-US" sz="1200" dirty="0" smtClean="0"/>
              <a:t>continued -1)</a:t>
            </a:r>
            <a:endParaRPr lang="en-US" sz="1200" dirty="0" smtClean="0"/>
          </a:p>
        </p:txBody>
      </p:sp>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38</a:t>
            </a:fld>
            <a:endParaRPr lang="en-US" dirty="0"/>
          </a:p>
        </p:txBody>
      </p:sp>
      <p:sp>
        <p:nvSpPr>
          <p:cNvPr id="9" name="Content Placeholder 2"/>
          <p:cNvSpPr txBox="1">
            <a:spLocks/>
          </p:cNvSpPr>
          <p:nvPr/>
        </p:nvSpPr>
        <p:spPr>
          <a:xfrm>
            <a:off x="533400" y="1676400"/>
            <a:ext cx="8077200" cy="4572000"/>
          </a:xfrm>
          <a:prstGeom prst="rect">
            <a:avLst/>
          </a:prstGeom>
        </p:spPr>
        <p:txBody>
          <a:bodyPr/>
          <a:lst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Multithreading</a:t>
            </a:r>
          </a:p>
          <a:p>
            <a:pPr lvl="1"/>
            <a:r>
              <a:rPr lang="en-US" dirty="0"/>
              <a:t>Using multiple threads of execution</a:t>
            </a:r>
          </a:p>
          <a:p>
            <a:pPr lvl="1"/>
            <a:r>
              <a:rPr lang="en-US" dirty="0"/>
              <a:t>Multiple threads share the CPU’s time for a single processor</a:t>
            </a:r>
          </a:p>
          <a:p>
            <a:r>
              <a:rPr lang="en-US" dirty="0"/>
              <a:t>Use multithreading to improve the performance of your programs</a:t>
            </a:r>
          </a:p>
          <a:p>
            <a:pPr lvl="1"/>
            <a:r>
              <a:rPr lang="en-US" dirty="0"/>
              <a:t>More user friendly</a:t>
            </a:r>
          </a:p>
          <a:p>
            <a:r>
              <a:rPr lang="en-US" dirty="0"/>
              <a:t>Object-oriented languages often contain a built-in </a:t>
            </a:r>
            <a:r>
              <a:rPr lang="en-US" dirty="0">
                <a:latin typeface="Courier New" pitchFamily="49" charset="0"/>
                <a:cs typeface="Courier New" pitchFamily="49" charset="0"/>
              </a:rPr>
              <a:t>Thread</a:t>
            </a:r>
            <a:r>
              <a:rPr lang="en-US" dirty="0"/>
              <a:t> class</a:t>
            </a:r>
          </a:p>
          <a:p>
            <a:pPr lvl="1"/>
            <a:r>
              <a:rPr lang="en-US" dirty="0"/>
              <a:t>Contains methods to help handle multiple threads</a:t>
            </a:r>
          </a:p>
        </p:txBody>
      </p:sp>
      <p:sp>
        <p:nvSpPr>
          <p:cNvPr id="6" name="Footer Placeholder 5"/>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9310479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57200" y="274638"/>
            <a:ext cx="8229600" cy="1143000"/>
          </a:xfrm>
        </p:spPr>
        <p:txBody>
          <a:bodyPr/>
          <a:lstStyle/>
          <a:p>
            <a:r>
              <a:rPr lang="en-US" dirty="0"/>
              <a:t>Understanding </a:t>
            </a:r>
            <a:r>
              <a:rPr lang="en-US" dirty="0" smtClean="0"/>
              <a:t>Threads and </a:t>
            </a:r>
            <a:r>
              <a:rPr lang="en-US" dirty="0"/>
              <a:t>Multithreading </a:t>
            </a:r>
            <a:r>
              <a:rPr lang="en-US" sz="1200" dirty="0"/>
              <a:t>(</a:t>
            </a:r>
            <a:r>
              <a:rPr lang="en-US" sz="1200" dirty="0" smtClean="0"/>
              <a:t>continued -2)</a:t>
            </a:r>
            <a:endParaRPr lang="en-US" sz="1200" dirty="0" smtClean="0"/>
          </a:p>
        </p:txBody>
      </p:sp>
      <p:pic>
        <p:nvPicPr>
          <p:cNvPr id="2" name="Picture 1" descr="How three tasks might execute in a single thread in a computer with a single CPU. Each task must end before the next task starts." title="Executing multiple tasks as single threads in a single-processor system"/>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17092" y="1789958"/>
            <a:ext cx="4242816" cy="2200656"/>
          </a:xfrm>
          <a:prstGeom prst="rect">
            <a:avLst/>
          </a:prstGeom>
        </p:spPr>
      </p:pic>
      <p:pic>
        <p:nvPicPr>
          <p:cNvPr id="3" name="Picture 2" descr="Even if the computer has only one CPU, all major OOP languages allow you to launch, or start, multiple threads of execution by using a technique known as multithreading. With multithreading, threads share the CPU’s time. The CPU devotes&#10;a small amount of time to one task, and then devotes a small amount of time to another. The CPU never actually performs two tasks at the same instant. Instead, it performs a piece of one task and then part of another. The CPU performs so quickly that each task seems to&#10;execute without interruption." title="Executing multiple threads in a single-processor system"/>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18487" y="4335208"/>
            <a:ext cx="3493008" cy="2203704"/>
          </a:xfrm>
          <a:prstGeom prst="rect">
            <a:avLst/>
          </a:prstGeom>
        </p:spPr>
      </p:pic>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39</a:t>
            </a:fld>
            <a:endParaRPr lang="en-US" dirty="0"/>
          </a:p>
        </p:txBody>
      </p:sp>
      <p:sp>
        <p:nvSpPr>
          <p:cNvPr id="6" name="Footer Placeholder 5"/>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41985946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57200" y="274638"/>
            <a:ext cx="8229600" cy="1143000"/>
          </a:xfrm>
        </p:spPr>
        <p:txBody>
          <a:bodyPr/>
          <a:lstStyle/>
          <a:p>
            <a:r>
              <a:rPr lang="en-US" dirty="0"/>
              <a:t>Understanding </a:t>
            </a:r>
            <a:r>
              <a:rPr lang="en-US" dirty="0" smtClean="0"/>
              <a:t>Threads and </a:t>
            </a:r>
            <a:r>
              <a:rPr lang="en-US" dirty="0"/>
              <a:t>Multithreading </a:t>
            </a:r>
            <a:r>
              <a:rPr lang="en-US" sz="1200" dirty="0"/>
              <a:t>(</a:t>
            </a:r>
            <a:r>
              <a:rPr lang="en-US" sz="1200" dirty="0" smtClean="0"/>
              <a:t>continued -3)</a:t>
            </a:r>
            <a:endParaRPr lang="en-US" sz="1200" dirty="0" smtClean="0"/>
          </a:p>
        </p:txBody>
      </p:sp>
      <p:sp>
        <p:nvSpPr>
          <p:cNvPr id="4" name="Slide Number Placeholder 3"/>
          <p:cNvSpPr>
            <a:spLocks noGrp="1"/>
          </p:cNvSpPr>
          <p:nvPr>
            <p:ph type="sldNum" sz="quarter" idx="11"/>
          </p:nvPr>
        </p:nvSpPr>
        <p:spPr/>
        <p:txBody>
          <a:bodyPr/>
          <a:lstStyle/>
          <a:p>
            <a:pPr>
              <a:defRPr/>
            </a:pPr>
            <a:fld id="{6332C77F-D9E8-43AF-A4DA-A5EE479625DE}" type="slidenum">
              <a:rPr lang="en-US"/>
              <a:pPr>
                <a:defRPr/>
              </a:pPr>
              <a:t>40</a:t>
            </a:fld>
            <a:endParaRPr lang="en-US" dirty="0"/>
          </a:p>
        </p:txBody>
      </p:sp>
      <p:sp>
        <p:nvSpPr>
          <p:cNvPr id="9" name="Content Placeholder 2"/>
          <p:cNvSpPr txBox="1">
            <a:spLocks/>
          </p:cNvSpPr>
          <p:nvPr/>
        </p:nvSpPr>
        <p:spPr>
          <a:xfrm>
            <a:off x="533400" y="1676400"/>
            <a:ext cx="8077200" cy="4572000"/>
          </a:xfrm>
          <a:prstGeom prst="rect">
            <a:avLst/>
          </a:prstGeom>
        </p:spPr>
        <p:txBody>
          <a:bodyPr/>
          <a:lstStyle>
            <a:lvl1pPr marL="342900" indent="-342900" algn="l" rtl="0" fontAlgn="base">
              <a:spcBef>
                <a:spcPct val="20000"/>
              </a:spcBef>
              <a:spcAft>
                <a:spcPct val="0"/>
              </a:spcAft>
              <a:buFont typeface="Arial" pitchFamily="34" charset="0"/>
              <a:buChar char="•"/>
              <a:defRPr sz="28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24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0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Code carefully to avoid </a:t>
            </a:r>
            <a:r>
              <a:rPr lang="en-US" b="1" dirty="0"/>
              <a:t>deadlock</a:t>
            </a:r>
            <a:r>
              <a:rPr lang="en-US" dirty="0"/>
              <a:t> and </a:t>
            </a:r>
            <a:r>
              <a:rPr lang="en-US" b="1" dirty="0"/>
              <a:t>starvation</a:t>
            </a:r>
          </a:p>
          <a:p>
            <a:pPr lvl="1"/>
            <a:r>
              <a:rPr lang="en-US" dirty="0"/>
              <a:t>Deadlock occurs when two or more threads wait for each other</a:t>
            </a:r>
          </a:p>
          <a:p>
            <a:pPr lvl="1"/>
            <a:r>
              <a:rPr lang="en-US" dirty="0"/>
              <a:t>Starvation occurs when a thread is abandoned because other threads occupy all computer resources</a:t>
            </a:r>
          </a:p>
          <a:p>
            <a:r>
              <a:rPr lang="en-US" dirty="0"/>
              <a:t>Techniques like </a:t>
            </a:r>
            <a:r>
              <a:rPr lang="en-US" b="1" dirty="0"/>
              <a:t>thread synchronization</a:t>
            </a:r>
            <a:r>
              <a:rPr lang="en-US" dirty="0"/>
              <a:t> avoid problems such as:</a:t>
            </a:r>
          </a:p>
          <a:p>
            <a:pPr lvl="1"/>
            <a:r>
              <a:rPr lang="en-US" dirty="0"/>
              <a:t>Two clerks accessing the same record, and the first one updating it while the other is still viewing it</a:t>
            </a:r>
          </a:p>
          <a:p>
            <a:pPr lvl="1"/>
            <a:r>
              <a:rPr lang="en-US" dirty="0"/>
              <a:t>The second user still thinks the data is accurate</a:t>
            </a:r>
          </a:p>
        </p:txBody>
      </p:sp>
      <p:sp>
        <p:nvSpPr>
          <p:cNvPr id="6" name="Footer Placeholder 5"/>
          <p:cNvSpPr>
            <a:spLocks noGrp="1"/>
          </p:cNvSpPr>
          <p:nvPr>
            <p:ph type="ftr" sz="quarter" idx="12"/>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25913259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t>Creating </a:t>
            </a:r>
            <a:r>
              <a:rPr lang="en-US" dirty="0" smtClean="0"/>
              <a:t>Animation</a:t>
            </a:r>
            <a:endParaRPr lang="en-US" sz="1200" dirty="0" smtClean="0"/>
          </a:p>
        </p:txBody>
      </p:sp>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41</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
        <p:nvSpPr>
          <p:cNvPr id="2" name="Content Placeholder 1"/>
          <p:cNvSpPr>
            <a:spLocks noGrp="1"/>
          </p:cNvSpPr>
          <p:nvPr>
            <p:ph idx="1"/>
          </p:nvPr>
        </p:nvSpPr>
        <p:spPr/>
        <p:txBody>
          <a:bodyPr/>
          <a:lstStyle/>
          <a:p>
            <a:r>
              <a:rPr lang="en-US" b="1" dirty="0"/>
              <a:t>Animation </a:t>
            </a:r>
          </a:p>
          <a:p>
            <a:pPr lvl="1"/>
            <a:r>
              <a:rPr lang="en-US" dirty="0"/>
              <a:t>A rapid sequence of still images</a:t>
            </a:r>
          </a:p>
          <a:p>
            <a:pPr lvl="1"/>
            <a:r>
              <a:rPr lang="en-US" dirty="0"/>
              <a:t>Each is slightly different from the previous one</a:t>
            </a:r>
          </a:p>
          <a:p>
            <a:pPr lvl="1"/>
            <a:r>
              <a:rPr lang="en-US" dirty="0"/>
              <a:t>Produces the illusion of movement</a:t>
            </a:r>
          </a:p>
          <a:p>
            <a:r>
              <a:rPr lang="en-US" dirty="0"/>
              <a:t>Object-oriented languages offer built-in classes used to draw geometric figures on the screen</a:t>
            </a:r>
          </a:p>
          <a:p>
            <a:r>
              <a:rPr lang="en-US" dirty="0"/>
              <a:t>Position</a:t>
            </a:r>
          </a:p>
          <a:p>
            <a:pPr lvl="1"/>
            <a:r>
              <a:rPr lang="en-US" dirty="0"/>
              <a:t>Horizontal:</a:t>
            </a:r>
            <a:r>
              <a:rPr lang="en-US" b="1" dirty="0"/>
              <a:t> x-axis</a:t>
            </a:r>
            <a:r>
              <a:rPr lang="en-US" dirty="0"/>
              <a:t>,</a:t>
            </a:r>
            <a:r>
              <a:rPr lang="en-US" b="1" dirty="0"/>
              <a:t> x-coordinate</a:t>
            </a:r>
          </a:p>
          <a:p>
            <a:pPr lvl="1"/>
            <a:r>
              <a:rPr lang="en-US" dirty="0"/>
              <a:t>Vertical:</a:t>
            </a:r>
            <a:r>
              <a:rPr lang="en-US" b="1" dirty="0"/>
              <a:t> y-axis</a:t>
            </a:r>
            <a:r>
              <a:rPr lang="en-US" dirty="0"/>
              <a:t>,</a:t>
            </a:r>
            <a:r>
              <a:rPr lang="en-US" b="1" dirty="0"/>
              <a:t> y-coordinate</a:t>
            </a:r>
          </a:p>
          <a:p>
            <a:pPr marL="0" indent="0">
              <a:buNone/>
            </a:pPr>
            <a:endParaRPr lang="en-US" dirty="0"/>
          </a:p>
        </p:txBody>
      </p:sp>
    </p:spTree>
    <p:extLst>
      <p:ext uri="{BB962C8B-B14F-4D97-AF65-F5344CB8AC3E}">
        <p14:creationId xmlns:p14="http://schemas.microsoft.com/office/powerpoint/2010/main" val="47108191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t>Creating Animation </a:t>
            </a:r>
            <a:r>
              <a:rPr lang="en-US" sz="1200" dirty="0"/>
              <a:t>(</a:t>
            </a:r>
            <a:r>
              <a:rPr lang="en-US" sz="1200" dirty="0" smtClean="0"/>
              <a:t>continued -1)</a:t>
            </a:r>
            <a:endParaRPr lang="en-US" sz="1200" dirty="0" smtClean="0"/>
          </a:p>
        </p:txBody>
      </p:sp>
      <p:pic>
        <p:nvPicPr>
          <p:cNvPr id="3" name="Picture 2" descr="Figures are placed on the screen based on a graphing coordinate system. Each component has a horizontal, or x-axis, position as well as a vertical, or y-axis, position on the screen. The The upper-left corner of a display is position 0, 0. The first, or x-coordinate, value increases as you travel from left to right across the window. The second, or y-coordinate, value increases as you travel from top to bottom." title="Selected screen coordinate position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1600" y="2057400"/>
            <a:ext cx="6249370" cy="2543556"/>
          </a:xfrm>
          <a:prstGeom prst="rect">
            <a:avLst/>
          </a:prstGeom>
        </p:spPr>
      </p:pic>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42</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58512774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t>Creating Animation </a:t>
            </a:r>
            <a:r>
              <a:rPr lang="en-US" sz="1200" dirty="0"/>
              <a:t>(</a:t>
            </a:r>
            <a:r>
              <a:rPr lang="en-US" sz="1200" dirty="0" smtClean="0"/>
              <a:t>continued -2)</a:t>
            </a:r>
            <a:endParaRPr lang="en-US" sz="1200" dirty="0" smtClean="0"/>
          </a:p>
        </p:txBody>
      </p:sp>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43</a:t>
            </a:fld>
            <a:endParaRPr lang="en-US" dirty="0"/>
          </a:p>
        </p:txBody>
      </p:sp>
      <p:sp>
        <p:nvSpPr>
          <p:cNvPr id="10" name="Content Placeholder 2"/>
          <p:cNvSpPr>
            <a:spLocks noGrp="1"/>
          </p:cNvSpPr>
          <p:nvPr>
            <p:ph idx="1"/>
          </p:nvPr>
        </p:nvSpPr>
        <p:spPr>
          <a:xfrm>
            <a:off x="533400" y="1676400"/>
            <a:ext cx="3962400" cy="4419600"/>
          </a:xfrm>
        </p:spPr>
        <p:txBody>
          <a:bodyPr/>
          <a:lstStyle/>
          <a:p>
            <a:r>
              <a:rPr lang="en-US" dirty="0" smtClean="0">
                <a:latin typeface="Courier New" pitchFamily="49" charset="0"/>
                <a:cs typeface="Courier New" pitchFamily="49" charset="0"/>
              </a:rPr>
              <a:t>MovingCircle </a:t>
            </a:r>
            <a:r>
              <a:rPr lang="en-US" dirty="0" smtClean="0"/>
              <a:t>class</a:t>
            </a:r>
          </a:p>
          <a:p>
            <a:pPr lvl="1"/>
            <a:r>
              <a:rPr lang="en-US" dirty="0" smtClean="0"/>
              <a:t>Moves a circle across the screen</a:t>
            </a:r>
          </a:p>
          <a:p>
            <a:pPr lvl="1"/>
            <a:r>
              <a:rPr lang="en-US" dirty="0" smtClean="0"/>
              <a:t>Constants </a:t>
            </a:r>
            <a:r>
              <a:rPr lang="en-US" dirty="0" smtClean="0">
                <a:latin typeface="Courier New" pitchFamily="49" charset="0"/>
                <a:cs typeface="Courier New" pitchFamily="49" charset="0"/>
              </a:rPr>
              <a:t>SIZE</a:t>
            </a:r>
            <a:r>
              <a:rPr lang="en-US" dirty="0" smtClean="0">
                <a:cs typeface="Courier New" pitchFamily="49" charset="0"/>
              </a:rPr>
              <a:t> </a:t>
            </a:r>
            <a:r>
              <a:rPr lang="en-US" dirty="0" smtClean="0"/>
              <a:t>and </a:t>
            </a:r>
            <a:r>
              <a:rPr lang="en-US" dirty="0" smtClean="0">
                <a:latin typeface="Courier New" pitchFamily="49" charset="0"/>
                <a:cs typeface="Courier New" pitchFamily="49" charset="0"/>
              </a:rPr>
              <a:t>INCREASE</a:t>
            </a:r>
          </a:p>
          <a:p>
            <a:pPr lvl="1"/>
            <a:r>
              <a:rPr lang="en-US" dirty="0" smtClean="0">
                <a:latin typeface="Courier New" pitchFamily="49" charset="0"/>
                <a:cs typeface="Courier New" pitchFamily="49" charset="0"/>
              </a:rPr>
              <a:t>drawCircle()</a:t>
            </a:r>
            <a:r>
              <a:rPr lang="en-US" dirty="0" smtClean="0"/>
              <a:t> method</a:t>
            </a:r>
          </a:p>
          <a:p>
            <a:pPr lvl="1"/>
            <a:r>
              <a:rPr lang="en-US" dirty="0" smtClean="0">
                <a:latin typeface="Courier New" pitchFamily="49" charset="0"/>
                <a:cs typeface="Courier New" pitchFamily="49" charset="0"/>
              </a:rPr>
              <a:t>sleep()</a:t>
            </a:r>
            <a:r>
              <a:rPr lang="en-US" dirty="0" smtClean="0"/>
              <a:t> method</a:t>
            </a:r>
          </a:p>
        </p:txBody>
      </p:sp>
      <p:pic>
        <p:nvPicPr>
          <p:cNvPr id="2" name="Picture 1" descr="Pseudocode for a MovingCircle class. The class moves a circle across the screen. The class contains data fields to hold x- and y-coordinates that identify the location at which a&#10;circle appears. The constants SIZE&#10;and INCREASE define the size of the first circle drawn and the relative increase in size and position of each subsequent circle." title="The MovingCircle class"/>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4980" y="1411331"/>
            <a:ext cx="3943040" cy="4951326"/>
          </a:xfrm>
          <a:prstGeom prst="rect">
            <a:avLst/>
          </a:prstGeom>
        </p:spPr>
      </p:pic>
      <p:sp>
        <p:nvSpPr>
          <p:cNvPr id="9" name="Footer Placeholder 8"/>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65611994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457200" y="274638"/>
            <a:ext cx="8229600" cy="1143000"/>
          </a:xfrm>
        </p:spPr>
        <p:txBody>
          <a:bodyPr/>
          <a:lstStyle/>
          <a:p>
            <a:r>
              <a:rPr lang="en-US" dirty="0"/>
              <a:t>Creating Animation </a:t>
            </a:r>
            <a:r>
              <a:rPr lang="en-US" sz="1200" dirty="0"/>
              <a:t>(</a:t>
            </a:r>
            <a:r>
              <a:rPr lang="en-US" sz="1200" dirty="0" smtClean="0"/>
              <a:t>continued -3)</a:t>
            </a:r>
            <a:endParaRPr lang="en-US" sz="1200" dirty="0" smtClean="0"/>
          </a:p>
        </p:txBody>
      </p:sp>
      <p:pic>
        <p:nvPicPr>
          <p:cNvPr id="4" name="Picture 3" descr="The output as a Java version of the application executes and after&#10;execution is complete. The effect is&#10;a moving circle that leaves a trail of smaller circles behind as it moves diagonally across the screen." title="Output of the MovingCircle application at two points in tim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47800" y="1981200"/>
            <a:ext cx="6366341" cy="3622548"/>
          </a:xfrm>
          <a:prstGeom prst="rect">
            <a:avLst/>
          </a:prstGeom>
        </p:spPr>
      </p:pic>
      <p:sp>
        <p:nvSpPr>
          <p:cNvPr id="5" name="Slide Number Placeholder 4"/>
          <p:cNvSpPr>
            <a:spLocks noGrp="1"/>
          </p:cNvSpPr>
          <p:nvPr>
            <p:ph type="sldNum" sz="quarter" idx="10"/>
          </p:nvPr>
        </p:nvSpPr>
        <p:spPr/>
        <p:txBody>
          <a:bodyPr/>
          <a:lstStyle/>
          <a:p>
            <a:pPr>
              <a:defRPr/>
            </a:pPr>
            <a:fld id="{83A527E8-0299-4AF9-A07B-1FD65FD6C7B3}" type="slidenum">
              <a:rPr lang="en-US"/>
              <a:pPr>
                <a:defRPr/>
              </a:pPr>
              <a:t>44</a:t>
            </a:fld>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0389370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dirty="0" smtClean="0"/>
              <a:t>Summary</a:t>
            </a:r>
          </a:p>
        </p:txBody>
      </p:sp>
      <p:sp>
        <p:nvSpPr>
          <p:cNvPr id="5" name="Slide Number Placeholder 4"/>
          <p:cNvSpPr>
            <a:spLocks noGrp="1"/>
          </p:cNvSpPr>
          <p:nvPr>
            <p:ph type="sldNum" sz="quarter" idx="10"/>
          </p:nvPr>
        </p:nvSpPr>
        <p:spPr/>
        <p:txBody>
          <a:bodyPr/>
          <a:lstStyle/>
          <a:p>
            <a:pPr>
              <a:defRPr/>
            </a:pPr>
            <a:fld id="{3C98C39C-FFBC-4220-AA27-556096572441}" type="slidenum">
              <a:rPr lang="en-US"/>
              <a:pPr>
                <a:defRPr/>
              </a:pPr>
              <a:t>45</a:t>
            </a:fld>
            <a:endParaRPr lang="en-US" dirty="0"/>
          </a:p>
        </p:txBody>
      </p:sp>
      <p:sp>
        <p:nvSpPr>
          <p:cNvPr id="7" name="Content Placeholder 2"/>
          <p:cNvSpPr>
            <a:spLocks noGrp="1"/>
          </p:cNvSpPr>
          <p:nvPr>
            <p:ph idx="1"/>
          </p:nvPr>
        </p:nvSpPr>
        <p:spPr>
          <a:xfrm>
            <a:off x="533400" y="1676400"/>
            <a:ext cx="8077200" cy="4572000"/>
          </a:xfrm>
        </p:spPr>
        <p:txBody>
          <a:bodyPr/>
          <a:lstStyle/>
          <a:p>
            <a:r>
              <a:rPr lang="en-US" dirty="0"/>
              <a:t>Graphical user interface (GUI)</a:t>
            </a:r>
          </a:p>
          <a:p>
            <a:pPr lvl="1"/>
            <a:r>
              <a:rPr lang="en-US" dirty="0"/>
              <a:t>Users manipulate objects such as buttons and menus</a:t>
            </a:r>
          </a:p>
          <a:p>
            <a:pPr lvl="1"/>
            <a:r>
              <a:rPr lang="en-US" dirty="0" smtClean="0"/>
              <a:t>Listeners are “interested in” an event </a:t>
            </a:r>
          </a:p>
          <a:p>
            <a:pPr lvl="1"/>
            <a:r>
              <a:rPr lang="en-US" dirty="0" smtClean="0"/>
              <a:t>Common user events involve </a:t>
            </a:r>
            <a:r>
              <a:rPr lang="en-US" dirty="0" smtClean="0"/>
              <a:t>tapping </a:t>
            </a:r>
            <a:r>
              <a:rPr lang="en-US" dirty="0"/>
              <a:t>a screen or clicking a mouse</a:t>
            </a:r>
            <a:endParaRPr lang="en-US" dirty="0"/>
          </a:p>
          <a:p>
            <a:r>
              <a:rPr lang="en-US" dirty="0" smtClean="0"/>
              <a:t>Common GUI components include labels, text boxes, buttons, check boxes, check box groups, option buttons, and list boxes</a:t>
            </a:r>
          </a:p>
          <a:p>
            <a:r>
              <a:rPr lang="en-US" dirty="0" smtClean="0"/>
              <a:t>Interface should be natural, predictable, attractive, easy to read, and nondistracting</a:t>
            </a:r>
            <a:endParaRPr lang="en-US" dirty="0"/>
          </a:p>
        </p:txBody>
      </p:sp>
      <p:sp>
        <p:nvSpPr>
          <p:cNvPr id="8" name="Footer Placeholder 7"/>
          <p:cNvSpPr>
            <a:spLocks noGrp="1"/>
          </p:cNvSpPr>
          <p:nvPr>
            <p:ph type="ftr" sz="quarter" idx="11"/>
          </p:nvPr>
        </p:nvSpPr>
        <p:spPr/>
        <p:txBody>
          <a:bodyPr/>
          <a:lstStyle/>
          <a:p>
            <a:pPr>
              <a:defRPr/>
            </a:pPr>
            <a:r>
              <a:rPr lang="en-US" dirty="0" smtClean="0"/>
              <a:t>Programming Logic and Design, Ninth Edition</a:t>
            </a:r>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r>
              <a:rPr lang="en-US" dirty="0" smtClean="0"/>
              <a:t>Summary </a:t>
            </a:r>
            <a:r>
              <a:rPr lang="en-US" sz="1200" dirty="0" smtClean="0"/>
              <a:t>(continued)</a:t>
            </a:r>
          </a:p>
        </p:txBody>
      </p:sp>
      <p:sp>
        <p:nvSpPr>
          <p:cNvPr id="5" name="Slide Number Placeholder 4"/>
          <p:cNvSpPr>
            <a:spLocks noGrp="1"/>
          </p:cNvSpPr>
          <p:nvPr>
            <p:ph type="sldNum" sz="quarter" idx="10"/>
          </p:nvPr>
        </p:nvSpPr>
        <p:spPr/>
        <p:txBody>
          <a:bodyPr/>
          <a:lstStyle/>
          <a:p>
            <a:pPr>
              <a:defRPr/>
            </a:pPr>
            <a:fld id="{3C98C39C-FFBC-4220-AA27-556096572441}" type="slidenum">
              <a:rPr lang="en-US"/>
              <a:pPr>
                <a:defRPr/>
              </a:pPr>
              <a:t>46</a:t>
            </a:fld>
            <a:endParaRPr lang="en-US" dirty="0"/>
          </a:p>
        </p:txBody>
      </p:sp>
      <p:sp>
        <p:nvSpPr>
          <p:cNvPr id="9" name="Content Placeholder 2"/>
          <p:cNvSpPr>
            <a:spLocks noGrp="1"/>
          </p:cNvSpPr>
          <p:nvPr>
            <p:ph idx="1"/>
          </p:nvPr>
        </p:nvSpPr>
        <p:spPr>
          <a:xfrm>
            <a:off x="533400" y="1676400"/>
            <a:ext cx="8077200" cy="4572000"/>
          </a:xfrm>
        </p:spPr>
        <p:txBody>
          <a:bodyPr/>
          <a:lstStyle/>
          <a:p>
            <a:r>
              <a:rPr lang="en-US" dirty="0" smtClean="0"/>
              <a:t>Event-driven applications require </a:t>
            </a:r>
            <a:r>
              <a:rPr lang="en-US" dirty="0" smtClean="0"/>
              <a:t>creating wireframes </a:t>
            </a:r>
            <a:r>
              <a:rPr lang="en-US" dirty="0" smtClean="0"/>
              <a:t>and storyboards, defining </a:t>
            </a:r>
            <a:r>
              <a:rPr lang="en-US" dirty="0" smtClean="0"/>
              <a:t>objects and dictionaries for them, </a:t>
            </a:r>
            <a:r>
              <a:rPr lang="en-US" dirty="0" smtClean="0"/>
              <a:t>and defining connections </a:t>
            </a:r>
            <a:r>
              <a:rPr lang="en-US" dirty="0" smtClean="0"/>
              <a:t> between screens the </a:t>
            </a:r>
            <a:r>
              <a:rPr lang="en-US" dirty="0" smtClean="0"/>
              <a:t>user will see</a:t>
            </a:r>
          </a:p>
          <a:p>
            <a:r>
              <a:rPr lang="en-US" dirty="0" smtClean="0"/>
              <a:t>Thread</a:t>
            </a:r>
            <a:endParaRPr lang="en-US" dirty="0"/>
          </a:p>
          <a:p>
            <a:pPr lvl="1"/>
            <a:r>
              <a:rPr lang="en-US" dirty="0" smtClean="0"/>
              <a:t>The flow </a:t>
            </a:r>
            <a:r>
              <a:rPr lang="en-US" dirty="0"/>
              <a:t>of execution of one set of program statements</a:t>
            </a:r>
          </a:p>
          <a:p>
            <a:r>
              <a:rPr lang="en-US" dirty="0" smtClean="0"/>
              <a:t>Animation</a:t>
            </a:r>
          </a:p>
          <a:p>
            <a:pPr lvl="1"/>
            <a:r>
              <a:rPr lang="en-US" dirty="0" smtClean="0"/>
              <a:t>A rapid sequence of still </a:t>
            </a:r>
            <a:r>
              <a:rPr lang="en-US" dirty="0" smtClean="0"/>
              <a:t>images </a:t>
            </a:r>
            <a:r>
              <a:rPr lang="en-US" dirty="0"/>
              <a:t>that produces the illusion of movement</a:t>
            </a:r>
            <a:endParaRPr lang="en-US" dirty="0"/>
          </a:p>
        </p:txBody>
      </p:sp>
      <p:sp>
        <p:nvSpPr>
          <p:cNvPr id="7" name="Footer Placeholder 6"/>
          <p:cNvSpPr>
            <a:spLocks noGrp="1"/>
          </p:cNvSpPr>
          <p:nvPr>
            <p:ph type="ftr" sz="quarter" idx="11"/>
          </p:nvPr>
        </p:nvSpPr>
        <p:spPr/>
        <p:txBody>
          <a:bodyPr/>
          <a:lstStyle/>
          <a:p>
            <a:pPr>
              <a:defRPr/>
            </a:pPr>
            <a:r>
              <a:rPr lang="en-US" dirty="0" smtClean="0"/>
              <a:t>Programming Logic and Design, Ninth Edition</a:t>
            </a:r>
            <a:endParaRPr lang="en-US" dirty="0"/>
          </a:p>
        </p:txBody>
      </p:sp>
    </p:spTree>
    <p:extLst>
      <p:ext uri="{BB962C8B-B14F-4D97-AF65-F5344CB8AC3E}">
        <p14:creationId xmlns:p14="http://schemas.microsoft.com/office/powerpoint/2010/main" val="1602331968"/>
      </p:ext>
    </p:extLst>
  </p:cSld>
  <p:clrMapOvr>
    <a:masterClrMapping/>
  </p:clrMapOvr>
  <p:timing>
    <p:tnLst>
      <p:par>
        <p:cTn id="1" dur="indefinite" restart="never" nodeType="tmRoot"/>
      </p:par>
    </p:tnLst>
  </p:timing>
</p:sld>
</file>

<file path=ppt/theme/theme1.xml><?xml version="1.0" encoding="utf-8"?>
<a:theme xmlns:a="http://schemas.openxmlformats.org/drawingml/2006/main" name="1_Farrell_PL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1910</Words>
  <Application>Microsoft Office PowerPoint</Application>
  <PresentationFormat>On-screen Show (4:3)</PresentationFormat>
  <Paragraphs>352</Paragraphs>
  <Slides>46</Slides>
  <Notes>45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Calibri</vt:lpstr>
      <vt:lpstr>Courier New</vt:lpstr>
      <vt:lpstr>Times New Roman</vt:lpstr>
      <vt:lpstr>1_Farrell_PLD</vt:lpstr>
      <vt:lpstr>Programming Logic and Design Ninth Edition</vt:lpstr>
      <vt:lpstr>Objectives</vt:lpstr>
      <vt:lpstr>Understanding Event-Driven Programming</vt:lpstr>
      <vt:lpstr>Understanding Event-Driven Programming (continued -1)</vt:lpstr>
      <vt:lpstr>Understanding Event-Driven Programming (continued -2)</vt:lpstr>
      <vt:lpstr>Understanding Event-Driven Programming (continued -3)</vt:lpstr>
      <vt:lpstr>Understanding Event-Driven Programming (continued -4)</vt:lpstr>
      <vt:lpstr>Understanding Event-Driven Programming (continued -5)</vt:lpstr>
      <vt:lpstr>Understanding Event-Driven Programming (continued -6)</vt:lpstr>
      <vt:lpstr>User-Initiated Actions and GUI Components</vt:lpstr>
      <vt:lpstr>User-Initiated Actions and GUI Components (continued -1)</vt:lpstr>
      <vt:lpstr>User-Initiated Actions and GUI Components (continued -2)</vt:lpstr>
      <vt:lpstr>User-Initiated Actions and GUI Components (continued -3)</vt:lpstr>
      <vt:lpstr>User-Initiated Actions and GUI Components (continued -4)</vt:lpstr>
      <vt:lpstr>User-Initiated Actions and GUI Components (continued -5)</vt:lpstr>
      <vt:lpstr>User-Initiated Actions and GUI Components (continued -6)</vt:lpstr>
      <vt:lpstr>Designing Graphical User Interfaces</vt:lpstr>
      <vt:lpstr>The Interface Should Be Natural and Predictable</vt:lpstr>
      <vt:lpstr>The Interface Should Be Attractive, Easy to Read, and Nondistracting</vt:lpstr>
      <vt:lpstr>To Some Extent, It’s Helpful If the User Can Customize Your Applications</vt:lpstr>
      <vt:lpstr>The Program Should Be Forgiving</vt:lpstr>
      <vt:lpstr>The GUI Is Only a Means to an End</vt:lpstr>
      <vt:lpstr>Developing an Event-Driven Application</vt:lpstr>
      <vt:lpstr>Developing an Event-Driven Application (continued)</vt:lpstr>
      <vt:lpstr>Creating Wireframes</vt:lpstr>
      <vt:lpstr>Creating Storyboards</vt:lpstr>
      <vt:lpstr>Creating Storyboards (continued)</vt:lpstr>
      <vt:lpstr>Defining the Storyboard Objects in an Object Dictionary</vt:lpstr>
      <vt:lpstr>Defining the Storyboard Objects in an Object Dictionary (continued)</vt:lpstr>
      <vt:lpstr>Defining Connections Between the User Screens</vt:lpstr>
      <vt:lpstr>Defining Connections Between the User Screens (continued)</vt:lpstr>
      <vt:lpstr>Planning the Logic</vt:lpstr>
      <vt:lpstr>Planning the Logic (continued -1)</vt:lpstr>
      <vt:lpstr>Planning the Logic (continued -2)</vt:lpstr>
      <vt:lpstr>Planning the Logic (continued -3)</vt:lpstr>
      <vt:lpstr>Planning the Logic (continued -4)</vt:lpstr>
      <vt:lpstr>Understanding Threads and Multithreading</vt:lpstr>
      <vt:lpstr>Understanding Threads and Multithreading (continued -1)</vt:lpstr>
      <vt:lpstr>Understanding Threads and Multithreading (continued -2)</vt:lpstr>
      <vt:lpstr>Understanding Threads and Multithreading (continued -3)</vt:lpstr>
      <vt:lpstr>Creating Animation</vt:lpstr>
      <vt:lpstr>Creating Animation (continued -1)</vt:lpstr>
      <vt:lpstr>Creating Animation (continued -2)</vt:lpstr>
      <vt:lpstr>Creating Animation (continued -3)</vt:lpstr>
      <vt:lpstr>Summary</vt:lpstr>
      <vt:lpstr>Summary (continued)</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1006</cp:revision>
  <dcterms:created xsi:type="dcterms:W3CDTF">2002-09-27T23:29:22Z</dcterms:created>
  <dcterms:modified xsi:type="dcterms:W3CDTF">2016-12-05T17:26:03Z</dcterms:modified>
</cp:coreProperties>
</file>