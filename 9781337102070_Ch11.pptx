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882" r:id="rId1"/>
  </p:sldMasterIdLst>
  <p:notesMasterIdLst>
    <p:notesMasterId r:id="rId54"/>
  </p:notesMasterIdLst>
  <p:handoutMasterIdLst>
    <p:handoutMasterId r:id="rId55"/>
  </p:handoutMasterIdLst>
  <p:sldIdLst>
    <p:sldId id="959" r:id="rId2"/>
    <p:sldId id="957" r:id="rId3"/>
    <p:sldId id="257" r:id="rId4"/>
    <p:sldId id="960" r:id="rId5"/>
    <p:sldId id="945" r:id="rId6"/>
    <p:sldId id="849" r:id="rId7"/>
    <p:sldId id="919" r:id="rId8"/>
    <p:sldId id="920" r:id="rId9"/>
    <p:sldId id="921" r:id="rId10"/>
    <p:sldId id="937" r:id="rId11"/>
    <p:sldId id="859" r:id="rId12"/>
    <p:sldId id="922" r:id="rId13"/>
    <p:sldId id="923" r:id="rId14"/>
    <p:sldId id="924" r:id="rId15"/>
    <p:sldId id="946" r:id="rId16"/>
    <p:sldId id="861" r:id="rId17"/>
    <p:sldId id="851" r:id="rId18"/>
    <p:sldId id="938" r:id="rId19"/>
    <p:sldId id="925" r:id="rId20"/>
    <p:sldId id="947" r:id="rId21"/>
    <p:sldId id="948" r:id="rId22"/>
    <p:sldId id="926" r:id="rId23"/>
    <p:sldId id="899" r:id="rId24"/>
    <p:sldId id="900" r:id="rId25"/>
    <p:sldId id="949" r:id="rId26"/>
    <p:sldId id="950" r:id="rId27"/>
    <p:sldId id="901" r:id="rId28"/>
    <p:sldId id="951" r:id="rId29"/>
    <p:sldId id="952" r:id="rId30"/>
    <p:sldId id="927" r:id="rId31"/>
    <p:sldId id="953" r:id="rId32"/>
    <p:sldId id="852" r:id="rId33"/>
    <p:sldId id="928" r:id="rId34"/>
    <p:sldId id="958" r:id="rId35"/>
    <p:sldId id="961" r:id="rId36"/>
    <p:sldId id="853" r:id="rId37"/>
    <p:sldId id="939" r:id="rId38"/>
    <p:sldId id="887" r:id="rId39"/>
    <p:sldId id="905" r:id="rId40"/>
    <p:sldId id="930" r:id="rId41"/>
    <p:sldId id="954" r:id="rId42"/>
    <p:sldId id="955" r:id="rId43"/>
    <p:sldId id="956" r:id="rId44"/>
    <p:sldId id="931" r:id="rId45"/>
    <p:sldId id="885" r:id="rId46"/>
    <p:sldId id="906" r:id="rId47"/>
    <p:sldId id="854" r:id="rId48"/>
    <p:sldId id="855" r:id="rId49"/>
    <p:sldId id="932" r:id="rId50"/>
    <p:sldId id="940" r:id="rId51"/>
    <p:sldId id="848" r:id="rId52"/>
    <p:sldId id="898" r:id="rId53"/>
  </p:sldIdLst>
  <p:sldSz cx="9144000" cy="6858000" type="screen4x3"/>
  <p:notesSz cx="6858000" cy="9144000"/>
  <p:defaultTextStyle>
    <a:defPPr>
      <a:defRPr lang="en-US"/>
    </a:defPPr>
    <a:lvl1pPr algn="l" rtl="0" fontAlgn="base">
      <a:spcBef>
        <a:spcPct val="0"/>
      </a:spcBef>
      <a:spcAft>
        <a:spcPct val="0"/>
      </a:spcAft>
      <a:defRPr sz="2000" kern="1200">
        <a:solidFill>
          <a:srgbClr val="FFFFFF"/>
        </a:solidFill>
        <a:latin typeface="Times New Roman" pitchFamily="18" charset="0"/>
        <a:ea typeface="+mn-ea"/>
        <a:cs typeface="Arial" pitchFamily="34" charset="0"/>
      </a:defRPr>
    </a:lvl1pPr>
    <a:lvl2pPr marL="457200" algn="l" rtl="0" fontAlgn="base">
      <a:spcBef>
        <a:spcPct val="0"/>
      </a:spcBef>
      <a:spcAft>
        <a:spcPct val="0"/>
      </a:spcAft>
      <a:defRPr sz="2000" kern="1200">
        <a:solidFill>
          <a:srgbClr val="FFFFFF"/>
        </a:solidFill>
        <a:latin typeface="Times New Roman" pitchFamily="18" charset="0"/>
        <a:ea typeface="+mn-ea"/>
        <a:cs typeface="Arial" pitchFamily="34" charset="0"/>
      </a:defRPr>
    </a:lvl2pPr>
    <a:lvl3pPr marL="914400" algn="l" rtl="0" fontAlgn="base">
      <a:spcBef>
        <a:spcPct val="0"/>
      </a:spcBef>
      <a:spcAft>
        <a:spcPct val="0"/>
      </a:spcAft>
      <a:defRPr sz="2000" kern="1200">
        <a:solidFill>
          <a:srgbClr val="FFFFFF"/>
        </a:solidFill>
        <a:latin typeface="Times New Roman" pitchFamily="18" charset="0"/>
        <a:ea typeface="+mn-ea"/>
        <a:cs typeface="Arial" pitchFamily="34" charset="0"/>
      </a:defRPr>
    </a:lvl3pPr>
    <a:lvl4pPr marL="1371600" algn="l" rtl="0" fontAlgn="base">
      <a:spcBef>
        <a:spcPct val="0"/>
      </a:spcBef>
      <a:spcAft>
        <a:spcPct val="0"/>
      </a:spcAft>
      <a:defRPr sz="2000" kern="1200">
        <a:solidFill>
          <a:srgbClr val="FFFFFF"/>
        </a:solidFill>
        <a:latin typeface="Times New Roman" pitchFamily="18" charset="0"/>
        <a:ea typeface="+mn-ea"/>
        <a:cs typeface="Arial" pitchFamily="34" charset="0"/>
      </a:defRPr>
    </a:lvl4pPr>
    <a:lvl5pPr marL="1828800" algn="l" rtl="0" fontAlgn="base">
      <a:spcBef>
        <a:spcPct val="0"/>
      </a:spcBef>
      <a:spcAft>
        <a:spcPct val="0"/>
      </a:spcAft>
      <a:defRPr sz="2000" kern="1200">
        <a:solidFill>
          <a:srgbClr val="FFFFFF"/>
        </a:solidFill>
        <a:latin typeface="Times New Roman" pitchFamily="18" charset="0"/>
        <a:ea typeface="+mn-ea"/>
        <a:cs typeface="Arial" pitchFamily="34" charset="0"/>
      </a:defRPr>
    </a:lvl5pPr>
    <a:lvl6pPr marL="2286000" algn="l" defTabSz="914400" rtl="0" eaLnBrk="1" latinLnBrk="0" hangingPunct="1">
      <a:defRPr sz="2000" kern="1200">
        <a:solidFill>
          <a:srgbClr val="FFFFFF"/>
        </a:solidFill>
        <a:latin typeface="Times New Roman" pitchFamily="18" charset="0"/>
        <a:ea typeface="+mn-ea"/>
        <a:cs typeface="Arial" pitchFamily="34" charset="0"/>
      </a:defRPr>
    </a:lvl6pPr>
    <a:lvl7pPr marL="2743200" algn="l" defTabSz="914400" rtl="0" eaLnBrk="1" latinLnBrk="0" hangingPunct="1">
      <a:defRPr sz="2000" kern="1200">
        <a:solidFill>
          <a:srgbClr val="FFFFFF"/>
        </a:solidFill>
        <a:latin typeface="Times New Roman" pitchFamily="18" charset="0"/>
        <a:ea typeface="+mn-ea"/>
        <a:cs typeface="Arial" pitchFamily="34" charset="0"/>
      </a:defRPr>
    </a:lvl7pPr>
    <a:lvl8pPr marL="3200400" algn="l" defTabSz="914400" rtl="0" eaLnBrk="1" latinLnBrk="0" hangingPunct="1">
      <a:defRPr sz="2000" kern="1200">
        <a:solidFill>
          <a:srgbClr val="FFFFFF"/>
        </a:solidFill>
        <a:latin typeface="Times New Roman" pitchFamily="18" charset="0"/>
        <a:ea typeface="+mn-ea"/>
        <a:cs typeface="Arial" pitchFamily="34" charset="0"/>
      </a:defRPr>
    </a:lvl8pPr>
    <a:lvl9pPr marL="3657600" algn="l" defTabSz="914400" rtl="0" eaLnBrk="1" latinLnBrk="0" hangingPunct="1">
      <a:defRPr sz="2000" kern="1200">
        <a:solidFill>
          <a:srgbClr val="FFFFFF"/>
        </a:solidFill>
        <a:latin typeface="Times New Roman" pitchFamily="18"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3300"/>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0440" autoAdjust="0"/>
    <p:restoredTop sz="94500" autoAdjust="0"/>
  </p:normalViewPr>
  <p:slideViewPr>
    <p:cSldViewPr>
      <p:cViewPr varScale="1">
        <p:scale>
          <a:sx n="92" d="100"/>
          <a:sy n="92" d="100"/>
        </p:scale>
        <p:origin x="138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1228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cs typeface="+mn-cs"/>
              </a:defRPr>
            </a:lvl1pPr>
          </a:lstStyle>
          <a:p>
            <a:pPr>
              <a:defRPr/>
            </a:pPr>
            <a:endParaRPr lang="en-US" dirty="0"/>
          </a:p>
        </p:txBody>
      </p:sp>
      <p:sp>
        <p:nvSpPr>
          <p:cNvPr id="1228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1228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cs typeface="+mn-cs"/>
              </a:defRPr>
            </a:lvl1pPr>
          </a:lstStyle>
          <a:p>
            <a:pPr>
              <a:defRPr/>
            </a:pPr>
            <a:fld id="{6BA85960-FF8D-4966-AFCE-76588880AEA8}" type="slidenum">
              <a:rPr lang="en-US"/>
              <a:pPr>
                <a:defRPr/>
              </a:pPr>
              <a:t>‹#›</a:t>
            </a:fld>
            <a:endParaRPr lang="en-US" dirty="0"/>
          </a:p>
        </p:txBody>
      </p:sp>
    </p:spTree>
    <p:extLst>
      <p:ext uri="{BB962C8B-B14F-4D97-AF65-F5344CB8AC3E}">
        <p14:creationId xmlns:p14="http://schemas.microsoft.com/office/powerpoint/2010/main" val="3032930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645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cs typeface="+mn-cs"/>
              </a:defRPr>
            </a:lvl1pPr>
          </a:lstStyle>
          <a:p>
            <a:pPr>
              <a:defRPr/>
            </a:pPr>
            <a:endParaRPr lang="en-US" dirty="0"/>
          </a:p>
        </p:txBody>
      </p:sp>
      <p:sp>
        <p:nvSpPr>
          <p:cNvPr id="512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45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645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cs typeface="+mn-cs"/>
              </a:defRPr>
            </a:lvl1pPr>
          </a:lstStyle>
          <a:p>
            <a:pPr>
              <a:defRPr/>
            </a:pPr>
            <a:fld id="{E117145D-B78F-4F40-B0E2-55542D9A63C6}" type="slidenum">
              <a:rPr lang="en-US"/>
              <a:pPr>
                <a:defRPr/>
              </a:pPr>
              <a:t>‹#›</a:t>
            </a:fld>
            <a:endParaRPr lang="en-US" dirty="0"/>
          </a:p>
        </p:txBody>
      </p:sp>
    </p:spTree>
    <p:extLst>
      <p:ext uri="{BB962C8B-B14F-4D97-AF65-F5344CB8AC3E}">
        <p14:creationId xmlns:p14="http://schemas.microsoft.com/office/powerpoint/2010/main" val="10600000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2</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163299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3</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23506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4</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3648036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5</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802649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6</a:t>
            </a:fld>
            <a:endParaRPr lang="en-US" dirty="0"/>
          </a:p>
        </p:txBody>
      </p:sp>
    </p:spTree>
    <p:extLst>
      <p:ext uri="{BB962C8B-B14F-4D97-AF65-F5344CB8AC3E}">
        <p14:creationId xmlns:p14="http://schemas.microsoft.com/office/powerpoint/2010/main" val="853984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7</a:t>
            </a:fld>
            <a:endParaRPr lang="en-US" dirty="0"/>
          </a:p>
        </p:txBody>
      </p:sp>
    </p:spTree>
    <p:extLst>
      <p:ext uri="{BB962C8B-B14F-4D97-AF65-F5344CB8AC3E}">
        <p14:creationId xmlns:p14="http://schemas.microsoft.com/office/powerpoint/2010/main" val="571716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8</a:t>
            </a:fld>
            <a:endParaRPr lang="en-US" dirty="0"/>
          </a:p>
        </p:txBody>
      </p:sp>
    </p:spTree>
    <p:extLst>
      <p:ext uri="{BB962C8B-B14F-4D97-AF65-F5344CB8AC3E}">
        <p14:creationId xmlns:p14="http://schemas.microsoft.com/office/powerpoint/2010/main" val="1155003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9</a:t>
            </a:fld>
            <a:endParaRPr lang="en-US" dirty="0"/>
          </a:p>
        </p:txBody>
      </p:sp>
    </p:spTree>
    <p:extLst>
      <p:ext uri="{BB962C8B-B14F-4D97-AF65-F5344CB8AC3E}">
        <p14:creationId xmlns:p14="http://schemas.microsoft.com/office/powerpoint/2010/main" val="667837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10</a:t>
            </a:fld>
            <a:endParaRPr lang="en-US" dirty="0"/>
          </a:p>
        </p:txBody>
      </p:sp>
    </p:spTree>
    <p:extLst>
      <p:ext uri="{BB962C8B-B14F-4D97-AF65-F5344CB8AC3E}">
        <p14:creationId xmlns:p14="http://schemas.microsoft.com/office/powerpoint/2010/main" val="544379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11</a:t>
            </a:fld>
            <a:endParaRPr lang="en-US" dirty="0"/>
          </a:p>
        </p:txBody>
      </p:sp>
    </p:spTree>
    <p:extLst>
      <p:ext uri="{BB962C8B-B14F-4D97-AF65-F5344CB8AC3E}">
        <p14:creationId xmlns:p14="http://schemas.microsoft.com/office/powerpoint/2010/main" val="2304517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12</a:t>
            </a:fld>
            <a:endParaRPr lang="en-US" dirty="0"/>
          </a:p>
        </p:txBody>
      </p:sp>
    </p:spTree>
    <p:extLst>
      <p:ext uri="{BB962C8B-B14F-4D97-AF65-F5344CB8AC3E}">
        <p14:creationId xmlns:p14="http://schemas.microsoft.com/office/powerpoint/2010/main" val="3409949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13</a:t>
            </a:fld>
            <a:endParaRPr lang="en-US" dirty="0"/>
          </a:p>
        </p:txBody>
      </p:sp>
    </p:spTree>
    <p:extLst>
      <p:ext uri="{BB962C8B-B14F-4D97-AF65-F5344CB8AC3E}">
        <p14:creationId xmlns:p14="http://schemas.microsoft.com/office/powerpoint/2010/main" val="322633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14</a:t>
            </a:fld>
            <a:endParaRPr lang="en-US" dirty="0"/>
          </a:p>
        </p:txBody>
      </p:sp>
    </p:spTree>
    <p:extLst>
      <p:ext uri="{BB962C8B-B14F-4D97-AF65-F5344CB8AC3E}">
        <p14:creationId xmlns:p14="http://schemas.microsoft.com/office/powerpoint/2010/main" val="638219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15</a:t>
            </a:fld>
            <a:endParaRPr lang="en-US" dirty="0"/>
          </a:p>
        </p:txBody>
      </p:sp>
    </p:spTree>
    <p:extLst>
      <p:ext uri="{BB962C8B-B14F-4D97-AF65-F5344CB8AC3E}">
        <p14:creationId xmlns:p14="http://schemas.microsoft.com/office/powerpoint/2010/main" val="1852771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3ECACEA-3A71-4EFB-BC72-F34E4F8071A8}" type="slidenum">
              <a:rPr lang="en-US" smtClean="0"/>
              <a:pPr>
                <a:defRPr/>
              </a:pPr>
              <a:t>16</a:t>
            </a:fld>
            <a:endParaRPr lang="en-US" dirty="0"/>
          </a:p>
        </p:txBody>
      </p:sp>
    </p:spTree>
    <p:extLst>
      <p:ext uri="{BB962C8B-B14F-4D97-AF65-F5344CB8AC3E}">
        <p14:creationId xmlns:p14="http://schemas.microsoft.com/office/powerpoint/2010/main" val="2677109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17</a:t>
            </a:fld>
            <a:endParaRPr lang="en-US" dirty="0"/>
          </a:p>
        </p:txBody>
      </p:sp>
    </p:spTree>
    <p:extLst>
      <p:ext uri="{BB962C8B-B14F-4D97-AF65-F5344CB8AC3E}">
        <p14:creationId xmlns:p14="http://schemas.microsoft.com/office/powerpoint/2010/main" val="7770936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18</a:t>
            </a:fld>
            <a:endParaRPr lang="en-US" dirty="0"/>
          </a:p>
        </p:txBody>
      </p:sp>
    </p:spTree>
    <p:extLst>
      <p:ext uri="{BB962C8B-B14F-4D97-AF65-F5344CB8AC3E}">
        <p14:creationId xmlns:p14="http://schemas.microsoft.com/office/powerpoint/2010/main" val="957768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19</a:t>
            </a:fld>
            <a:endParaRPr lang="en-US" dirty="0"/>
          </a:p>
        </p:txBody>
      </p:sp>
    </p:spTree>
    <p:extLst>
      <p:ext uri="{BB962C8B-B14F-4D97-AF65-F5344CB8AC3E}">
        <p14:creationId xmlns:p14="http://schemas.microsoft.com/office/powerpoint/2010/main" val="1012058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20</a:t>
            </a:fld>
            <a:endParaRPr lang="en-US" dirty="0"/>
          </a:p>
        </p:txBody>
      </p:sp>
    </p:spTree>
    <p:extLst>
      <p:ext uri="{BB962C8B-B14F-4D97-AF65-F5344CB8AC3E}">
        <p14:creationId xmlns:p14="http://schemas.microsoft.com/office/powerpoint/2010/main" val="891011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21</a:t>
            </a:fld>
            <a:endParaRPr lang="en-US" dirty="0"/>
          </a:p>
        </p:txBody>
      </p:sp>
    </p:spTree>
    <p:extLst>
      <p:ext uri="{BB962C8B-B14F-4D97-AF65-F5344CB8AC3E}">
        <p14:creationId xmlns:p14="http://schemas.microsoft.com/office/powerpoint/2010/main" val="2297997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22</a:t>
            </a:fld>
            <a:endParaRPr lang="en-US" dirty="0"/>
          </a:p>
        </p:txBody>
      </p:sp>
    </p:spTree>
    <p:extLst>
      <p:ext uri="{BB962C8B-B14F-4D97-AF65-F5344CB8AC3E}">
        <p14:creationId xmlns:p14="http://schemas.microsoft.com/office/powerpoint/2010/main" val="33247291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23</a:t>
            </a:fld>
            <a:endParaRPr lang="en-US" dirty="0"/>
          </a:p>
        </p:txBody>
      </p:sp>
    </p:spTree>
    <p:extLst>
      <p:ext uri="{BB962C8B-B14F-4D97-AF65-F5344CB8AC3E}">
        <p14:creationId xmlns:p14="http://schemas.microsoft.com/office/powerpoint/2010/main" val="1246909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24</a:t>
            </a:fld>
            <a:endParaRPr lang="en-US" dirty="0"/>
          </a:p>
        </p:txBody>
      </p:sp>
    </p:spTree>
    <p:extLst>
      <p:ext uri="{BB962C8B-B14F-4D97-AF65-F5344CB8AC3E}">
        <p14:creationId xmlns:p14="http://schemas.microsoft.com/office/powerpoint/2010/main" val="817960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25</a:t>
            </a:fld>
            <a:endParaRPr lang="en-US" dirty="0"/>
          </a:p>
        </p:txBody>
      </p:sp>
    </p:spTree>
    <p:extLst>
      <p:ext uri="{BB962C8B-B14F-4D97-AF65-F5344CB8AC3E}">
        <p14:creationId xmlns:p14="http://schemas.microsoft.com/office/powerpoint/2010/main" val="2213010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26</a:t>
            </a:fld>
            <a:endParaRPr lang="en-US" dirty="0"/>
          </a:p>
        </p:txBody>
      </p:sp>
    </p:spTree>
    <p:extLst>
      <p:ext uri="{BB962C8B-B14F-4D97-AF65-F5344CB8AC3E}">
        <p14:creationId xmlns:p14="http://schemas.microsoft.com/office/powerpoint/2010/main" val="4039466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27</a:t>
            </a:fld>
            <a:endParaRPr lang="en-US" dirty="0"/>
          </a:p>
        </p:txBody>
      </p:sp>
    </p:spTree>
    <p:extLst>
      <p:ext uri="{BB962C8B-B14F-4D97-AF65-F5344CB8AC3E}">
        <p14:creationId xmlns:p14="http://schemas.microsoft.com/office/powerpoint/2010/main" val="10923664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28</a:t>
            </a:fld>
            <a:endParaRPr lang="en-US" dirty="0"/>
          </a:p>
        </p:txBody>
      </p:sp>
    </p:spTree>
    <p:extLst>
      <p:ext uri="{BB962C8B-B14F-4D97-AF65-F5344CB8AC3E}">
        <p14:creationId xmlns:p14="http://schemas.microsoft.com/office/powerpoint/2010/main" val="9885080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29</a:t>
            </a:fld>
            <a:endParaRPr lang="en-US" dirty="0"/>
          </a:p>
        </p:txBody>
      </p:sp>
    </p:spTree>
    <p:extLst>
      <p:ext uri="{BB962C8B-B14F-4D97-AF65-F5344CB8AC3E}">
        <p14:creationId xmlns:p14="http://schemas.microsoft.com/office/powerpoint/2010/main" val="11070963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30</a:t>
            </a:fld>
            <a:endParaRPr lang="en-US" dirty="0"/>
          </a:p>
        </p:txBody>
      </p:sp>
    </p:spTree>
    <p:extLst>
      <p:ext uri="{BB962C8B-B14F-4D97-AF65-F5344CB8AC3E}">
        <p14:creationId xmlns:p14="http://schemas.microsoft.com/office/powerpoint/2010/main" val="31694244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31</a:t>
            </a:fld>
            <a:endParaRPr lang="en-US" dirty="0"/>
          </a:p>
        </p:txBody>
      </p:sp>
    </p:spTree>
    <p:extLst>
      <p:ext uri="{BB962C8B-B14F-4D97-AF65-F5344CB8AC3E}">
        <p14:creationId xmlns:p14="http://schemas.microsoft.com/office/powerpoint/2010/main" val="22957279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3BB2787E-ED7D-4431-A83A-4827CDD953DD}" type="slidenum">
              <a:rPr lang="en-US" smtClean="0"/>
              <a:pPr>
                <a:defRPr/>
              </a:pPr>
              <a:t>32</a:t>
            </a:fld>
            <a:endParaRPr lang="en-US" dirty="0"/>
          </a:p>
        </p:txBody>
      </p:sp>
    </p:spTree>
    <p:extLst>
      <p:ext uri="{BB962C8B-B14F-4D97-AF65-F5344CB8AC3E}">
        <p14:creationId xmlns:p14="http://schemas.microsoft.com/office/powerpoint/2010/main" val="11065496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3BB2787E-ED7D-4431-A83A-4827CDD953DD}" type="slidenum">
              <a:rPr lang="en-US" smtClean="0"/>
              <a:pPr>
                <a:defRPr/>
              </a:pPr>
              <a:t>33</a:t>
            </a:fld>
            <a:endParaRPr lang="en-US" dirty="0"/>
          </a:p>
        </p:txBody>
      </p:sp>
    </p:spTree>
    <p:extLst>
      <p:ext uri="{BB962C8B-B14F-4D97-AF65-F5344CB8AC3E}">
        <p14:creationId xmlns:p14="http://schemas.microsoft.com/office/powerpoint/2010/main" val="15658191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3BB2787E-ED7D-4431-A83A-4827CDD953DD}" type="slidenum">
              <a:rPr lang="en-US" smtClean="0"/>
              <a:pPr>
                <a:defRPr/>
              </a:pPr>
              <a:t>34</a:t>
            </a:fld>
            <a:endParaRPr lang="en-US" dirty="0"/>
          </a:p>
        </p:txBody>
      </p:sp>
    </p:spTree>
    <p:extLst>
      <p:ext uri="{BB962C8B-B14F-4D97-AF65-F5344CB8AC3E}">
        <p14:creationId xmlns:p14="http://schemas.microsoft.com/office/powerpoint/2010/main" val="41702993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3BB2787E-ED7D-4431-A83A-4827CDD953DD}" type="slidenum">
              <a:rPr lang="en-US" smtClean="0"/>
              <a:pPr>
                <a:defRPr/>
              </a:pPr>
              <a:t>35</a:t>
            </a:fld>
            <a:endParaRPr lang="en-US" dirty="0"/>
          </a:p>
        </p:txBody>
      </p:sp>
    </p:spTree>
    <p:extLst>
      <p:ext uri="{BB962C8B-B14F-4D97-AF65-F5344CB8AC3E}">
        <p14:creationId xmlns:p14="http://schemas.microsoft.com/office/powerpoint/2010/main" val="21743687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36</a:t>
            </a:fld>
            <a:endParaRPr lang="en-US" dirty="0"/>
          </a:p>
        </p:txBody>
      </p:sp>
    </p:spTree>
    <p:extLst>
      <p:ext uri="{BB962C8B-B14F-4D97-AF65-F5344CB8AC3E}">
        <p14:creationId xmlns:p14="http://schemas.microsoft.com/office/powerpoint/2010/main" val="3528013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37</a:t>
            </a:fld>
            <a:endParaRPr lang="en-US" dirty="0"/>
          </a:p>
        </p:txBody>
      </p:sp>
    </p:spTree>
    <p:extLst>
      <p:ext uri="{BB962C8B-B14F-4D97-AF65-F5344CB8AC3E}">
        <p14:creationId xmlns:p14="http://schemas.microsoft.com/office/powerpoint/2010/main" val="402038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38</a:t>
            </a:fld>
            <a:endParaRPr lang="en-US" dirty="0"/>
          </a:p>
        </p:txBody>
      </p:sp>
    </p:spTree>
    <p:extLst>
      <p:ext uri="{BB962C8B-B14F-4D97-AF65-F5344CB8AC3E}">
        <p14:creationId xmlns:p14="http://schemas.microsoft.com/office/powerpoint/2010/main" val="13632777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39</a:t>
            </a:fld>
            <a:endParaRPr lang="en-US" dirty="0"/>
          </a:p>
        </p:txBody>
      </p:sp>
    </p:spTree>
    <p:extLst>
      <p:ext uri="{BB962C8B-B14F-4D97-AF65-F5344CB8AC3E}">
        <p14:creationId xmlns:p14="http://schemas.microsoft.com/office/powerpoint/2010/main" val="4437640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40</a:t>
            </a:fld>
            <a:endParaRPr lang="en-US" dirty="0"/>
          </a:p>
        </p:txBody>
      </p:sp>
    </p:spTree>
    <p:extLst>
      <p:ext uri="{BB962C8B-B14F-4D97-AF65-F5344CB8AC3E}">
        <p14:creationId xmlns:p14="http://schemas.microsoft.com/office/powerpoint/2010/main" val="25871557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41</a:t>
            </a:fld>
            <a:endParaRPr lang="en-US" dirty="0"/>
          </a:p>
        </p:txBody>
      </p:sp>
    </p:spTree>
    <p:extLst>
      <p:ext uri="{BB962C8B-B14F-4D97-AF65-F5344CB8AC3E}">
        <p14:creationId xmlns:p14="http://schemas.microsoft.com/office/powerpoint/2010/main" val="25337478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42</a:t>
            </a:fld>
            <a:endParaRPr lang="en-US" dirty="0"/>
          </a:p>
        </p:txBody>
      </p:sp>
    </p:spTree>
    <p:extLst>
      <p:ext uri="{BB962C8B-B14F-4D97-AF65-F5344CB8AC3E}">
        <p14:creationId xmlns:p14="http://schemas.microsoft.com/office/powerpoint/2010/main" val="37088048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43</a:t>
            </a:fld>
            <a:endParaRPr lang="en-US" dirty="0"/>
          </a:p>
        </p:txBody>
      </p:sp>
    </p:spTree>
    <p:extLst>
      <p:ext uri="{BB962C8B-B14F-4D97-AF65-F5344CB8AC3E}">
        <p14:creationId xmlns:p14="http://schemas.microsoft.com/office/powerpoint/2010/main" val="11695881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44</a:t>
            </a:fld>
            <a:endParaRPr lang="en-US" dirty="0"/>
          </a:p>
        </p:txBody>
      </p:sp>
    </p:spTree>
    <p:extLst>
      <p:ext uri="{BB962C8B-B14F-4D97-AF65-F5344CB8AC3E}">
        <p14:creationId xmlns:p14="http://schemas.microsoft.com/office/powerpoint/2010/main" val="6229898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45</a:t>
            </a:fld>
            <a:endParaRPr lang="en-US" dirty="0"/>
          </a:p>
        </p:txBody>
      </p:sp>
    </p:spTree>
    <p:extLst>
      <p:ext uri="{BB962C8B-B14F-4D97-AF65-F5344CB8AC3E}">
        <p14:creationId xmlns:p14="http://schemas.microsoft.com/office/powerpoint/2010/main" val="6553042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46</a:t>
            </a:fld>
            <a:endParaRPr lang="en-US" dirty="0"/>
          </a:p>
        </p:txBody>
      </p:sp>
    </p:spTree>
    <p:extLst>
      <p:ext uri="{BB962C8B-B14F-4D97-AF65-F5344CB8AC3E}">
        <p14:creationId xmlns:p14="http://schemas.microsoft.com/office/powerpoint/2010/main" val="1166873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8FD64B0-96AF-4CB5-992A-45FE8538DD2A}" type="slidenum">
              <a:rPr lang="en-US" smtClean="0"/>
              <a:pPr>
                <a:defRPr/>
              </a:pPr>
              <a:t>47</a:t>
            </a:fld>
            <a:endParaRPr lang="en-US" dirty="0"/>
          </a:p>
        </p:txBody>
      </p:sp>
    </p:spTree>
    <p:extLst>
      <p:ext uri="{BB962C8B-B14F-4D97-AF65-F5344CB8AC3E}">
        <p14:creationId xmlns:p14="http://schemas.microsoft.com/office/powerpoint/2010/main" val="19970289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48</a:t>
            </a:fld>
            <a:endParaRPr lang="en-US" dirty="0"/>
          </a:p>
        </p:txBody>
      </p:sp>
    </p:spTree>
    <p:extLst>
      <p:ext uri="{BB962C8B-B14F-4D97-AF65-F5344CB8AC3E}">
        <p14:creationId xmlns:p14="http://schemas.microsoft.com/office/powerpoint/2010/main" val="29857852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49</a:t>
            </a:fld>
            <a:endParaRPr lang="en-US" dirty="0"/>
          </a:p>
        </p:txBody>
      </p:sp>
    </p:spTree>
    <p:extLst>
      <p:ext uri="{BB962C8B-B14F-4D97-AF65-F5344CB8AC3E}">
        <p14:creationId xmlns:p14="http://schemas.microsoft.com/office/powerpoint/2010/main" val="12685514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50</a:t>
            </a:fld>
            <a:endParaRPr lang="en-US" dirty="0"/>
          </a:p>
        </p:txBody>
      </p:sp>
    </p:spTree>
    <p:extLst>
      <p:ext uri="{BB962C8B-B14F-4D97-AF65-F5344CB8AC3E}">
        <p14:creationId xmlns:p14="http://schemas.microsoft.com/office/powerpoint/2010/main" val="27901426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51</a:t>
            </a:fld>
            <a:endParaRPr lang="en-US" dirty="0"/>
          </a:p>
        </p:txBody>
      </p:sp>
    </p:spTree>
    <p:extLst>
      <p:ext uri="{BB962C8B-B14F-4D97-AF65-F5344CB8AC3E}">
        <p14:creationId xmlns:p14="http://schemas.microsoft.com/office/powerpoint/2010/main" val="32530087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52</a:t>
            </a:fld>
            <a:endParaRPr lang="en-US" dirty="0"/>
          </a:p>
        </p:txBody>
      </p:sp>
    </p:spTree>
    <p:extLst>
      <p:ext uri="{BB962C8B-B14F-4D97-AF65-F5344CB8AC3E}">
        <p14:creationId xmlns:p14="http://schemas.microsoft.com/office/powerpoint/2010/main" val="12074865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0" y="30163"/>
            <a:ext cx="9144000" cy="2906712"/>
          </a:xfrm>
          <a:prstGeom prst="rect">
            <a:avLst/>
          </a:prstGeom>
          <a:noFill/>
          <a:ln w="9525">
            <a:noFill/>
            <a:miter lim="800000"/>
            <a:headEnd/>
            <a:tailEnd/>
          </a:ln>
        </p:spPr>
      </p:pic>
      <p:sp>
        <p:nvSpPr>
          <p:cNvPr id="2" name="Title 1"/>
          <p:cNvSpPr>
            <a:spLocks noGrp="1"/>
          </p:cNvSpPr>
          <p:nvPr>
            <p:ph type="ctrTitle"/>
          </p:nvPr>
        </p:nvSpPr>
        <p:spPr>
          <a:xfrm>
            <a:off x="685800" y="2968625"/>
            <a:ext cx="7772400" cy="1470025"/>
          </a:xfrm>
        </p:spPr>
        <p:txBody>
          <a:bodyPr/>
          <a:lstStyle>
            <a:lvl1pPr>
              <a:defRPr>
                <a:solidFill>
                  <a:schemeClr val="tx2">
                    <a:lumMod val="60000"/>
                    <a:lumOff val="40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4724400"/>
            <a:ext cx="6400800" cy="1752600"/>
          </a:xfrm>
        </p:spPr>
        <p:txBody>
          <a:bodyPr/>
          <a:lstStyle>
            <a:lvl1pPr marL="0" indent="0" algn="ctr">
              <a:buNone/>
              <a:defRPr>
                <a:solidFill>
                  <a:schemeClr val="accent6">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9"/>
          <p:cNvSpPr>
            <a:spLocks noGrp="1"/>
          </p:cNvSpPr>
          <p:nvPr>
            <p:ph type="sldNum" sz="quarter" idx="10"/>
          </p:nvPr>
        </p:nvSpPr>
        <p:spPr/>
        <p:txBody>
          <a:bodyPr/>
          <a:lstStyle>
            <a:lvl1pPr>
              <a:defRPr/>
            </a:lvl1pPr>
          </a:lstStyle>
          <a:p>
            <a:pPr>
              <a:defRPr/>
            </a:pPr>
            <a:fld id="{3F00AF05-15F3-48AB-A909-437515DB97CC}" type="slidenum">
              <a:rPr lang="en-US"/>
              <a:pPr>
                <a:defRPr/>
              </a:pPr>
              <a:t>‹#›</a:t>
            </a:fld>
            <a:endParaRPr lang="en-US" dirty="0"/>
          </a:p>
        </p:txBody>
      </p:sp>
      <p:sp>
        <p:nvSpPr>
          <p:cNvPr id="5" name="Footer Placeholder 10"/>
          <p:cNvSpPr>
            <a:spLocks noGrp="1"/>
          </p:cNvSpPr>
          <p:nvPr>
            <p:ph type="ftr" sz="quarter" idx="11"/>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304D9CCC-5717-4F7A-8350-CCDF597FD56C}"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7381D191-2F63-47D7-B430-7050E83CCD6D}"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8" name="Slide Number Placeholder 10"/>
          <p:cNvSpPr>
            <a:spLocks noGrp="1"/>
          </p:cNvSpPr>
          <p:nvPr>
            <p:ph type="sldNum" sz="quarter" idx="11"/>
          </p:nvPr>
        </p:nvSpPr>
        <p:spPr/>
        <p:txBody>
          <a:bodyPr/>
          <a:lstStyle>
            <a:lvl1pPr>
              <a:defRPr/>
            </a:lvl1pPr>
          </a:lstStyle>
          <a:p>
            <a:pPr>
              <a:defRPr/>
            </a:pPr>
            <a:fld id="{B14B6C1F-85BA-43D0-8199-249FC72844AE}" type="slidenum">
              <a:rPr lang="en-US"/>
              <a:pPr>
                <a:defRPr/>
              </a:pPr>
              <a:t>‹#›</a:t>
            </a:fld>
            <a:endParaRPr lang="en-US" dirty="0"/>
          </a:p>
        </p:txBody>
      </p:sp>
      <p:sp>
        <p:nvSpPr>
          <p:cNvPr id="9" name="Footer Placeholder 11"/>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5"/>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4" name="Slide Number Placeholder 6"/>
          <p:cNvSpPr>
            <a:spLocks noGrp="1"/>
          </p:cNvSpPr>
          <p:nvPr>
            <p:ph type="sldNum" sz="quarter" idx="11"/>
          </p:nvPr>
        </p:nvSpPr>
        <p:spPr/>
        <p:txBody>
          <a:bodyPr/>
          <a:lstStyle>
            <a:lvl1pPr>
              <a:defRPr/>
            </a:lvl1pPr>
          </a:lstStyle>
          <a:p>
            <a:pPr>
              <a:defRPr/>
            </a:pPr>
            <a:fld id="{56554F68-CA65-421A-9FB3-B6B76451E6FA}" type="slidenum">
              <a:rPr lang="en-US"/>
              <a:pPr>
                <a:defRPr/>
              </a:pPr>
              <a:t>‹#›</a:t>
            </a:fld>
            <a:endParaRPr lang="en-US" dirty="0"/>
          </a:p>
        </p:txBody>
      </p:sp>
      <p:sp>
        <p:nvSpPr>
          <p:cNvPr id="5" name="Footer Placeholder 7"/>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3" name="Slide Number Placeholder 5"/>
          <p:cNvSpPr>
            <a:spLocks noGrp="1"/>
          </p:cNvSpPr>
          <p:nvPr>
            <p:ph type="sldNum" sz="quarter" idx="11"/>
          </p:nvPr>
        </p:nvSpPr>
        <p:spPr/>
        <p:txBody>
          <a:bodyPr/>
          <a:lstStyle>
            <a:lvl1pPr>
              <a:defRPr/>
            </a:lvl1pPr>
          </a:lstStyle>
          <a:p>
            <a:pPr>
              <a:defRPr/>
            </a:pPr>
            <a:fld id="{E2A9A62B-65AC-4837-8A2D-56C9A4CD6349}" type="slidenum">
              <a:rPr lang="en-US"/>
              <a:pPr>
                <a:defRPr/>
              </a:pPr>
              <a:t>‹#›</a:t>
            </a:fld>
            <a:endParaRPr lang="en-US" dirty="0"/>
          </a:p>
        </p:txBody>
      </p:sp>
      <p:sp>
        <p:nvSpPr>
          <p:cNvPr id="4" name="Footer Placeholder 6"/>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A10BA6C7-BA7F-48F1-B3AE-EF81C61B39D1}"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9CEF07C1-47FC-4251-AEF7-899AC023328D}"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7A40A4A9-46CC-49A6-8980-AEC2300E98BA}"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5CAA3C1D-55C6-40AA-B1E0-05265743EB45}"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8" descr="DECOLORED2.jpg"/>
          <p:cNvPicPr>
            <a:picLocks noChangeAspect="1"/>
          </p:cNvPicPr>
          <p:nvPr userDrawn="1"/>
        </p:nvPicPr>
        <p:blipFill>
          <a:blip r:embed="rId13" cstate="print"/>
          <a:srcRect/>
          <a:stretch>
            <a:fillRect/>
          </a:stretch>
        </p:blipFill>
        <p:spPr bwMode="auto">
          <a:xfrm>
            <a:off x="0" y="0"/>
            <a:ext cx="9144000" cy="1600200"/>
          </a:xfrm>
          <a:prstGeom prst="rect">
            <a:avLst/>
          </a:prstGeom>
          <a:noFill/>
          <a:ln w="9525">
            <a:noFill/>
            <a:miter lim="800000"/>
            <a:headEnd/>
            <a:tailEnd/>
          </a:ln>
        </p:spPr>
      </p:pic>
      <p:sp>
        <p:nvSpPr>
          <p:cNvPr id="1027"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accent6">
                    <a:lumMod val="75000"/>
                  </a:schemeClr>
                </a:solidFill>
                <a:latin typeface="+mj-lt"/>
              </a:defRPr>
            </a:lvl1pPr>
          </a:lstStyle>
          <a:p>
            <a:pPr>
              <a:defRPr/>
            </a:pPr>
            <a:fld id="{91DB0802-8C73-4FE0-B249-A6FB9C5E4C8C}" type="slidenum">
              <a:rPr lang="en-US"/>
              <a:pPr>
                <a:defRPr/>
              </a:pPr>
              <a:t>‹#›</a:t>
            </a:fld>
            <a:endParaRPr lang="en-US" dirty="0"/>
          </a:p>
        </p:txBody>
      </p:sp>
      <p:sp>
        <p:nvSpPr>
          <p:cNvPr id="7" name="Footer Placeholder 6"/>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a:defRPr sz="1200" dirty="0" smtClean="0">
                <a:solidFill>
                  <a:schemeClr val="accent6">
                    <a:lumMod val="75000"/>
                  </a:schemeClr>
                </a:solidFill>
                <a:latin typeface="+mj-lt"/>
              </a:defRPr>
            </a:lvl1pPr>
          </a:lstStyle>
          <a:p>
            <a:pPr>
              <a:defRPr/>
            </a:pPr>
            <a:r>
              <a:rPr lang="en-US" dirty="0" smtClean="0"/>
              <a:t>Programming Logic and Design, Ninth Edition</a:t>
            </a:r>
            <a:endParaRPr lang="en-US" dirty="0"/>
          </a:p>
        </p:txBody>
      </p:sp>
    </p:spTree>
  </p:cSld>
  <p:clrMap bg1="lt1" tx1="dk1" bg2="lt2" tx2="dk2" accent1="accent1" accent2="accent2" accent3="accent3" accent4="accent4" accent5="accent5" accent6="accent6" hlink="hlink" folHlink="folHlink"/>
  <p:sldLayoutIdLst>
    <p:sldLayoutId id="2147484905" r:id="rId1"/>
    <p:sldLayoutId id="2147484906" r:id="rId2"/>
    <p:sldLayoutId id="2147484907" r:id="rId3"/>
    <p:sldLayoutId id="2147484908" r:id="rId4"/>
    <p:sldLayoutId id="2147484909" r:id="rId5"/>
    <p:sldLayoutId id="2147484910" r:id="rId6"/>
    <p:sldLayoutId id="2147484911" r:id="rId7"/>
    <p:sldLayoutId id="2147484912" r:id="rId8"/>
    <p:sldLayoutId id="2147484913" r:id="rId9"/>
    <p:sldLayoutId id="2147484914" r:id="rId10"/>
    <p:sldLayoutId id="2147484915" r:id="rId11"/>
  </p:sldLayoutIdLst>
  <p:hf hdr="0" dt="0"/>
  <p:txStyles>
    <p:titleStyle>
      <a:lvl1pPr algn="ctr" rtl="0" fontAlgn="base">
        <a:spcBef>
          <a:spcPct val="0"/>
        </a:spcBef>
        <a:spcAft>
          <a:spcPct val="0"/>
        </a:spcAft>
        <a:defRPr sz="4400" kern="1200">
          <a:solidFill>
            <a:srgbClr val="558ED5"/>
          </a:solidFill>
          <a:latin typeface="+mj-lt"/>
          <a:ea typeface="+mj-ea"/>
          <a:cs typeface="+mj-cs"/>
        </a:defRPr>
      </a:lvl1pPr>
      <a:lvl2pPr algn="ctr" rtl="0" fontAlgn="base">
        <a:spcBef>
          <a:spcPct val="0"/>
        </a:spcBef>
        <a:spcAft>
          <a:spcPct val="0"/>
        </a:spcAft>
        <a:defRPr sz="4400">
          <a:solidFill>
            <a:srgbClr val="558ED5"/>
          </a:solidFill>
          <a:latin typeface="Calibri" pitchFamily="34" charset="0"/>
        </a:defRPr>
      </a:lvl2pPr>
      <a:lvl3pPr algn="ctr" rtl="0" fontAlgn="base">
        <a:spcBef>
          <a:spcPct val="0"/>
        </a:spcBef>
        <a:spcAft>
          <a:spcPct val="0"/>
        </a:spcAft>
        <a:defRPr sz="4400">
          <a:solidFill>
            <a:srgbClr val="558ED5"/>
          </a:solidFill>
          <a:latin typeface="Calibri" pitchFamily="34" charset="0"/>
        </a:defRPr>
      </a:lvl3pPr>
      <a:lvl4pPr algn="ctr" rtl="0" fontAlgn="base">
        <a:spcBef>
          <a:spcPct val="0"/>
        </a:spcBef>
        <a:spcAft>
          <a:spcPct val="0"/>
        </a:spcAft>
        <a:defRPr sz="4400">
          <a:solidFill>
            <a:srgbClr val="558ED5"/>
          </a:solidFill>
          <a:latin typeface="Calibri" pitchFamily="34" charset="0"/>
        </a:defRPr>
      </a:lvl4pPr>
      <a:lvl5pPr algn="ctr" rtl="0" fontAlgn="base">
        <a:spcBef>
          <a:spcPct val="0"/>
        </a:spcBef>
        <a:spcAft>
          <a:spcPct val="0"/>
        </a:spcAft>
        <a:defRPr sz="4400">
          <a:solidFill>
            <a:srgbClr val="558ED5"/>
          </a:solidFill>
          <a:latin typeface="Calibri" pitchFamily="34" charset="0"/>
        </a:defRPr>
      </a:lvl5pPr>
      <a:lvl6pPr marL="457200" algn="ctr" rtl="0" eaLnBrk="1" fontAlgn="base" hangingPunct="1">
        <a:spcBef>
          <a:spcPct val="0"/>
        </a:spcBef>
        <a:spcAft>
          <a:spcPct val="0"/>
        </a:spcAft>
        <a:defRPr sz="4400">
          <a:solidFill>
            <a:srgbClr val="558ED5"/>
          </a:solidFill>
          <a:latin typeface="Calibri" pitchFamily="34" charset="0"/>
        </a:defRPr>
      </a:lvl6pPr>
      <a:lvl7pPr marL="914400" algn="ctr" rtl="0" eaLnBrk="1" fontAlgn="base" hangingPunct="1">
        <a:spcBef>
          <a:spcPct val="0"/>
        </a:spcBef>
        <a:spcAft>
          <a:spcPct val="0"/>
        </a:spcAft>
        <a:defRPr sz="4400">
          <a:solidFill>
            <a:srgbClr val="558ED5"/>
          </a:solidFill>
          <a:latin typeface="Calibri" pitchFamily="34" charset="0"/>
        </a:defRPr>
      </a:lvl7pPr>
      <a:lvl8pPr marL="1371600" algn="ctr" rtl="0" eaLnBrk="1" fontAlgn="base" hangingPunct="1">
        <a:spcBef>
          <a:spcPct val="0"/>
        </a:spcBef>
        <a:spcAft>
          <a:spcPct val="0"/>
        </a:spcAft>
        <a:defRPr sz="4400">
          <a:solidFill>
            <a:srgbClr val="558ED5"/>
          </a:solidFill>
          <a:latin typeface="Calibri" pitchFamily="34" charset="0"/>
        </a:defRPr>
      </a:lvl8pPr>
      <a:lvl9pPr marL="1828800" algn="ctr" rtl="0" eaLnBrk="1" fontAlgn="base" hangingPunct="1">
        <a:spcBef>
          <a:spcPct val="0"/>
        </a:spcBef>
        <a:spcAft>
          <a:spcPct val="0"/>
        </a:spcAft>
        <a:defRPr sz="4400">
          <a:solidFill>
            <a:srgbClr val="558ED5"/>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22.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986" y="608807"/>
            <a:ext cx="8229600" cy="1143000"/>
          </a:xfrm>
        </p:spPr>
        <p:txBody>
          <a:bodyPr/>
          <a:lstStyle/>
          <a:p>
            <a:r>
              <a:rPr lang="en-US" b="1" dirty="0"/>
              <a:t>Programming Logic and Design</a:t>
            </a:r>
            <a:br>
              <a:rPr lang="en-US" b="1" dirty="0"/>
            </a:br>
            <a:r>
              <a:rPr lang="en-US" b="1" i="1" dirty="0"/>
              <a:t>Ninth Edition</a:t>
            </a:r>
            <a:endParaRPr lang="en-US" b="1" dirty="0"/>
          </a:p>
        </p:txBody>
      </p:sp>
      <p:sp>
        <p:nvSpPr>
          <p:cNvPr id="3" name="Content Placeholder 2"/>
          <p:cNvSpPr>
            <a:spLocks noGrp="1"/>
          </p:cNvSpPr>
          <p:nvPr>
            <p:ph idx="1"/>
          </p:nvPr>
        </p:nvSpPr>
        <p:spPr>
          <a:xfrm>
            <a:off x="457200" y="2438400"/>
            <a:ext cx="8229600" cy="3687763"/>
          </a:xfrm>
        </p:spPr>
        <p:txBody>
          <a:bodyPr/>
          <a:lstStyle/>
          <a:p>
            <a:pPr algn="ctr" eaLnBrk="1" hangingPunct="1">
              <a:lnSpc>
                <a:spcPct val="90000"/>
              </a:lnSpc>
              <a:buFont typeface="Arial" pitchFamily="34" charset="0"/>
              <a:buNone/>
              <a:defRPr/>
            </a:pPr>
            <a:r>
              <a:rPr lang="en-US" sz="3400" i="1" dirty="0"/>
              <a:t>Chapter </a:t>
            </a:r>
            <a:r>
              <a:rPr lang="en-US" sz="3400" i="1" dirty="0" smtClean="0"/>
              <a:t>11</a:t>
            </a:r>
          </a:p>
          <a:p>
            <a:pPr marL="0" indent="0" algn="ctr">
              <a:buNone/>
              <a:defRPr/>
            </a:pPr>
            <a:r>
              <a:rPr lang="en-US" sz="3200" i="1" dirty="0" smtClean="0"/>
              <a:t>More Object-Oriented Programming Concepts</a:t>
            </a:r>
            <a:endParaRPr lang="en-US" sz="3200" i="1" dirty="0"/>
          </a:p>
        </p:txBody>
      </p:sp>
      <p:sp>
        <p:nvSpPr>
          <p:cNvPr id="4" name="Slide Number Placeholder 3"/>
          <p:cNvSpPr>
            <a:spLocks noGrp="1"/>
          </p:cNvSpPr>
          <p:nvPr>
            <p:ph type="sldNum" sz="quarter" idx="10"/>
          </p:nvPr>
        </p:nvSpPr>
        <p:spPr/>
        <p:txBody>
          <a:bodyPr/>
          <a:lstStyle/>
          <a:p>
            <a:pPr>
              <a:defRPr/>
            </a:pPr>
            <a:fld id="{0F66439E-C25C-4026-841B-CBBDFA57E0D0}" type="slidenum">
              <a:rPr lang="en-US">
                <a:solidFill>
                  <a:srgbClr val="F79646">
                    <a:lumMod val="75000"/>
                  </a:srgbClr>
                </a:solidFill>
              </a:rPr>
              <a:pPr>
                <a:defRPr/>
              </a:pPr>
              <a:t>1</a:t>
            </a:fld>
            <a:endParaRPr lang="en-US" dirty="0">
              <a:solidFill>
                <a:srgbClr val="F79646">
                  <a:lumMod val="75000"/>
                </a:srgbClr>
              </a:solidFill>
            </a:endParaRPr>
          </a:p>
        </p:txBody>
      </p:sp>
      <p:sp>
        <p:nvSpPr>
          <p:cNvPr id="5" name="Footer Placeholder 4"/>
          <p:cNvSpPr>
            <a:spLocks noGrp="1"/>
          </p:cNvSpPr>
          <p:nvPr>
            <p:ph type="ftr" sz="quarter" idx="11"/>
          </p:nvPr>
        </p:nvSpPr>
        <p:spPr/>
        <p:txBody>
          <a:bodyPr/>
          <a:lstStyle/>
          <a:p>
            <a:pPr>
              <a:defRPr/>
            </a:pPr>
            <a:r>
              <a:rPr lang="en-US" dirty="0">
                <a:solidFill>
                  <a:srgbClr val="F79646">
                    <a:lumMod val="75000"/>
                  </a:srgbClr>
                </a:solidFill>
              </a:rPr>
              <a:t>Programming Logic and Design, Ninth Edition</a:t>
            </a:r>
          </a:p>
        </p:txBody>
      </p:sp>
    </p:spTree>
    <p:extLst>
      <p:ext uri="{BB962C8B-B14F-4D97-AF65-F5344CB8AC3E}">
        <p14:creationId xmlns:p14="http://schemas.microsoft.com/office/powerpoint/2010/main" val="23884792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a:t>Objectives</a:t>
            </a:r>
            <a:endParaRPr lang="en-US" dirty="0" smtClean="0"/>
          </a:p>
        </p:txBody>
      </p:sp>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2</a:t>
            </a:fld>
            <a:endParaRPr lang="en-US" dirty="0"/>
          </a:p>
        </p:txBody>
      </p:sp>
      <p:sp>
        <p:nvSpPr>
          <p:cNvPr id="8" name="Content Placeholder 8"/>
          <p:cNvSpPr>
            <a:spLocks noGrp="1"/>
          </p:cNvSpPr>
          <p:nvPr>
            <p:ph idx="1"/>
          </p:nvPr>
        </p:nvSpPr>
        <p:spPr>
          <a:xfrm>
            <a:off x="533400" y="1676400"/>
            <a:ext cx="8077200" cy="4572000"/>
          </a:xfrm>
        </p:spPr>
        <p:txBody>
          <a:bodyPr/>
          <a:lstStyle/>
          <a:p>
            <a:pPr>
              <a:buFontTx/>
              <a:buNone/>
            </a:pPr>
            <a:r>
              <a:rPr lang="en-US" dirty="0"/>
              <a:t>In this chapter, you will learn about:</a:t>
            </a:r>
          </a:p>
          <a:p>
            <a:r>
              <a:rPr lang="en-US" dirty="0"/>
              <a:t>Constructors</a:t>
            </a:r>
          </a:p>
          <a:p>
            <a:r>
              <a:rPr lang="en-US" dirty="0"/>
              <a:t>Destructors</a:t>
            </a:r>
          </a:p>
          <a:p>
            <a:r>
              <a:rPr lang="en-US" dirty="0"/>
              <a:t>Composition</a:t>
            </a:r>
          </a:p>
          <a:p>
            <a:r>
              <a:rPr lang="en-US" dirty="0"/>
              <a:t>Inheritance</a:t>
            </a:r>
          </a:p>
          <a:p>
            <a:r>
              <a:rPr lang="en-US" dirty="0"/>
              <a:t>GUI </a:t>
            </a:r>
            <a:r>
              <a:rPr lang="en-US" dirty="0" smtClean="0"/>
              <a:t>objects</a:t>
            </a:r>
            <a:endParaRPr lang="en-US" dirty="0"/>
          </a:p>
          <a:p>
            <a:r>
              <a:rPr lang="en-US" dirty="0"/>
              <a:t>Exception </a:t>
            </a:r>
            <a:r>
              <a:rPr lang="en-US" dirty="0" smtClean="0"/>
              <a:t>handling</a:t>
            </a:r>
            <a:endParaRPr lang="en-US" dirty="0"/>
          </a:p>
          <a:p>
            <a:r>
              <a:rPr lang="en-US" dirty="0"/>
              <a:t>The advantages of object-oriented programming</a:t>
            </a:r>
          </a:p>
          <a:p>
            <a:pPr lvl="1"/>
            <a:endParaRPr lang="en-US"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3585393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smtClean="0"/>
              <a:t>Understanding Constructors</a:t>
            </a:r>
          </a:p>
        </p:txBody>
      </p:sp>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3</a:t>
            </a:fld>
            <a:endParaRPr lang="en-US" dirty="0"/>
          </a:p>
        </p:txBody>
      </p:sp>
      <p:sp>
        <p:nvSpPr>
          <p:cNvPr id="8" name="Content Placeholder 8"/>
          <p:cNvSpPr>
            <a:spLocks noGrp="1"/>
          </p:cNvSpPr>
          <p:nvPr>
            <p:ph idx="1"/>
          </p:nvPr>
        </p:nvSpPr>
        <p:spPr>
          <a:xfrm>
            <a:off x="533400" y="1676400"/>
            <a:ext cx="8077200" cy="4572000"/>
          </a:xfrm>
        </p:spPr>
        <p:txBody>
          <a:bodyPr/>
          <a:lstStyle/>
          <a:p>
            <a:r>
              <a:rPr lang="en-US" b="1" dirty="0" smtClean="0"/>
              <a:t>Constructor</a:t>
            </a:r>
          </a:p>
          <a:p>
            <a:pPr lvl="1"/>
            <a:r>
              <a:rPr lang="en-US" dirty="0" smtClean="0"/>
              <a:t>A method that has the same name as the class</a:t>
            </a:r>
          </a:p>
          <a:p>
            <a:pPr lvl="1"/>
            <a:r>
              <a:rPr lang="en-US" dirty="0" smtClean="0"/>
              <a:t>Establishes an object</a:t>
            </a:r>
          </a:p>
          <a:p>
            <a:r>
              <a:rPr lang="en-US" dirty="0" smtClean="0"/>
              <a:t>Constructors fall into two categories:</a:t>
            </a:r>
            <a:endParaRPr lang="en-US" dirty="0"/>
          </a:p>
          <a:p>
            <a:pPr lvl="1"/>
            <a:r>
              <a:rPr lang="en-US" b="1" dirty="0" smtClean="0"/>
              <a:t>Default constructor </a:t>
            </a:r>
          </a:p>
          <a:p>
            <a:pPr lvl="2"/>
            <a:r>
              <a:rPr lang="en-US" sz="2200" dirty="0" smtClean="0"/>
              <a:t>Requires no arguments</a:t>
            </a:r>
          </a:p>
          <a:p>
            <a:pPr lvl="1"/>
            <a:r>
              <a:rPr lang="en-US" b="1" dirty="0" smtClean="0"/>
              <a:t>Non-default or parameterized constructor</a:t>
            </a:r>
            <a:endParaRPr lang="en-US" b="1" dirty="0"/>
          </a:p>
          <a:p>
            <a:pPr lvl="2"/>
            <a:r>
              <a:rPr lang="en-US" sz="2200" dirty="0" smtClean="0"/>
              <a:t>Requires arguments</a:t>
            </a:r>
            <a:endParaRPr lang="en-US"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smtClean="0"/>
              <a:t>Understanding </a:t>
            </a:r>
            <a:r>
              <a:rPr lang="en-US" dirty="0"/>
              <a:t>Constructors </a:t>
            </a:r>
            <a:r>
              <a:rPr lang="en-US" sz="1200" dirty="0"/>
              <a:t>(continued)</a:t>
            </a:r>
            <a:endParaRPr lang="en-US" sz="1200" dirty="0" smtClean="0"/>
          </a:p>
        </p:txBody>
      </p:sp>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4</a:t>
            </a:fld>
            <a:endParaRPr lang="en-US" dirty="0"/>
          </a:p>
        </p:txBody>
      </p:sp>
      <p:sp>
        <p:nvSpPr>
          <p:cNvPr id="8" name="Content Placeholder 8"/>
          <p:cNvSpPr>
            <a:spLocks noGrp="1"/>
          </p:cNvSpPr>
          <p:nvPr>
            <p:ph idx="1"/>
          </p:nvPr>
        </p:nvSpPr>
        <p:spPr>
          <a:xfrm>
            <a:off x="533400" y="1676400"/>
            <a:ext cx="8077200" cy="4572000"/>
          </a:xfrm>
        </p:spPr>
        <p:txBody>
          <a:bodyPr/>
          <a:lstStyle/>
          <a:p>
            <a:r>
              <a:rPr lang="en-US" dirty="0" smtClean="0"/>
              <a:t>A class can have three types of constructors:</a:t>
            </a:r>
          </a:p>
          <a:p>
            <a:pPr lvl="1"/>
            <a:r>
              <a:rPr lang="en-US" b="1" dirty="0" smtClean="0"/>
              <a:t>Default constructor </a:t>
            </a:r>
            <a:r>
              <a:rPr lang="en-US" dirty="0" smtClean="0"/>
              <a:t>– </a:t>
            </a:r>
          </a:p>
          <a:p>
            <a:pPr marL="1371600" lvl="2" indent="-457200">
              <a:buFont typeface="+mj-lt"/>
              <a:buAutoNum type="arabicPeriod"/>
            </a:pPr>
            <a:r>
              <a:rPr lang="en-US" sz="2200" dirty="0" smtClean="0"/>
              <a:t>automatically-created </a:t>
            </a:r>
            <a:r>
              <a:rPr lang="en-US" sz="2200" dirty="0"/>
              <a:t>default constructor exists in a class in which the </a:t>
            </a:r>
            <a:r>
              <a:rPr lang="en-US" sz="2200" dirty="0" smtClean="0"/>
              <a:t>programmer has </a:t>
            </a:r>
            <a:r>
              <a:rPr lang="en-US" sz="2200" dirty="0"/>
              <a:t>not explicitly written any </a:t>
            </a:r>
            <a:r>
              <a:rPr lang="en-US" sz="2200" dirty="0" smtClean="0"/>
              <a:t>constructors</a:t>
            </a:r>
          </a:p>
          <a:p>
            <a:pPr marL="1371600" lvl="2" indent="-457200">
              <a:buFont typeface="+mj-lt"/>
              <a:buAutoNum type="arabicPeriod"/>
            </a:pPr>
            <a:r>
              <a:rPr lang="en-US" sz="2200" dirty="0" smtClean="0"/>
              <a:t>Programmer-written </a:t>
            </a:r>
            <a:r>
              <a:rPr lang="en-US" sz="2200" dirty="0"/>
              <a:t>default constructor can reside in any class and replaces </a:t>
            </a:r>
            <a:r>
              <a:rPr lang="en-US" sz="2200" dirty="0" smtClean="0"/>
              <a:t>the automatically-created </a:t>
            </a:r>
            <a:r>
              <a:rPr lang="en-US" sz="2200" dirty="0"/>
              <a:t>one</a:t>
            </a:r>
            <a:endParaRPr lang="en-US" sz="2200" dirty="0" smtClean="0"/>
          </a:p>
          <a:p>
            <a:pPr lvl="1"/>
            <a:r>
              <a:rPr lang="en-US" b="1" dirty="0" smtClean="0"/>
              <a:t>Non-default </a:t>
            </a:r>
            <a:r>
              <a:rPr lang="en-US" dirty="0" smtClean="0"/>
              <a:t>or</a:t>
            </a:r>
            <a:r>
              <a:rPr lang="en-US" b="1" dirty="0" smtClean="0"/>
              <a:t> parameterized constructor</a:t>
            </a:r>
            <a:endParaRPr lang="en-US" b="1" dirty="0"/>
          </a:p>
          <a:p>
            <a:pPr marL="1371600" lvl="2" indent="-457200">
              <a:buFont typeface="+mj-lt"/>
              <a:buAutoNum type="arabicPeriod" startAt="3"/>
            </a:pPr>
            <a:r>
              <a:rPr lang="en-US" sz="2200" dirty="0" smtClean="0"/>
              <a:t>Written by </a:t>
            </a:r>
            <a:r>
              <a:rPr lang="en-US" sz="2200" dirty="0" smtClean="0"/>
              <a:t>programmer with one of more parameters</a:t>
            </a:r>
            <a:endParaRPr lang="en-US" sz="2200" dirty="0" smtClean="0"/>
          </a:p>
          <a:p>
            <a:pPr marL="457200" lvl="1" indent="0">
              <a:buNone/>
            </a:pPr>
            <a:endParaRPr lang="en-US"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6112040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28600"/>
            <a:ext cx="8229600" cy="1143000"/>
          </a:xfrm>
        </p:spPr>
        <p:txBody>
          <a:bodyPr/>
          <a:lstStyle/>
          <a:p>
            <a:r>
              <a:rPr lang="en-US" dirty="0" smtClean="0"/>
              <a:t>Default </a:t>
            </a:r>
            <a:r>
              <a:rPr lang="en-US" dirty="0" smtClean="0"/>
              <a:t>Constructors</a:t>
            </a:r>
            <a:endParaRPr lang="en-US" sz="1200" dirty="0" smtClean="0"/>
          </a:p>
        </p:txBody>
      </p:sp>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5</a:t>
            </a:fld>
            <a:endParaRPr lang="en-US" dirty="0"/>
          </a:p>
        </p:txBody>
      </p:sp>
      <p:sp>
        <p:nvSpPr>
          <p:cNvPr id="7" name="Content Placeholder 8"/>
          <p:cNvSpPr>
            <a:spLocks noGrp="1"/>
          </p:cNvSpPr>
          <p:nvPr>
            <p:ph idx="1"/>
          </p:nvPr>
        </p:nvSpPr>
        <p:spPr>
          <a:xfrm>
            <a:off x="533400" y="1676400"/>
            <a:ext cx="8077200" cy="4572000"/>
          </a:xfrm>
        </p:spPr>
        <p:txBody>
          <a:bodyPr/>
          <a:lstStyle/>
          <a:p>
            <a:r>
              <a:rPr lang="en-US" dirty="0" smtClean="0"/>
              <a:t>Default constructor for the </a:t>
            </a:r>
            <a:r>
              <a:rPr lang="en-US" dirty="0" smtClean="0">
                <a:latin typeface="Courier New" pitchFamily="49" charset="0"/>
                <a:cs typeface="Courier New" pitchFamily="49" charset="0"/>
              </a:rPr>
              <a:t>Employee</a:t>
            </a:r>
            <a:r>
              <a:rPr lang="en-US" dirty="0" smtClean="0"/>
              <a:t> class </a:t>
            </a:r>
          </a:p>
          <a:p>
            <a:pPr lvl="1"/>
            <a:r>
              <a:rPr lang="en-US" dirty="0" smtClean="0"/>
              <a:t>Establishes one </a:t>
            </a:r>
            <a:r>
              <a:rPr lang="en-US" dirty="0" smtClean="0">
                <a:latin typeface="Courier New" pitchFamily="49" charset="0"/>
                <a:cs typeface="Courier New" pitchFamily="49" charset="0"/>
              </a:rPr>
              <a:t>Employee</a:t>
            </a:r>
            <a:r>
              <a:rPr lang="en-US" dirty="0" smtClean="0"/>
              <a:t> object with the identifier provided</a:t>
            </a:r>
          </a:p>
          <a:p>
            <a:r>
              <a:rPr lang="en-US" dirty="0" smtClean="0"/>
              <a:t>Declare constructors to be public so that other classes can instantiate objects that belong to the class</a:t>
            </a:r>
          </a:p>
          <a:p>
            <a:r>
              <a:rPr lang="en-US" dirty="0" smtClean="0"/>
              <a:t>Write any statement you want in a constructor</a:t>
            </a:r>
          </a:p>
          <a:p>
            <a:r>
              <a:rPr lang="en-US" dirty="0" smtClean="0"/>
              <a:t>Place the constructor anywhere inside the class</a:t>
            </a:r>
          </a:p>
          <a:p>
            <a:pPr lvl="1"/>
            <a:r>
              <a:rPr lang="en-US" dirty="0" smtClean="0"/>
              <a:t>Often, programmers list the constructor first</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7031782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318655" y="228600"/>
            <a:ext cx="3200400" cy="2362200"/>
          </a:xfrm>
        </p:spPr>
        <p:txBody>
          <a:bodyPr/>
          <a:lstStyle/>
          <a:p>
            <a:pPr algn="l"/>
            <a:r>
              <a:rPr lang="en-US" dirty="0"/>
              <a:t>Default Constructors </a:t>
            </a:r>
            <a:r>
              <a:rPr lang="en-US" sz="1200" dirty="0" smtClean="0"/>
              <a:t>(</a:t>
            </a:r>
            <a:r>
              <a:rPr lang="en-US" sz="1200" dirty="0" smtClean="0"/>
              <a:t>continued -1)</a:t>
            </a:r>
            <a:endParaRPr lang="en-US" sz="1200" dirty="0" smtClean="0"/>
          </a:p>
        </p:txBody>
      </p:sp>
      <p:pic>
        <p:nvPicPr>
          <p:cNvPr id="2" name="Picture 1" descr="The Employee constructor initializes every Employee object to have a starting hourly wage of $10.00 as well as calling the calculateWeeklyPay method which calculates the correct weekly pay." title="Employee class with a default constructor that sets hourlyWage and weeklyPa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9055" y="640535"/>
            <a:ext cx="5486400" cy="5720981"/>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6</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28600"/>
            <a:ext cx="8229600" cy="1143000"/>
          </a:xfrm>
        </p:spPr>
        <p:txBody>
          <a:bodyPr/>
          <a:lstStyle/>
          <a:p>
            <a:r>
              <a:rPr lang="en-US" dirty="0"/>
              <a:t>Default </a:t>
            </a:r>
            <a:r>
              <a:rPr lang="en-US" dirty="0"/>
              <a:t>Constructors </a:t>
            </a:r>
            <a:r>
              <a:rPr lang="en-US" sz="1200" dirty="0"/>
              <a:t>(</a:t>
            </a:r>
            <a:r>
              <a:rPr lang="en-US" sz="1200" dirty="0" smtClean="0"/>
              <a:t>continued -2)</a:t>
            </a:r>
            <a:endParaRPr lang="en-US" sz="1200" dirty="0" smtClean="0"/>
          </a:p>
        </p:txBody>
      </p:sp>
      <p:pic>
        <p:nvPicPr>
          <p:cNvPr id="2" name="Picture 1" descr="A program in which two Employee objects are declared and their&#10;hourlyWage values are displayed." title="Program that declares Employee objects using class in previous figur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41392" y="1216628"/>
            <a:ext cx="4461215" cy="2022282"/>
          </a:xfrm>
          <a:prstGeom prst="rect">
            <a:avLst/>
          </a:prstGeom>
        </p:spPr>
      </p:pic>
      <p:pic>
        <p:nvPicPr>
          <p:cNvPr id="3" name="Picture 2" descr="Even though the setHourlyWage method is never called directly in the program, the Employees possess valid hourly wages as set by their constructors." title="Output of program that declares Employee object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 y="3560129"/>
            <a:ext cx="4041102" cy="1857822"/>
          </a:xfrm>
          <a:prstGeom prst="rect">
            <a:avLst/>
          </a:prstGeom>
        </p:spPr>
      </p:pic>
      <p:pic>
        <p:nvPicPr>
          <p:cNvPr id="4" name="Picture 3" descr="In this version of the constructor, a named constant with the value 10.00 is passed to setHourlyWage method." title="Improved version of the Employee class constructo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02230" y="4889219"/>
            <a:ext cx="3784570" cy="1467131"/>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7</a:t>
            </a:fld>
            <a:endParaRPr lang="en-US" dirty="0"/>
          </a:p>
        </p:txBody>
      </p:sp>
      <p:sp>
        <p:nvSpPr>
          <p:cNvPr id="13" name="Footer Placeholder 12"/>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8600041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8</a:t>
            </a:fld>
            <a:endParaRPr lang="en-US" dirty="0"/>
          </a:p>
        </p:txBody>
      </p:sp>
      <p:sp>
        <p:nvSpPr>
          <p:cNvPr id="8" name="Title 1"/>
          <p:cNvSpPr>
            <a:spLocks noGrp="1"/>
          </p:cNvSpPr>
          <p:nvPr>
            <p:ph type="title"/>
          </p:nvPr>
        </p:nvSpPr>
        <p:spPr>
          <a:xfrm>
            <a:off x="457200" y="274638"/>
            <a:ext cx="8229600" cy="1143000"/>
          </a:xfrm>
        </p:spPr>
        <p:txBody>
          <a:bodyPr/>
          <a:lstStyle/>
          <a:p>
            <a:r>
              <a:rPr lang="en-US" dirty="0" smtClean="0"/>
              <a:t>Nondefault Constructors</a:t>
            </a:r>
          </a:p>
        </p:txBody>
      </p:sp>
      <p:sp>
        <p:nvSpPr>
          <p:cNvPr id="7" name="Content Placeholder 2"/>
          <p:cNvSpPr>
            <a:spLocks noGrp="1"/>
          </p:cNvSpPr>
          <p:nvPr>
            <p:ph idx="1"/>
          </p:nvPr>
        </p:nvSpPr>
        <p:spPr>
          <a:xfrm>
            <a:off x="533400" y="1676400"/>
            <a:ext cx="8077200" cy="4572000"/>
          </a:xfrm>
        </p:spPr>
        <p:txBody>
          <a:bodyPr/>
          <a:lstStyle/>
          <a:p>
            <a:r>
              <a:rPr lang="en-US" dirty="0" smtClean="0"/>
              <a:t>Choose to create </a:t>
            </a:r>
            <a:r>
              <a:rPr lang="en-US" dirty="0" smtClean="0">
                <a:latin typeface="Courier New" pitchFamily="49" charset="0"/>
                <a:cs typeface="Courier New" pitchFamily="49" charset="0"/>
              </a:rPr>
              <a:t>Employee</a:t>
            </a:r>
            <a:r>
              <a:rPr lang="en-US" dirty="0" smtClean="0"/>
              <a:t> objects with values that differ for each employee</a:t>
            </a:r>
          </a:p>
          <a:p>
            <a:pPr lvl="1"/>
            <a:r>
              <a:rPr lang="en-US" dirty="0" smtClean="0"/>
              <a:t>Initialize each </a:t>
            </a:r>
            <a:r>
              <a:rPr lang="en-US" dirty="0" smtClean="0">
                <a:latin typeface="Courier New" pitchFamily="49" charset="0"/>
                <a:cs typeface="Courier New" pitchFamily="49" charset="0"/>
              </a:rPr>
              <a:t>Employee</a:t>
            </a:r>
            <a:r>
              <a:rPr lang="en-US" dirty="0" smtClean="0"/>
              <a:t> with a unique </a:t>
            </a:r>
            <a:r>
              <a:rPr lang="en-US" dirty="0" smtClean="0">
                <a:latin typeface="Courier New" pitchFamily="49" charset="0"/>
                <a:cs typeface="Courier New" pitchFamily="49" charset="0"/>
              </a:rPr>
              <a:t>hourlyWage</a:t>
            </a:r>
          </a:p>
          <a:p>
            <a:r>
              <a:rPr lang="en-US" dirty="0" smtClean="0"/>
              <a:t>Write constructors that receive arguments</a:t>
            </a:r>
          </a:p>
          <a:p>
            <a:pPr lvl="1"/>
            <a:r>
              <a:rPr lang="en-US" dirty="0" smtClean="0">
                <a:latin typeface="Courier New" pitchFamily="49" charset="0"/>
                <a:cs typeface="Courier New" pitchFamily="49" charset="0"/>
              </a:rPr>
              <a:t>Employee partTimeWorker(8.81)</a:t>
            </a:r>
          </a:p>
          <a:p>
            <a:pPr lvl="1"/>
            <a:r>
              <a:rPr lang="en-US" dirty="0" smtClean="0">
                <a:latin typeface="Courier New" pitchFamily="49" charset="0"/>
                <a:cs typeface="Courier New" pitchFamily="49" charset="0"/>
              </a:rPr>
              <a:t>Employee partTimeWorker(valueEnteredByUser)</a:t>
            </a:r>
          </a:p>
          <a:p>
            <a:r>
              <a:rPr lang="en-US" dirty="0" smtClean="0"/>
              <a:t>When the constructor executes</a:t>
            </a:r>
          </a:p>
          <a:p>
            <a:pPr lvl="1"/>
            <a:r>
              <a:rPr lang="en-US" dirty="0" smtClean="0"/>
              <a:t>Numeric value within the constructor call is passed to </a:t>
            </a:r>
            <a:r>
              <a:rPr lang="en-US" dirty="0" smtClean="0">
                <a:latin typeface="Courier New" pitchFamily="49" charset="0"/>
                <a:cs typeface="Courier New" pitchFamily="49" charset="0"/>
              </a:rPr>
              <a:t>Employee()</a:t>
            </a:r>
          </a:p>
        </p:txBody>
      </p:sp>
      <p:sp>
        <p:nvSpPr>
          <p:cNvPr id="9" name="Footer Placeholder 8"/>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7586421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28600"/>
            <a:ext cx="8229600" cy="1143000"/>
          </a:xfrm>
        </p:spPr>
        <p:txBody>
          <a:bodyPr/>
          <a:lstStyle/>
          <a:p>
            <a:r>
              <a:rPr lang="en-US" dirty="0" smtClean="0"/>
              <a:t>Nondefault Constructors </a:t>
            </a:r>
            <a:r>
              <a:rPr lang="en-US" sz="1200" dirty="0" smtClean="0"/>
              <a:t>(continued</a:t>
            </a:r>
            <a:r>
              <a:rPr lang="en-US" sz="1200" dirty="0"/>
              <a:t>)</a:t>
            </a:r>
            <a:endParaRPr lang="en-US" sz="1200" dirty="0" smtClean="0"/>
          </a:p>
        </p:txBody>
      </p:sp>
      <p:sp>
        <p:nvSpPr>
          <p:cNvPr id="10" name="Content Placeholder 2"/>
          <p:cNvSpPr txBox="1">
            <a:spLocks/>
          </p:cNvSpPr>
          <p:nvPr/>
        </p:nvSpPr>
        <p:spPr bwMode="auto">
          <a:xfrm>
            <a:off x="609600" y="1257300"/>
            <a:ext cx="8077200" cy="27812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Once you write a constructor for a class, you no longer receive the automatically written default constructor</a:t>
            </a:r>
          </a:p>
          <a:p>
            <a:r>
              <a:rPr lang="en-US" dirty="0" smtClean="0"/>
              <a:t>If a class’s only constructor requires an argument, you must provide an argument for every object of that class you create</a:t>
            </a:r>
          </a:p>
        </p:txBody>
      </p:sp>
      <p:pic>
        <p:nvPicPr>
          <p:cNvPr id="3" name="Picture 2" descr="If a class’s only constructor requires an argument, then every Employee object you create must use a numeric argument in its declaration." title="Employee constructor that accepts a paramete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7289" y="4234193"/>
            <a:ext cx="5522711" cy="1954273"/>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9</a:t>
            </a:fld>
            <a:endParaRPr lang="en-US" dirty="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3127307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28600"/>
            <a:ext cx="8229600" cy="1143000"/>
          </a:xfrm>
        </p:spPr>
        <p:txBody>
          <a:bodyPr/>
          <a:lstStyle/>
          <a:p>
            <a:r>
              <a:rPr lang="en-US" dirty="0"/>
              <a:t>Overloading </a:t>
            </a:r>
            <a:r>
              <a:rPr lang="en-US" dirty="0" smtClean="0"/>
              <a:t>Instance Methods </a:t>
            </a:r>
            <a:r>
              <a:rPr lang="en-US" dirty="0"/>
              <a:t>and Constructors</a:t>
            </a:r>
            <a:endParaRPr lang="en-US"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10</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Overload methods </a:t>
            </a:r>
          </a:p>
          <a:p>
            <a:pPr lvl="1"/>
            <a:r>
              <a:rPr lang="en-US" dirty="0" smtClean="0"/>
              <a:t>Write multiple versions of a method with the same name but different argument lists</a:t>
            </a:r>
          </a:p>
          <a:p>
            <a:r>
              <a:rPr lang="en-US" dirty="0" smtClean="0"/>
              <a:t>Any method or constructor in a class can be overloaded</a:t>
            </a:r>
          </a:p>
          <a:p>
            <a:r>
              <a:rPr lang="en-US" dirty="0" smtClean="0"/>
              <a:t>Can provide as many versions as you want</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445672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a:spLocks noGrp="1"/>
          </p:cNvSpPr>
          <p:nvPr>
            <p:ph type="title"/>
          </p:nvPr>
        </p:nvSpPr>
        <p:spPr>
          <a:xfrm>
            <a:off x="304800" y="173476"/>
            <a:ext cx="3200400" cy="3788923"/>
          </a:xfrm>
        </p:spPr>
        <p:txBody>
          <a:bodyPr/>
          <a:lstStyle/>
          <a:p>
            <a:pPr algn="l"/>
            <a:r>
              <a:rPr lang="en-US" dirty="0"/>
              <a:t>Overloading </a:t>
            </a:r>
            <a:r>
              <a:rPr lang="en-US" dirty="0"/>
              <a:t>Instance Methods </a:t>
            </a:r>
            <a:r>
              <a:rPr lang="en-US" dirty="0"/>
              <a:t>and </a:t>
            </a:r>
            <a:r>
              <a:rPr lang="en-US" dirty="0" smtClean="0"/>
              <a:t>Constructors </a:t>
            </a:r>
            <a:r>
              <a:rPr lang="en-US" sz="1200" dirty="0" smtClean="0"/>
              <a:t>(</a:t>
            </a:r>
            <a:r>
              <a:rPr lang="en-US" sz="1200" dirty="0" smtClean="0"/>
              <a:t>continued -1)</a:t>
            </a:r>
            <a:endParaRPr lang="en-US" sz="1200" dirty="0" smtClean="0"/>
          </a:p>
        </p:txBody>
      </p:sp>
      <p:pic>
        <p:nvPicPr>
          <p:cNvPr id="2" name="Picture 1" descr="A version of the Employee class that contains two constructors. One version requires no argument and the other requires a numeric argument." title="Employee class with overloaded constructor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8600" y="152400"/>
            <a:ext cx="4224528" cy="6309106"/>
          </a:xfrm>
          <a:prstGeom prst="rect">
            <a:avLst/>
          </a:prstGeom>
        </p:spPr>
      </p:pic>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11</a:t>
            </a:fld>
            <a:endParaRPr lang="en-US" dirty="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28600"/>
            <a:ext cx="8229600" cy="1143000"/>
          </a:xfrm>
        </p:spPr>
        <p:txBody>
          <a:bodyPr/>
          <a:lstStyle/>
          <a:p>
            <a:pPr eaLnBrk="0" hangingPunct="0">
              <a:defRPr/>
            </a:pPr>
            <a:r>
              <a:rPr lang="en-US" dirty="0"/>
              <a:t>Overloading </a:t>
            </a:r>
            <a:r>
              <a:rPr lang="en-US" dirty="0"/>
              <a:t>Instance Methods </a:t>
            </a:r>
            <a:r>
              <a:rPr lang="en-US" dirty="0"/>
              <a:t>and </a:t>
            </a:r>
            <a:r>
              <a:rPr lang="en-US" dirty="0" smtClean="0"/>
              <a:t>Constructors </a:t>
            </a:r>
            <a:r>
              <a:rPr lang="en-US" sz="1200" dirty="0" smtClean="0"/>
              <a:t>(</a:t>
            </a:r>
            <a:r>
              <a:rPr lang="en-US" sz="1200" dirty="0" smtClean="0"/>
              <a:t>continued -2)</a:t>
            </a:r>
            <a:endParaRPr lang="en-US" sz="1200" dirty="0"/>
          </a:p>
        </p:txBody>
      </p:sp>
      <p:pic>
        <p:nvPicPr>
          <p:cNvPr id="8" name="Picture 7" descr="This third constructor to the Employee class can coexist with the other two constructors because the parameter list is different from either existing version. With this version you can specify the hourly rate for the Employee as well as a name." title="A third possible Employee class constructo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6722" y="2438400"/>
            <a:ext cx="5490555" cy="2326895"/>
          </a:xfrm>
          <a:prstGeom prst="rect">
            <a:avLst/>
          </a:prstGeom>
        </p:spPr>
      </p:pic>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12</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9362326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Understanding Destructors</a:t>
            </a:r>
            <a:endParaRPr lang="en-US" dirty="0" smtClean="0"/>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13</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b="1" dirty="0" smtClean="0"/>
              <a:t>Destructor</a:t>
            </a:r>
          </a:p>
          <a:p>
            <a:pPr lvl="1"/>
            <a:r>
              <a:rPr lang="en-US" dirty="0" smtClean="0"/>
              <a:t>A method that contains the actions you require when an instance of a class is destroyed</a:t>
            </a:r>
          </a:p>
          <a:p>
            <a:r>
              <a:rPr lang="en-US" dirty="0" smtClean="0"/>
              <a:t>Instance destroyed </a:t>
            </a:r>
          </a:p>
          <a:p>
            <a:pPr lvl="1"/>
            <a:r>
              <a:rPr lang="en-US" dirty="0" smtClean="0"/>
              <a:t>When the object goes out of scope</a:t>
            </a:r>
          </a:p>
          <a:p>
            <a:r>
              <a:rPr lang="en-US" dirty="0" smtClean="0"/>
              <a:t>If you do not explicitly create a destructor for a class, one is provided automatically</a:t>
            </a:r>
          </a:p>
          <a:p>
            <a:r>
              <a:rPr lang="en-US" dirty="0" smtClean="0"/>
              <a:t>Declare a destructor </a:t>
            </a:r>
          </a:p>
          <a:p>
            <a:pPr lvl="1"/>
            <a:r>
              <a:rPr lang="en-US" dirty="0" smtClean="0"/>
              <a:t>Identifier consists of a tilde (˜) followed by the class name</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5475647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28600"/>
            <a:ext cx="8229600" cy="1143000"/>
          </a:xfrm>
        </p:spPr>
        <p:txBody>
          <a:bodyPr/>
          <a:lstStyle/>
          <a:p>
            <a:r>
              <a:rPr lang="en-US" dirty="0"/>
              <a:t>Understanding Destructors </a:t>
            </a:r>
            <a:r>
              <a:rPr lang="en-US" sz="1200" dirty="0"/>
              <a:t>(</a:t>
            </a:r>
            <a:r>
              <a:rPr lang="en-US" sz="1200" dirty="0" smtClean="0"/>
              <a:t>continued -1)</a:t>
            </a:r>
            <a:endParaRPr lang="en-US" sz="1200" dirty="0" smtClean="0"/>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14</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Cannot provide any parameters to a destructor</a:t>
            </a:r>
          </a:p>
          <a:p>
            <a:pPr lvl="1"/>
            <a:r>
              <a:rPr lang="en-US" dirty="0" smtClean="0"/>
              <a:t>Empty parameter list</a:t>
            </a:r>
          </a:p>
          <a:p>
            <a:r>
              <a:rPr lang="en-US" dirty="0" smtClean="0"/>
              <a:t>Destructors cannot be overloaded </a:t>
            </a:r>
          </a:p>
          <a:p>
            <a:pPr lvl="1"/>
            <a:r>
              <a:rPr lang="en-US" dirty="0" smtClean="0"/>
              <a:t>Only one destructor per class</a:t>
            </a:r>
          </a:p>
          <a:p>
            <a:r>
              <a:rPr lang="en-US" dirty="0" smtClean="0"/>
              <a:t>A destructor has no return type</a:t>
            </a:r>
          </a:p>
          <a:p>
            <a:r>
              <a:rPr lang="en-US" dirty="0" smtClean="0"/>
              <a:t>Programs never explicitly call a destructor</a:t>
            </a:r>
          </a:p>
          <a:p>
            <a:pPr lvl="1"/>
            <a:r>
              <a:rPr lang="en-US" dirty="0" smtClean="0"/>
              <a:t>Invoked automatically</a:t>
            </a:r>
          </a:p>
          <a:p>
            <a:r>
              <a:rPr lang="en-US" dirty="0" smtClean="0"/>
              <a:t>The last object created is the first object destroyed</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9095543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28600"/>
            <a:ext cx="8229600" cy="1143000"/>
          </a:xfrm>
        </p:spPr>
        <p:txBody>
          <a:bodyPr/>
          <a:lstStyle/>
          <a:p>
            <a:r>
              <a:rPr lang="en-US" dirty="0"/>
              <a:t>Understanding Destructors </a:t>
            </a:r>
            <a:r>
              <a:rPr lang="en-US" sz="1200" dirty="0"/>
              <a:t>(</a:t>
            </a:r>
            <a:r>
              <a:rPr lang="en-US" sz="1200" dirty="0" smtClean="0"/>
              <a:t>continued -2)</a:t>
            </a:r>
            <a:endParaRPr lang="en-US" sz="1200" dirty="0" smtClean="0"/>
          </a:p>
        </p:txBody>
      </p:sp>
      <p:pic>
        <p:nvPicPr>
          <p:cNvPr id="2" name="Picture 1" descr="An Employee class that contains only one field (idNumber), a constructor,&#10;and a shaded destructor." title="Employee class with destructo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38400" y="1213940"/>
            <a:ext cx="4277869" cy="2466774"/>
          </a:xfrm>
          <a:prstGeom prst="rect">
            <a:avLst/>
          </a:prstGeom>
        </p:spPr>
      </p:pic>
      <p:pic>
        <p:nvPicPr>
          <p:cNvPr id="3" name="Picture 2" descr="Instantiate two Employee objects,&#10;each with its own idNumber value. When the program ends, the two Employee objects go out of scope, and the destructor for each object is called automatically." title="Program that declares two Employee object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2452" y="4158234"/>
            <a:ext cx="3777931" cy="1632966"/>
          </a:xfrm>
          <a:prstGeom prst="rect">
            <a:avLst/>
          </a:prstGeom>
        </p:spPr>
      </p:pic>
      <p:pic>
        <p:nvPicPr>
          <p:cNvPr id="4" name="Picture 3" descr="Output of program that declares two Employee objects." title="Output of previous program"/>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36592" y="3810000"/>
            <a:ext cx="3960314" cy="2232660"/>
          </a:xfrm>
          <a:prstGeom prst="rect">
            <a:avLst/>
          </a:prstGeom>
        </p:spPr>
      </p:pic>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15</a:t>
            </a:fld>
            <a:endParaRPr lang="en-US" dirty="0"/>
          </a:p>
        </p:txBody>
      </p:sp>
      <p:sp>
        <p:nvSpPr>
          <p:cNvPr id="13" name="Footer Placeholder 12"/>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1034016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Understanding Composition</a:t>
            </a:r>
            <a:endParaRPr lang="en-US" dirty="0" smtClean="0"/>
          </a:p>
        </p:txBody>
      </p:sp>
      <p:sp>
        <p:nvSpPr>
          <p:cNvPr id="5" name="Slide Number Placeholder 4"/>
          <p:cNvSpPr>
            <a:spLocks noGrp="1"/>
          </p:cNvSpPr>
          <p:nvPr>
            <p:ph type="sldNum" sz="quarter" idx="10"/>
          </p:nvPr>
        </p:nvSpPr>
        <p:spPr/>
        <p:txBody>
          <a:bodyPr/>
          <a:lstStyle/>
          <a:p>
            <a:pPr>
              <a:defRPr/>
            </a:pPr>
            <a:fld id="{228E112E-0EE9-4EBD-95CB-B5BDEC86FD54}" type="slidenum">
              <a:rPr lang="en-US"/>
              <a:pPr>
                <a:defRPr/>
              </a:pPr>
              <a:t>16</a:t>
            </a:fld>
            <a:endParaRPr lang="en-US" dirty="0"/>
          </a:p>
        </p:txBody>
      </p:sp>
      <p:sp>
        <p:nvSpPr>
          <p:cNvPr id="7" name="Content Placeholder 8"/>
          <p:cNvSpPr>
            <a:spLocks noGrp="1"/>
          </p:cNvSpPr>
          <p:nvPr>
            <p:ph idx="1"/>
          </p:nvPr>
        </p:nvSpPr>
        <p:spPr>
          <a:xfrm>
            <a:off x="457200" y="1600200"/>
            <a:ext cx="8077200" cy="4876800"/>
          </a:xfrm>
        </p:spPr>
        <p:txBody>
          <a:bodyPr>
            <a:normAutofit lnSpcReduction="10000"/>
          </a:bodyPr>
          <a:lstStyle/>
          <a:p>
            <a:r>
              <a:rPr lang="en-US" dirty="0" smtClean="0"/>
              <a:t>When a class contains objects of another class as data fields, the relationship is called a </a:t>
            </a:r>
            <a:r>
              <a:rPr lang="en-US" b="1" dirty="0" smtClean="0"/>
              <a:t>whole-part relationship </a:t>
            </a:r>
            <a:r>
              <a:rPr lang="en-US" dirty="0" smtClean="0"/>
              <a:t>or </a:t>
            </a:r>
            <a:r>
              <a:rPr lang="en-US" b="1" dirty="0" smtClean="0"/>
              <a:t>composition</a:t>
            </a:r>
          </a:p>
          <a:p>
            <a:r>
              <a:rPr lang="en-US" dirty="0" smtClean="0"/>
              <a:t>Example</a:t>
            </a:r>
          </a:p>
          <a:p>
            <a:pPr lvl="1"/>
            <a:r>
              <a:rPr lang="en-US" dirty="0" smtClean="0">
                <a:latin typeface="Courier New" pitchFamily="49" charset="0"/>
                <a:cs typeface="Courier New" pitchFamily="49" charset="0"/>
              </a:rPr>
              <a:t>Date</a:t>
            </a:r>
            <a:r>
              <a:rPr lang="en-US" dirty="0" smtClean="0"/>
              <a:t> that contains a month, day, and year</a:t>
            </a:r>
          </a:p>
          <a:p>
            <a:pPr lvl="1"/>
            <a:r>
              <a:rPr lang="en-US" dirty="0" smtClean="0">
                <a:latin typeface="Courier New" pitchFamily="49" charset="0"/>
                <a:cs typeface="Courier New" pitchFamily="49" charset="0"/>
              </a:rPr>
              <a:t>Employee</a:t>
            </a:r>
            <a:r>
              <a:rPr lang="en-US" dirty="0" smtClean="0"/>
              <a:t> class has two </a:t>
            </a:r>
            <a:r>
              <a:rPr lang="en-US" dirty="0" smtClean="0">
                <a:latin typeface="Courier New" pitchFamily="49" charset="0"/>
                <a:cs typeface="Courier New" pitchFamily="49" charset="0"/>
              </a:rPr>
              <a:t>Date</a:t>
            </a:r>
            <a:r>
              <a:rPr lang="en-US" dirty="0" smtClean="0"/>
              <a:t> fields to hold </a:t>
            </a:r>
            <a:r>
              <a:rPr lang="en-US" dirty="0" smtClean="0">
                <a:latin typeface="Courier New" pitchFamily="49" charset="0"/>
                <a:cs typeface="Courier New" pitchFamily="49" charset="0"/>
              </a:rPr>
              <a:t>Employee</a:t>
            </a:r>
            <a:r>
              <a:rPr lang="en-US" dirty="0" smtClean="0"/>
              <a:t>’s birth date and hire date</a:t>
            </a:r>
          </a:p>
          <a:p>
            <a:r>
              <a:rPr lang="en-US" dirty="0" smtClean="0"/>
              <a:t>Composition</a:t>
            </a:r>
          </a:p>
          <a:p>
            <a:pPr lvl="1"/>
            <a:r>
              <a:rPr lang="en-US" dirty="0" smtClean="0"/>
              <a:t>Placing a class object within another class object</a:t>
            </a:r>
          </a:p>
          <a:p>
            <a:pPr lvl="1"/>
            <a:r>
              <a:rPr lang="en-US" dirty="0" smtClean="0"/>
              <a:t>Called </a:t>
            </a:r>
            <a:r>
              <a:rPr lang="en-US" b="1" dirty="0" smtClean="0"/>
              <a:t>has-a relationship</a:t>
            </a:r>
            <a:r>
              <a:rPr lang="en-US" dirty="0" smtClean="0"/>
              <a:t> because one class “has an” instance of another</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28600"/>
            <a:ext cx="8229600" cy="1143000"/>
          </a:xfrm>
        </p:spPr>
        <p:txBody>
          <a:bodyPr/>
          <a:lstStyle/>
          <a:p>
            <a:r>
              <a:rPr lang="en-US" dirty="0"/>
              <a:t>Understanding Composition </a:t>
            </a:r>
            <a:r>
              <a:rPr lang="en-US" sz="1200" dirty="0"/>
              <a:t>(continued)</a:t>
            </a:r>
            <a:endParaRPr lang="en-US" sz="1200" dirty="0" smtClean="0"/>
          </a:p>
        </p:txBody>
      </p:sp>
      <p:pic>
        <p:nvPicPr>
          <p:cNvPr id="2" name="Picture 1" descr="Aclass can contain simple variables as data fields, and it can contain objects of another class as data fields. For example, a Department has an Employee and an Employee has a hire Date." title="Diagram of typical composition relationship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4840" y="1727917"/>
            <a:ext cx="6834320" cy="4267200"/>
          </a:xfrm>
          <a:prstGeom prst="rect">
            <a:avLst/>
          </a:prstGeom>
        </p:spPr>
      </p:pic>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17</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Understanding Inheritance</a:t>
            </a:r>
            <a:endParaRPr lang="en-US"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18</a:t>
            </a:fld>
            <a:endParaRPr lang="en-US" dirty="0"/>
          </a:p>
        </p:txBody>
      </p:sp>
      <p:sp>
        <p:nvSpPr>
          <p:cNvPr id="8" name="Content Placeholder 8"/>
          <p:cNvSpPr>
            <a:spLocks noGrp="1"/>
          </p:cNvSpPr>
          <p:nvPr>
            <p:ph idx="1"/>
          </p:nvPr>
        </p:nvSpPr>
        <p:spPr>
          <a:xfrm>
            <a:off x="533400" y="1676400"/>
            <a:ext cx="8077200" cy="4572000"/>
          </a:xfrm>
        </p:spPr>
        <p:txBody>
          <a:bodyPr/>
          <a:lstStyle/>
          <a:p>
            <a:r>
              <a:rPr lang="en-US" dirty="0" smtClean="0"/>
              <a:t>Understanding classes helps you organize objects in real life</a:t>
            </a:r>
          </a:p>
          <a:p>
            <a:r>
              <a:rPr lang="en-US" dirty="0" smtClean="0"/>
              <a:t>Inheritance</a:t>
            </a:r>
          </a:p>
          <a:p>
            <a:pPr lvl="1"/>
            <a:r>
              <a:rPr lang="en-US" dirty="0" smtClean="0"/>
              <a:t>A principle that enables you to apply your knowledge of a general category to more specific objects</a:t>
            </a:r>
          </a:p>
          <a:p>
            <a:r>
              <a:rPr lang="en-US" dirty="0" smtClean="0"/>
              <a:t>Reuse the knowledge you gain about general categories and apply it to more specific categories</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9731098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28600"/>
            <a:ext cx="8229600" cy="1143000"/>
          </a:xfrm>
        </p:spPr>
        <p:txBody>
          <a:bodyPr/>
          <a:lstStyle/>
          <a:p>
            <a:r>
              <a:rPr lang="en-US" dirty="0"/>
              <a:t>Understanding Inheritance </a:t>
            </a:r>
            <a:r>
              <a:rPr lang="en-US" sz="1200" dirty="0"/>
              <a:t>(</a:t>
            </a:r>
            <a:r>
              <a:rPr lang="en-US" sz="1200" dirty="0" smtClean="0"/>
              <a:t>continued -1)</a:t>
            </a:r>
            <a:endParaRPr lang="en-US" sz="1200"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19</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Create a class by making it inherit from another class</a:t>
            </a:r>
          </a:p>
          <a:p>
            <a:pPr lvl="1"/>
            <a:r>
              <a:rPr lang="en-US" dirty="0" smtClean="0"/>
              <a:t>Provided with data fields and methods automatically</a:t>
            </a:r>
          </a:p>
          <a:p>
            <a:pPr lvl="1"/>
            <a:r>
              <a:rPr lang="en-US" dirty="0" smtClean="0"/>
              <a:t>Reuse fields and methods that are already written and tested</a:t>
            </a:r>
          </a:p>
          <a:p>
            <a:r>
              <a:rPr lang="en-US" dirty="0" smtClean="0">
                <a:latin typeface="Courier New" pitchFamily="49" charset="0"/>
                <a:cs typeface="Courier New" pitchFamily="49" charset="0"/>
              </a:rPr>
              <a:t>Employee</a:t>
            </a:r>
            <a:r>
              <a:rPr lang="en-US" dirty="0" smtClean="0"/>
              <a:t> class</a:t>
            </a:r>
          </a:p>
          <a:p>
            <a:pPr lvl="1"/>
            <a:r>
              <a:rPr lang="en-US" dirty="0" smtClean="0">
                <a:latin typeface="Courier New" pitchFamily="49" charset="0"/>
                <a:cs typeface="Courier New" pitchFamily="49" charset="0"/>
              </a:rPr>
              <a:t>CommissionEmployee</a:t>
            </a:r>
            <a:r>
              <a:rPr lang="en-US" dirty="0" smtClean="0"/>
              <a:t> inherits all the attributes and methods of </a:t>
            </a:r>
            <a:r>
              <a:rPr lang="en-US" dirty="0" smtClean="0">
                <a:latin typeface="Courier New" pitchFamily="49" charset="0"/>
                <a:cs typeface="Courier New" pitchFamily="49" charset="0"/>
              </a:rPr>
              <a:t>Employee</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5068524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28600"/>
            <a:ext cx="8229600" cy="1143000"/>
          </a:xfrm>
        </p:spPr>
        <p:txBody>
          <a:bodyPr/>
          <a:lstStyle/>
          <a:p>
            <a:r>
              <a:rPr lang="en-US" dirty="0"/>
              <a:t>Understanding Inheritance </a:t>
            </a:r>
            <a:r>
              <a:rPr lang="en-US" sz="1200" dirty="0"/>
              <a:t>(</a:t>
            </a:r>
            <a:r>
              <a:rPr lang="en-US" sz="1200" dirty="0" smtClean="0"/>
              <a:t>continued -2)</a:t>
            </a:r>
            <a:endParaRPr lang="en-US" sz="1200" dirty="0" smtClean="0"/>
          </a:p>
        </p:txBody>
      </p:sp>
      <p:pic>
        <p:nvPicPr>
          <p:cNvPr id="2" name="Picture 1" descr="The class contains two data fields, empNum and weeklySalary, as well as methods that get and set each field." title="An Employee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555751"/>
            <a:ext cx="3979549" cy="3733800"/>
          </a:xfrm>
          <a:prstGeom prst="rect">
            <a:avLst/>
          </a:prstGeom>
        </p:spPr>
      </p:pic>
      <p:pic>
        <p:nvPicPr>
          <p:cNvPr id="3" name="Picture 2" descr="A class diagram depicting the CommissionEmployee class so it inherits all the attributes and methods of Employee. Then, you can add just the single field and two methods (the get and set methods for the new field) that are needed to complete the new class." title="CommissionEmployee inherits from Employee"/>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49084" y="2263774"/>
            <a:ext cx="3937716" cy="3967861"/>
          </a:xfrm>
          <a:prstGeom prst="rect">
            <a:avLst/>
          </a:prstGeom>
        </p:spPr>
      </p:pic>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20</a:t>
            </a:fld>
            <a:endParaRPr lang="en-US" dirty="0"/>
          </a:p>
        </p:txBody>
      </p:sp>
      <p:sp>
        <p:nvSpPr>
          <p:cNvPr id="11" name="Footer Placeholder 10"/>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059016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28600"/>
            <a:ext cx="8229600" cy="1143000"/>
          </a:xfrm>
        </p:spPr>
        <p:txBody>
          <a:bodyPr/>
          <a:lstStyle/>
          <a:p>
            <a:r>
              <a:rPr lang="en-US" dirty="0"/>
              <a:t>Understanding Inheritance </a:t>
            </a:r>
            <a:r>
              <a:rPr lang="en-US" sz="1200" dirty="0"/>
              <a:t>(</a:t>
            </a:r>
            <a:r>
              <a:rPr lang="en-US" sz="1200" dirty="0" smtClean="0"/>
              <a:t>continued -3)</a:t>
            </a:r>
            <a:endParaRPr lang="en-US" sz="1200" dirty="0" smtClean="0"/>
          </a:p>
        </p:txBody>
      </p:sp>
      <p:pic>
        <p:nvPicPr>
          <p:cNvPr id="2" name="Picture 1" descr="Code for the CommissionEmployee class so it inherits all the attributes and methods of Employee. Adding the single field and two methods (the get and set methods for the new field) that are needed to complete the new class." title="CommissionEmployee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4684" y="2209673"/>
            <a:ext cx="5374632" cy="3308604"/>
          </a:xfrm>
          <a:prstGeom prst="rect">
            <a:avLst/>
          </a:prstGeom>
        </p:spPr>
      </p:pic>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21</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5796681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28600"/>
            <a:ext cx="8229600" cy="1143000"/>
          </a:xfrm>
        </p:spPr>
        <p:txBody>
          <a:bodyPr/>
          <a:lstStyle/>
          <a:p>
            <a:r>
              <a:rPr lang="en-US" dirty="0"/>
              <a:t>Understanding Inheritance </a:t>
            </a:r>
            <a:r>
              <a:rPr lang="en-US" sz="1200" dirty="0"/>
              <a:t>(</a:t>
            </a:r>
            <a:r>
              <a:rPr lang="en-US" sz="1200" dirty="0" smtClean="0"/>
              <a:t>continued -4)</a:t>
            </a:r>
            <a:endParaRPr lang="en-US" sz="1200"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22</a:t>
            </a:fld>
            <a:endParaRPr lang="en-US" dirty="0"/>
          </a:p>
        </p:txBody>
      </p:sp>
      <p:sp>
        <p:nvSpPr>
          <p:cNvPr id="11" name="Content Placeholder 2"/>
          <p:cNvSpPr>
            <a:spLocks noGrp="1"/>
          </p:cNvSpPr>
          <p:nvPr>
            <p:ph idx="1"/>
          </p:nvPr>
        </p:nvSpPr>
        <p:spPr>
          <a:xfrm>
            <a:off x="533400" y="1676400"/>
            <a:ext cx="8077200" cy="4572000"/>
          </a:xfrm>
        </p:spPr>
        <p:txBody>
          <a:bodyPr/>
          <a:lstStyle/>
          <a:p>
            <a:r>
              <a:rPr lang="en-US" dirty="0" smtClean="0">
                <a:cs typeface="Courier New" pitchFamily="49" charset="0"/>
              </a:rPr>
              <a:t>Benefits of </a:t>
            </a:r>
            <a:r>
              <a:rPr lang="en-US" dirty="0" smtClean="0"/>
              <a:t>using </a:t>
            </a:r>
            <a:r>
              <a:rPr lang="en-US" dirty="0"/>
              <a:t>inheritance to create the </a:t>
            </a:r>
            <a:r>
              <a:rPr lang="en-US" dirty="0" err="1"/>
              <a:t>CommissionEmployee</a:t>
            </a:r>
            <a:r>
              <a:rPr lang="en-US" dirty="0"/>
              <a:t> </a:t>
            </a:r>
            <a:r>
              <a:rPr lang="en-US" dirty="0" smtClean="0"/>
              <a:t>class:</a:t>
            </a:r>
          </a:p>
          <a:p>
            <a:pPr lvl="1"/>
            <a:r>
              <a:rPr lang="en-US" dirty="0" smtClean="0">
                <a:cs typeface="Courier New" pitchFamily="49" charset="0"/>
              </a:rPr>
              <a:t>Save </a:t>
            </a:r>
            <a:r>
              <a:rPr lang="en-US" dirty="0" smtClean="0">
                <a:cs typeface="Courier New" pitchFamily="49" charset="0"/>
              </a:rPr>
              <a:t>time</a:t>
            </a:r>
          </a:p>
          <a:p>
            <a:pPr lvl="1"/>
            <a:r>
              <a:rPr lang="en-US" dirty="0" smtClean="0">
                <a:cs typeface="Courier New" pitchFamily="49" charset="0"/>
              </a:rPr>
              <a:t>Reduce chance of errors</a:t>
            </a:r>
          </a:p>
          <a:p>
            <a:pPr lvl="1"/>
            <a:r>
              <a:rPr lang="en-US" dirty="0" smtClean="0">
                <a:cs typeface="Courier New" pitchFamily="49" charset="0"/>
              </a:rPr>
              <a:t>Make it easier to understand </a:t>
            </a:r>
          </a:p>
          <a:p>
            <a:pPr lvl="1"/>
            <a:r>
              <a:rPr lang="en-US" dirty="0" smtClean="0">
                <a:cs typeface="Courier New" pitchFamily="49" charset="0"/>
              </a:rPr>
              <a:t>Reduce errors and inconsistencies in shared fields</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413574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28600"/>
            <a:ext cx="8229600" cy="1143000"/>
          </a:xfrm>
        </p:spPr>
        <p:txBody>
          <a:bodyPr/>
          <a:lstStyle/>
          <a:p>
            <a:r>
              <a:rPr lang="en-US" dirty="0"/>
              <a:t>Understanding Inheritance Terminology</a:t>
            </a:r>
            <a:endParaRPr lang="en-US" dirty="0" smtClean="0"/>
          </a:p>
        </p:txBody>
      </p:sp>
      <p:sp>
        <p:nvSpPr>
          <p:cNvPr id="9"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smtClean="0"/>
              <a:t>Base class</a:t>
            </a:r>
          </a:p>
          <a:p>
            <a:pPr lvl="1"/>
            <a:r>
              <a:rPr lang="en-US" dirty="0" smtClean="0"/>
              <a:t>A class that is used as a basis for inheritance</a:t>
            </a:r>
          </a:p>
          <a:p>
            <a:pPr lvl="1"/>
            <a:r>
              <a:rPr lang="en-US" dirty="0" smtClean="0"/>
              <a:t>Also called:  </a:t>
            </a:r>
            <a:r>
              <a:rPr lang="en-US" b="1" dirty="0" smtClean="0"/>
              <a:t>superclass</a:t>
            </a:r>
            <a:r>
              <a:rPr lang="en-US" dirty="0" smtClean="0"/>
              <a:t>, </a:t>
            </a:r>
            <a:r>
              <a:rPr lang="en-US" b="1" dirty="0" smtClean="0"/>
              <a:t>parent class</a:t>
            </a:r>
          </a:p>
          <a:p>
            <a:r>
              <a:rPr lang="en-US" b="1" dirty="0" smtClean="0"/>
              <a:t>Derived class </a:t>
            </a:r>
            <a:r>
              <a:rPr lang="en-US" dirty="0" smtClean="0"/>
              <a:t>or </a:t>
            </a:r>
            <a:r>
              <a:rPr lang="en-US" b="1" dirty="0" smtClean="0"/>
              <a:t>extended class</a:t>
            </a:r>
          </a:p>
          <a:p>
            <a:pPr lvl="1"/>
            <a:r>
              <a:rPr lang="en-US" dirty="0" smtClean="0"/>
              <a:t>A class that inherits from a base class</a:t>
            </a:r>
          </a:p>
          <a:p>
            <a:pPr lvl="1"/>
            <a:r>
              <a:rPr lang="en-US" dirty="0"/>
              <a:t>Also called: </a:t>
            </a:r>
            <a:r>
              <a:rPr lang="en-US" dirty="0" smtClean="0"/>
              <a:t> </a:t>
            </a:r>
            <a:r>
              <a:rPr lang="en-US" b="1" dirty="0"/>
              <a:t>s</a:t>
            </a:r>
            <a:r>
              <a:rPr lang="en-US" b="1" dirty="0" smtClean="0"/>
              <a:t>ubclass</a:t>
            </a:r>
            <a:r>
              <a:rPr lang="en-US" dirty="0" smtClean="0"/>
              <a:t>,</a:t>
            </a:r>
            <a:r>
              <a:rPr lang="en-US" b="1" dirty="0" smtClean="0"/>
              <a:t> child class</a:t>
            </a:r>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23</a:t>
            </a:fld>
            <a:endParaRPr lang="en-US" dirty="0"/>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4963430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28600"/>
            <a:ext cx="8229600" cy="1143000"/>
          </a:xfrm>
        </p:spPr>
        <p:txBody>
          <a:bodyPr/>
          <a:lstStyle/>
          <a:p>
            <a:r>
              <a:rPr lang="en-US" dirty="0"/>
              <a:t>Understanding Inheritance Terminology </a:t>
            </a:r>
            <a:r>
              <a:rPr lang="en-US" sz="1200" dirty="0"/>
              <a:t>(</a:t>
            </a:r>
            <a:r>
              <a:rPr lang="en-US" sz="1200" dirty="0" smtClean="0"/>
              <a:t>continued -1)</a:t>
            </a:r>
            <a:endParaRPr lang="en-US" sz="1200" dirty="0" smtClean="0"/>
          </a:p>
        </p:txBody>
      </p:sp>
      <p:sp>
        <p:nvSpPr>
          <p:cNvPr id="6"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Tell which class is the base class and which is the derived class </a:t>
            </a:r>
          </a:p>
          <a:p>
            <a:pPr lvl="1"/>
            <a:r>
              <a:rPr lang="en-US" dirty="0" smtClean="0"/>
              <a:t>The base class is also called the superclass</a:t>
            </a:r>
          </a:p>
          <a:p>
            <a:pPr lvl="1"/>
            <a:r>
              <a:rPr lang="en-US" dirty="0" smtClean="0"/>
              <a:t>The derived class is also called the subclass</a:t>
            </a:r>
          </a:p>
          <a:p>
            <a:pPr lvl="1"/>
            <a:r>
              <a:rPr lang="en-US" dirty="0" smtClean="0"/>
              <a:t>Use the two classes in a sentence with the phrase “is a”</a:t>
            </a:r>
          </a:p>
          <a:p>
            <a:pPr lvl="1"/>
            <a:r>
              <a:rPr lang="en-US" dirty="0" smtClean="0"/>
              <a:t>Try saying the two class names together</a:t>
            </a:r>
          </a:p>
          <a:p>
            <a:pPr lvl="1"/>
            <a:r>
              <a:rPr lang="en-US" dirty="0" smtClean="0"/>
              <a:t>Compare the class sizes</a:t>
            </a:r>
          </a:p>
          <a:p>
            <a:r>
              <a:rPr lang="en-US" dirty="0" smtClean="0"/>
              <a:t>The derived class can be further extended</a:t>
            </a:r>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24</a:t>
            </a:fld>
            <a:endParaRPr lang="en-US" dirty="0"/>
          </a:p>
        </p:txBody>
      </p:sp>
      <p:sp>
        <p:nvSpPr>
          <p:cNvPr id="9" name="Footer Placeholder 8"/>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8218476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28600"/>
            <a:ext cx="8229600" cy="1143000"/>
          </a:xfrm>
        </p:spPr>
        <p:txBody>
          <a:bodyPr/>
          <a:lstStyle/>
          <a:p>
            <a:r>
              <a:rPr lang="en-US" dirty="0"/>
              <a:t>Understanding Inheritance Terminology </a:t>
            </a:r>
            <a:r>
              <a:rPr lang="en-US" sz="1200" dirty="0"/>
              <a:t>(</a:t>
            </a:r>
            <a:r>
              <a:rPr lang="en-US" sz="1200" dirty="0" smtClean="0"/>
              <a:t>continued -2)</a:t>
            </a:r>
            <a:endParaRPr lang="en-US" sz="1200" dirty="0" smtClean="0"/>
          </a:p>
        </p:txBody>
      </p:sp>
      <p:sp>
        <p:nvSpPr>
          <p:cNvPr id="9"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smtClean="0"/>
              <a:t>Ancestors</a:t>
            </a:r>
          </a:p>
          <a:p>
            <a:pPr lvl="1"/>
            <a:r>
              <a:rPr lang="en-US" dirty="0" smtClean="0"/>
              <a:t>The entire list of parent classes from which a child class is derived</a:t>
            </a:r>
          </a:p>
          <a:p>
            <a:pPr lvl="1"/>
            <a:r>
              <a:rPr lang="en-US" dirty="0" smtClean="0"/>
              <a:t>A child inherits all the members of all its ancestors</a:t>
            </a:r>
          </a:p>
          <a:p>
            <a:pPr lvl="1"/>
            <a:r>
              <a:rPr lang="en-US" dirty="0" smtClean="0"/>
              <a:t>A parent class does not gain any child class members</a:t>
            </a:r>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25</a:t>
            </a:fld>
            <a:endParaRPr lang="en-US" dirty="0"/>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6283461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28600"/>
            <a:ext cx="8229600" cy="1143000"/>
          </a:xfrm>
        </p:spPr>
        <p:txBody>
          <a:bodyPr/>
          <a:lstStyle/>
          <a:p>
            <a:r>
              <a:rPr lang="en-US" dirty="0"/>
              <a:t>Understanding Inheritance Terminology </a:t>
            </a:r>
            <a:r>
              <a:rPr lang="en-US" sz="1200" dirty="0"/>
              <a:t>(</a:t>
            </a:r>
            <a:r>
              <a:rPr lang="en-US" sz="1200" dirty="0" smtClean="0"/>
              <a:t>continued -3)</a:t>
            </a:r>
            <a:endParaRPr lang="en-US" sz="1200" dirty="0" smtClean="0"/>
          </a:p>
        </p:txBody>
      </p:sp>
      <p:pic>
        <p:nvPicPr>
          <p:cNvPr id="2" name="Picture 1" descr="The salesperson object can use all the methods of its parent, and it can use&#10;its own setCommissionRate and getCommissionRate() methods." title="EmployeeDemo application that declares two Employee object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948" y="1639788"/>
            <a:ext cx="5740034" cy="2779811"/>
          </a:xfrm>
          <a:prstGeom prst="rect">
            <a:avLst/>
          </a:prstGeom>
        </p:spPr>
      </p:pic>
      <p:pic>
        <p:nvPicPr>
          <p:cNvPr id="3" name="Picture 2" descr="Output of the program as it would appear in a command-line environment." title="Output of the progr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11128" y="4691654"/>
            <a:ext cx="3423620" cy="1664696"/>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26</a:t>
            </a:fld>
            <a:endParaRPr lang="en-US" dirty="0"/>
          </a:p>
        </p:txBody>
      </p:sp>
      <p:sp>
        <p:nvSpPr>
          <p:cNvPr id="9" name="Footer Placeholder 8"/>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676133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33400" y="228600"/>
            <a:ext cx="8077200" cy="1143000"/>
          </a:xfrm>
        </p:spPr>
        <p:txBody>
          <a:bodyPr/>
          <a:lstStyle/>
          <a:p>
            <a:r>
              <a:rPr lang="en-US" dirty="0"/>
              <a:t>Accessing Private </a:t>
            </a:r>
            <a:r>
              <a:rPr lang="en-US" dirty="0" smtClean="0"/>
              <a:t>Fields and Methods </a:t>
            </a:r>
            <a:r>
              <a:rPr lang="en-US" dirty="0"/>
              <a:t>of a Parent Class</a:t>
            </a:r>
            <a:endParaRPr lang="en-US" dirty="0" smtClean="0"/>
          </a:p>
        </p:txBody>
      </p:sp>
      <p:sp>
        <p:nvSpPr>
          <p:cNvPr id="9" name="Content Placeholder 8"/>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It is common for methods to be public but for data to be private</a:t>
            </a:r>
          </a:p>
          <a:p>
            <a:r>
              <a:rPr lang="en-US" dirty="0" smtClean="0"/>
              <a:t>When a data field within a class is private:</a:t>
            </a:r>
          </a:p>
          <a:p>
            <a:pPr lvl="1"/>
            <a:r>
              <a:rPr lang="en-US" dirty="0" smtClean="0"/>
              <a:t>No outside class can use it</a:t>
            </a:r>
          </a:p>
          <a:p>
            <a:pPr lvl="1"/>
            <a:r>
              <a:rPr lang="en-US" dirty="0" smtClean="0"/>
              <a:t>Including a child class</a:t>
            </a:r>
          </a:p>
          <a:p>
            <a:pPr lvl="2"/>
            <a:r>
              <a:rPr lang="en-US" dirty="0" smtClean="0"/>
              <a:t>Can be inconvenient</a:t>
            </a:r>
          </a:p>
          <a:p>
            <a:pPr lvl="1"/>
            <a:r>
              <a:rPr lang="en-US" b="1" dirty="0" smtClean="0"/>
              <a:t>Inaccessible</a:t>
            </a:r>
            <a:endParaRPr lang="en-US" dirty="0" smtClean="0"/>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27</a:t>
            </a:fld>
            <a:endParaRPr lang="en-US" dirty="0"/>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2408001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228600" y="228600"/>
            <a:ext cx="8763000" cy="1143000"/>
          </a:xfrm>
        </p:spPr>
        <p:txBody>
          <a:bodyPr/>
          <a:lstStyle/>
          <a:p>
            <a:r>
              <a:rPr lang="en-US" dirty="0"/>
              <a:t>Accessing Private </a:t>
            </a:r>
            <a:r>
              <a:rPr lang="en-US" dirty="0" smtClean="0"/>
              <a:t>Fields and </a:t>
            </a:r>
            <a:r>
              <a:rPr lang="en-US" dirty="0" smtClean="0"/>
              <a:t/>
            </a:r>
            <a:br>
              <a:rPr lang="en-US" dirty="0" smtClean="0"/>
            </a:br>
            <a:r>
              <a:rPr lang="en-US" dirty="0" smtClean="0"/>
              <a:t>Methods </a:t>
            </a:r>
            <a:r>
              <a:rPr lang="en-US" dirty="0"/>
              <a:t>of a Parent </a:t>
            </a:r>
            <a:r>
              <a:rPr lang="en-US" dirty="0" smtClean="0"/>
              <a:t>Class </a:t>
            </a:r>
            <a:r>
              <a:rPr lang="en-US" sz="1200" dirty="0" smtClean="0"/>
              <a:t>(</a:t>
            </a:r>
            <a:r>
              <a:rPr lang="en-US" sz="1200" dirty="0" smtClean="0"/>
              <a:t>continued -1)</a:t>
            </a:r>
            <a:endParaRPr lang="en-US" sz="1200" dirty="0" smtClean="0"/>
          </a:p>
        </p:txBody>
      </p:sp>
      <p:pic>
        <p:nvPicPr>
          <p:cNvPr id="2" name="Picture 1" descr="Create an HourlyEmployee class that&#10;descends from Employee. The class contains two new fields,&#10;hoursWorked and hourlyRate, and a get and set method for each." title="Class diagram for HourlyEmployee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2200" y="1587220"/>
            <a:ext cx="4495800" cy="4769130"/>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28</a:t>
            </a:fld>
            <a:endParaRPr lang="en-US" dirty="0"/>
          </a:p>
        </p:txBody>
      </p:sp>
      <p:sp>
        <p:nvSpPr>
          <p:cNvPr id="9" name="Footer Placeholder 8"/>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2854639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228600" y="228600"/>
            <a:ext cx="8763000" cy="1143000"/>
          </a:xfrm>
        </p:spPr>
        <p:txBody>
          <a:bodyPr/>
          <a:lstStyle/>
          <a:p>
            <a:r>
              <a:rPr lang="en-US" dirty="0"/>
              <a:t>Accessing Private </a:t>
            </a:r>
            <a:r>
              <a:rPr lang="en-US" dirty="0" smtClean="0"/>
              <a:t>Fields and </a:t>
            </a:r>
            <a:r>
              <a:rPr lang="en-US" dirty="0" smtClean="0"/>
              <a:t/>
            </a:r>
            <a:br>
              <a:rPr lang="en-US" dirty="0" smtClean="0"/>
            </a:br>
            <a:r>
              <a:rPr lang="en-US" dirty="0" smtClean="0"/>
              <a:t>Methods </a:t>
            </a:r>
            <a:r>
              <a:rPr lang="en-US" dirty="0"/>
              <a:t>of a Parent </a:t>
            </a:r>
            <a:r>
              <a:rPr lang="en-US" dirty="0" smtClean="0"/>
              <a:t>Class </a:t>
            </a:r>
            <a:r>
              <a:rPr lang="en-US" sz="1200" dirty="0" smtClean="0"/>
              <a:t>(</a:t>
            </a:r>
            <a:r>
              <a:rPr lang="en-US" sz="1200" dirty="0" smtClean="0"/>
              <a:t>continued -2)</a:t>
            </a:r>
            <a:endParaRPr lang="en-US" sz="1200" dirty="0" smtClean="0"/>
          </a:p>
        </p:txBody>
      </p:sp>
      <p:pic>
        <p:nvPicPr>
          <p:cNvPr id="2" name="Picture 1" descr="The private parent field weeklySalary cannot be accessed by child class methods. This will cause errors." title="Implementation of HourlyEmployee class that attempts to access weeklySalar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1543" y="1862201"/>
            <a:ext cx="6268457" cy="4003548"/>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29</a:t>
            </a:fld>
            <a:endParaRPr lang="en-US" dirty="0"/>
          </a:p>
        </p:txBody>
      </p:sp>
      <p:sp>
        <p:nvSpPr>
          <p:cNvPr id="8" name="Footer Placeholder 7"/>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6135830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228600" y="228600"/>
            <a:ext cx="8763000" cy="1143000"/>
          </a:xfrm>
        </p:spPr>
        <p:txBody>
          <a:bodyPr/>
          <a:lstStyle/>
          <a:p>
            <a:r>
              <a:rPr lang="en-US" dirty="0"/>
              <a:t>Accessing Private </a:t>
            </a:r>
            <a:r>
              <a:rPr lang="en-US" dirty="0" smtClean="0"/>
              <a:t>Fields and </a:t>
            </a:r>
            <a:r>
              <a:rPr lang="en-US" dirty="0" smtClean="0"/>
              <a:t/>
            </a:r>
            <a:br>
              <a:rPr lang="en-US" dirty="0" smtClean="0"/>
            </a:br>
            <a:r>
              <a:rPr lang="en-US" dirty="0" smtClean="0"/>
              <a:t>Methods </a:t>
            </a:r>
            <a:r>
              <a:rPr lang="en-US" dirty="0"/>
              <a:t>of a Parent </a:t>
            </a:r>
            <a:r>
              <a:rPr lang="en-US" dirty="0" smtClean="0"/>
              <a:t>Class </a:t>
            </a:r>
            <a:r>
              <a:rPr lang="en-US" sz="1200" dirty="0" smtClean="0"/>
              <a:t>(</a:t>
            </a:r>
            <a:r>
              <a:rPr lang="en-US" sz="1200" dirty="0" smtClean="0"/>
              <a:t>continued -3)</a:t>
            </a:r>
            <a:endParaRPr lang="en-US" sz="1200" dirty="0" smtClean="0"/>
          </a:p>
        </p:txBody>
      </p:sp>
      <p:sp>
        <p:nvSpPr>
          <p:cNvPr id="9"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latin typeface="Courier New" pitchFamily="49" charset="0"/>
                <a:cs typeface="Courier New" pitchFamily="49" charset="0"/>
              </a:rPr>
              <a:t>protected</a:t>
            </a:r>
            <a:r>
              <a:rPr lang="en-US" b="1" dirty="0" smtClean="0"/>
              <a:t> access specifier </a:t>
            </a:r>
          </a:p>
          <a:p>
            <a:pPr lvl="1"/>
            <a:r>
              <a:rPr lang="en-US" dirty="0" smtClean="0"/>
              <a:t>Used when you want no outside classes to be able to use a data field except classes that are children of the original class</a:t>
            </a:r>
          </a:p>
          <a:p>
            <a:r>
              <a:rPr lang="en-US" dirty="0" smtClean="0"/>
              <a:t>If the </a:t>
            </a:r>
            <a:r>
              <a:rPr lang="en-US" dirty="0" smtClean="0">
                <a:latin typeface="Courier New" pitchFamily="49" charset="0"/>
                <a:cs typeface="Courier New" pitchFamily="49" charset="0"/>
              </a:rPr>
              <a:t>Employee</a:t>
            </a:r>
            <a:r>
              <a:rPr lang="en-US" dirty="0" smtClean="0">
                <a:cs typeface="Courier New" pitchFamily="49" charset="0"/>
              </a:rPr>
              <a:t> </a:t>
            </a:r>
            <a:r>
              <a:rPr lang="en-US" dirty="0" smtClean="0"/>
              <a:t>class’s creator did not foresee that a field would need to be accessible, then </a:t>
            </a:r>
            <a:r>
              <a:rPr lang="en-US" dirty="0" smtClean="0">
                <a:latin typeface="Courier New" pitchFamily="49" charset="0"/>
                <a:cs typeface="Courier New" pitchFamily="49" charset="0"/>
              </a:rPr>
              <a:t>weeklySalary</a:t>
            </a:r>
            <a:r>
              <a:rPr lang="en-US" dirty="0" smtClean="0">
                <a:cs typeface="Courier New" pitchFamily="49" charset="0"/>
              </a:rPr>
              <a:t> </a:t>
            </a:r>
            <a:r>
              <a:rPr lang="en-US" dirty="0" smtClean="0"/>
              <a:t>will remain private</a:t>
            </a:r>
          </a:p>
          <a:p>
            <a:pPr lvl="1"/>
            <a:r>
              <a:rPr lang="en-US" dirty="0" smtClean="0"/>
              <a:t>Possible to correctly set an </a:t>
            </a:r>
            <a:r>
              <a:rPr lang="en-US" dirty="0" smtClean="0">
                <a:latin typeface="Courier New" pitchFamily="49" charset="0"/>
                <a:cs typeface="Courier New" pitchFamily="49" charset="0"/>
              </a:rPr>
              <a:t>HourlyEmployee</a:t>
            </a:r>
            <a:r>
              <a:rPr lang="en-US" dirty="0" smtClean="0"/>
              <a:t>’s</a:t>
            </a:r>
            <a:r>
              <a:rPr lang="en-US" dirty="0" smtClean="0">
                <a:cs typeface="Courier New" pitchFamily="49" charset="0"/>
              </a:rPr>
              <a:t> </a:t>
            </a:r>
            <a:r>
              <a:rPr lang="en-US" dirty="0" smtClean="0"/>
              <a:t>weekly pay using the </a:t>
            </a:r>
            <a:r>
              <a:rPr lang="en-US" dirty="0" smtClean="0">
                <a:latin typeface="Courier New" pitchFamily="49" charset="0"/>
                <a:cs typeface="Courier New" pitchFamily="49" charset="0"/>
              </a:rPr>
              <a:t>setWeeklySalary()</a:t>
            </a:r>
            <a:r>
              <a:rPr lang="en-US" dirty="0" smtClean="0">
                <a:cs typeface="Courier New" pitchFamily="49" charset="0"/>
              </a:rPr>
              <a:t> </a:t>
            </a:r>
            <a:r>
              <a:rPr lang="en-US" dirty="0" smtClean="0"/>
              <a:t>method</a:t>
            </a:r>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30</a:t>
            </a:fld>
            <a:endParaRPr lang="en-US" dirty="0"/>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8581263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228600" y="228600"/>
            <a:ext cx="8763000" cy="1143000"/>
          </a:xfrm>
        </p:spPr>
        <p:txBody>
          <a:bodyPr/>
          <a:lstStyle/>
          <a:p>
            <a:r>
              <a:rPr lang="en-US" dirty="0"/>
              <a:t>Accessing Private </a:t>
            </a:r>
            <a:r>
              <a:rPr lang="en-US" dirty="0" smtClean="0"/>
              <a:t>Fields and </a:t>
            </a:r>
            <a:r>
              <a:rPr lang="en-US" dirty="0" smtClean="0"/>
              <a:t/>
            </a:r>
            <a:br>
              <a:rPr lang="en-US" dirty="0" smtClean="0"/>
            </a:br>
            <a:r>
              <a:rPr lang="en-US" dirty="0" smtClean="0"/>
              <a:t>Methods </a:t>
            </a:r>
            <a:r>
              <a:rPr lang="en-US" dirty="0"/>
              <a:t>of a Parent </a:t>
            </a:r>
            <a:r>
              <a:rPr lang="en-US" dirty="0" smtClean="0"/>
              <a:t>Class </a:t>
            </a:r>
            <a:r>
              <a:rPr lang="en-US" sz="1200" dirty="0" smtClean="0"/>
              <a:t>(</a:t>
            </a:r>
            <a:r>
              <a:rPr lang="en-US" sz="1200" dirty="0" smtClean="0"/>
              <a:t>continued -4)</a:t>
            </a:r>
            <a:endParaRPr lang="en-US" sz="1200" dirty="0" smtClean="0"/>
          </a:p>
        </p:txBody>
      </p:sp>
      <p:pic>
        <p:nvPicPr>
          <p:cNvPr id="2" name="Picture 1" descr="A rewritten Employee class that uses the protected access specifier on one of its data fields. When the Employee class is defined with a protected weeklySalary field, the code in the HourlyEmployee class works correctly." title="Employee class with a protected fiel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1861785"/>
            <a:ext cx="4512461" cy="4386615"/>
          </a:xfrm>
          <a:prstGeom prst="rect">
            <a:avLst/>
          </a:prstGeom>
        </p:spPr>
      </p:pic>
      <p:pic>
        <p:nvPicPr>
          <p:cNvPr id="3" name="Picture 2" descr="The class diagram for the rewritten version of the Employee class." title="Employee class with protected membe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14276" y="2792259"/>
            <a:ext cx="3672524" cy="2133600"/>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31</a:t>
            </a:fld>
            <a:endParaRPr lang="en-US" dirty="0"/>
          </a:p>
        </p:txBody>
      </p:sp>
      <p:sp>
        <p:nvSpPr>
          <p:cNvPr id="9" name="Footer Placeholder 8"/>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7481843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7EAC3AC8-25A8-47FA-981D-DF846EFE1FA5}" type="slidenum">
              <a:rPr lang="en-US"/>
              <a:pPr>
                <a:defRPr/>
              </a:pPr>
              <a:t>32</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When a child class accesses a private field of its parent’s class:</a:t>
            </a:r>
          </a:p>
          <a:p>
            <a:pPr lvl="1"/>
            <a:r>
              <a:rPr lang="en-US" dirty="0" smtClean="0"/>
              <a:t>Modify the parent class to make the field protected</a:t>
            </a:r>
          </a:p>
          <a:p>
            <a:pPr lvl="1"/>
            <a:r>
              <a:rPr lang="en-US" dirty="0" smtClean="0"/>
              <a:t>The child class can use a public method within the parent class that modifies the field</a:t>
            </a:r>
          </a:p>
          <a:p>
            <a:r>
              <a:rPr lang="en-US" dirty="0"/>
              <a:t>Protected access improves performance</a:t>
            </a:r>
          </a:p>
          <a:p>
            <a:pPr lvl="1"/>
            <a:r>
              <a:rPr lang="en-US" dirty="0"/>
              <a:t>Use protected data members </a:t>
            </a:r>
            <a:r>
              <a:rPr lang="en-US" dirty="0" smtClean="0"/>
              <a:t>sparingly</a:t>
            </a:r>
          </a:p>
          <a:p>
            <a:r>
              <a:rPr lang="en-US" dirty="0" smtClean="0"/>
              <a:t>Classes that depend on field names from parent classes are called </a:t>
            </a:r>
            <a:r>
              <a:rPr lang="en-US" b="1" dirty="0" smtClean="0"/>
              <a:t>fragile </a:t>
            </a:r>
            <a:r>
              <a:rPr lang="en-US" dirty="0" smtClean="0"/>
              <a:t>because they are prone to errors</a:t>
            </a:r>
          </a:p>
        </p:txBody>
      </p:sp>
      <p:sp>
        <p:nvSpPr>
          <p:cNvPr id="9" name="Title 1"/>
          <p:cNvSpPr>
            <a:spLocks noGrp="1"/>
          </p:cNvSpPr>
          <p:nvPr>
            <p:ph type="title"/>
          </p:nvPr>
        </p:nvSpPr>
        <p:spPr>
          <a:xfrm>
            <a:off x="228600" y="228600"/>
            <a:ext cx="8763000" cy="1143000"/>
          </a:xfrm>
        </p:spPr>
        <p:txBody>
          <a:bodyPr/>
          <a:lstStyle/>
          <a:p>
            <a:r>
              <a:rPr lang="en-US" dirty="0"/>
              <a:t>Accessing Private </a:t>
            </a:r>
            <a:r>
              <a:rPr lang="en-US" dirty="0" smtClean="0"/>
              <a:t>Fields and </a:t>
            </a:r>
            <a:r>
              <a:rPr lang="en-US" dirty="0" smtClean="0"/>
              <a:t/>
            </a:r>
            <a:br>
              <a:rPr lang="en-US" dirty="0" smtClean="0"/>
            </a:br>
            <a:r>
              <a:rPr lang="en-US" dirty="0" smtClean="0"/>
              <a:t>Methods </a:t>
            </a:r>
            <a:r>
              <a:rPr lang="en-US" dirty="0"/>
              <a:t>of a Parent </a:t>
            </a:r>
            <a:r>
              <a:rPr lang="en-US" dirty="0" smtClean="0"/>
              <a:t>Class </a:t>
            </a:r>
            <a:r>
              <a:rPr lang="en-US" sz="1200" dirty="0" smtClean="0"/>
              <a:t>(</a:t>
            </a:r>
            <a:r>
              <a:rPr lang="en-US" sz="1200" dirty="0" smtClean="0"/>
              <a:t>continued -5)</a:t>
            </a:r>
            <a:endParaRPr lang="en-US" sz="1200"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228600" y="228600"/>
            <a:ext cx="8763000" cy="1143000"/>
          </a:xfrm>
        </p:spPr>
        <p:txBody>
          <a:bodyPr/>
          <a:lstStyle/>
          <a:p>
            <a:r>
              <a:rPr lang="en-US" dirty="0"/>
              <a:t>Accessing Private </a:t>
            </a:r>
            <a:r>
              <a:rPr lang="en-US" dirty="0" smtClean="0"/>
              <a:t>Fields and </a:t>
            </a:r>
            <a:r>
              <a:rPr lang="en-US" dirty="0" smtClean="0"/>
              <a:t/>
            </a:r>
            <a:br>
              <a:rPr lang="en-US" dirty="0" smtClean="0"/>
            </a:br>
            <a:r>
              <a:rPr lang="en-US" dirty="0" smtClean="0"/>
              <a:t>Methods </a:t>
            </a:r>
            <a:r>
              <a:rPr lang="en-US" dirty="0"/>
              <a:t>of a Parent </a:t>
            </a:r>
            <a:r>
              <a:rPr lang="en-US" dirty="0" smtClean="0"/>
              <a:t>Class </a:t>
            </a:r>
            <a:r>
              <a:rPr lang="en-US" sz="1200" dirty="0" smtClean="0"/>
              <a:t>(</a:t>
            </a:r>
            <a:r>
              <a:rPr lang="en-US" sz="1200" dirty="0" smtClean="0"/>
              <a:t>continued -6)</a:t>
            </a:r>
            <a:endParaRPr lang="en-US" sz="1200" dirty="0" smtClean="0"/>
          </a:p>
        </p:txBody>
      </p:sp>
      <p:pic>
        <p:nvPicPr>
          <p:cNvPr id="2" name="Picture 1" descr="The setHoursWorked method and setHourlyRate method assign a value to the corresponding child class&#10;field (hoursWorked or hourlyRate, respectively). Each method then calls the public parent class method setWeeklySalary." title="The HourlyEmployee class when weeklySalary remains privat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2768" y="1569896"/>
            <a:ext cx="6047232" cy="4786454"/>
          </a:xfrm>
          <a:prstGeom prst="rect">
            <a:avLst/>
          </a:prstGeom>
        </p:spPr>
      </p:pic>
      <p:sp>
        <p:nvSpPr>
          <p:cNvPr id="5" name="Slide Number Placeholder 4"/>
          <p:cNvSpPr>
            <a:spLocks noGrp="1"/>
          </p:cNvSpPr>
          <p:nvPr>
            <p:ph type="sldNum" sz="quarter" idx="10"/>
          </p:nvPr>
        </p:nvSpPr>
        <p:spPr/>
        <p:txBody>
          <a:bodyPr/>
          <a:lstStyle/>
          <a:p>
            <a:pPr>
              <a:defRPr/>
            </a:pPr>
            <a:fld id="{7EAC3AC8-25A8-47FA-981D-DF846EFE1FA5}" type="slidenum">
              <a:rPr lang="en-US"/>
              <a:pPr>
                <a:defRPr/>
              </a:pPr>
              <a:t>33</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8464916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7EAC3AC8-25A8-47FA-981D-DF846EFE1FA5}" type="slidenum">
              <a:rPr lang="en-US"/>
              <a:pPr>
                <a:defRPr/>
              </a:pPr>
              <a:t>34</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b="1" dirty="0" smtClean="0"/>
              <a:t>Multiple </a:t>
            </a:r>
            <a:r>
              <a:rPr lang="en-US" b="1" dirty="0" smtClean="0"/>
              <a:t>inheritance</a:t>
            </a:r>
            <a:endParaRPr lang="en-US" b="1" dirty="0" smtClean="0"/>
          </a:p>
          <a:p>
            <a:pPr lvl="1"/>
            <a:r>
              <a:rPr lang="en-US" dirty="0" smtClean="0"/>
              <a:t>The capability to inherit from more than one class</a:t>
            </a:r>
          </a:p>
          <a:p>
            <a:r>
              <a:rPr lang="en-US" b="1" dirty="0" smtClean="0"/>
              <a:t>Abstract </a:t>
            </a:r>
            <a:r>
              <a:rPr lang="en-US" b="1" dirty="0" smtClean="0"/>
              <a:t>class</a:t>
            </a:r>
            <a:endParaRPr lang="en-US" b="1" dirty="0" smtClean="0"/>
          </a:p>
          <a:p>
            <a:pPr lvl="1"/>
            <a:r>
              <a:rPr lang="en-US" dirty="0" smtClean="0"/>
              <a:t>A class from which you cannot create any concrete objects, but from which you can inherit</a:t>
            </a:r>
          </a:p>
        </p:txBody>
      </p:sp>
      <p:sp>
        <p:nvSpPr>
          <p:cNvPr id="9" name="Title 1"/>
          <p:cNvSpPr>
            <a:spLocks noGrp="1"/>
          </p:cNvSpPr>
          <p:nvPr>
            <p:ph type="title"/>
          </p:nvPr>
        </p:nvSpPr>
        <p:spPr>
          <a:xfrm>
            <a:off x="228600" y="228600"/>
            <a:ext cx="8763000" cy="1143000"/>
          </a:xfrm>
        </p:spPr>
        <p:txBody>
          <a:bodyPr/>
          <a:lstStyle/>
          <a:p>
            <a:r>
              <a:rPr lang="en-US" dirty="0"/>
              <a:t>Accessing Private </a:t>
            </a:r>
            <a:r>
              <a:rPr lang="en-US" dirty="0" smtClean="0"/>
              <a:t>Fields and </a:t>
            </a:r>
            <a:r>
              <a:rPr lang="en-US" dirty="0" smtClean="0"/>
              <a:t/>
            </a:r>
            <a:br>
              <a:rPr lang="en-US" dirty="0" smtClean="0"/>
            </a:br>
            <a:r>
              <a:rPr lang="en-US" dirty="0" smtClean="0"/>
              <a:t>Methods </a:t>
            </a:r>
            <a:r>
              <a:rPr lang="en-US" dirty="0"/>
              <a:t>of a Parent </a:t>
            </a:r>
            <a:r>
              <a:rPr lang="en-US" dirty="0" smtClean="0"/>
              <a:t>Class </a:t>
            </a:r>
            <a:r>
              <a:rPr lang="en-US" sz="1200" dirty="0" smtClean="0"/>
              <a:t>(</a:t>
            </a:r>
            <a:r>
              <a:rPr lang="en-US" sz="1200" dirty="0" smtClean="0"/>
              <a:t>continued -7)</a:t>
            </a:r>
            <a:endParaRPr lang="en-US" sz="1200"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6122122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7EAC3AC8-25A8-47FA-981D-DF846EFE1FA5}" type="slidenum">
              <a:rPr lang="en-US"/>
              <a:pPr>
                <a:defRPr/>
              </a:pPr>
              <a:t>35</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b="1" dirty="0" smtClean="0"/>
              <a:t>Overriding</a:t>
            </a:r>
            <a:endParaRPr lang="en-US" b="1" dirty="0" smtClean="0"/>
          </a:p>
          <a:p>
            <a:pPr lvl="1"/>
            <a:r>
              <a:rPr lang="en-US" dirty="0" smtClean="0"/>
              <a:t>The </a:t>
            </a:r>
            <a:r>
              <a:rPr lang="en-US" dirty="0"/>
              <a:t>mechanism by which a child class method is used by default </a:t>
            </a:r>
            <a:r>
              <a:rPr lang="en-US" dirty="0" smtClean="0"/>
              <a:t>when a </a:t>
            </a:r>
            <a:r>
              <a:rPr lang="en-US" dirty="0"/>
              <a:t>parent class contains a method with the same </a:t>
            </a:r>
            <a:r>
              <a:rPr lang="en-US" dirty="0" smtClean="0"/>
              <a:t>signature</a:t>
            </a:r>
            <a:endParaRPr lang="en-US" dirty="0" smtClean="0"/>
          </a:p>
        </p:txBody>
      </p:sp>
      <p:sp>
        <p:nvSpPr>
          <p:cNvPr id="9" name="Title 1"/>
          <p:cNvSpPr>
            <a:spLocks noGrp="1"/>
          </p:cNvSpPr>
          <p:nvPr>
            <p:ph type="title"/>
          </p:nvPr>
        </p:nvSpPr>
        <p:spPr>
          <a:xfrm>
            <a:off x="228600" y="228600"/>
            <a:ext cx="8763000" cy="1143000"/>
          </a:xfrm>
        </p:spPr>
        <p:txBody>
          <a:bodyPr/>
          <a:lstStyle/>
          <a:p>
            <a:r>
              <a:rPr lang="en-US" dirty="0" smtClean="0"/>
              <a:t>Overriding Parent Class Methods </a:t>
            </a:r>
            <a:br>
              <a:rPr lang="en-US" dirty="0" smtClean="0"/>
            </a:br>
            <a:r>
              <a:rPr lang="en-US" dirty="0" smtClean="0"/>
              <a:t>in a Child Class</a:t>
            </a:r>
            <a:endParaRPr lang="en-US" sz="1200"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6897299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36</a:t>
            </a:fld>
            <a:endParaRPr lang="en-US" dirty="0"/>
          </a:p>
        </p:txBody>
      </p:sp>
      <p:sp>
        <p:nvSpPr>
          <p:cNvPr id="8" name="Content Placeholder 5"/>
          <p:cNvSpPr>
            <a:spLocks noGrp="1"/>
          </p:cNvSpPr>
          <p:nvPr>
            <p:ph idx="1"/>
          </p:nvPr>
        </p:nvSpPr>
        <p:spPr>
          <a:xfrm>
            <a:off x="533400" y="1676400"/>
            <a:ext cx="8077200" cy="4724400"/>
          </a:xfrm>
        </p:spPr>
        <p:txBody>
          <a:bodyPr>
            <a:normAutofit lnSpcReduction="10000"/>
          </a:bodyPr>
          <a:lstStyle/>
          <a:p>
            <a:r>
              <a:rPr lang="en-US" dirty="0" smtClean="0"/>
              <a:t>You can create powerful computer programs more easily if many of their components are used either “as is” or with slight modifications</a:t>
            </a:r>
          </a:p>
          <a:p>
            <a:r>
              <a:rPr lang="en-US" dirty="0" smtClean="0"/>
              <a:t>Advantages of creating a useful, extendable superclass:</a:t>
            </a:r>
          </a:p>
          <a:p>
            <a:pPr lvl="1"/>
            <a:r>
              <a:rPr lang="en-US" dirty="0" smtClean="0"/>
              <a:t>Subclass creators save </a:t>
            </a:r>
            <a:r>
              <a:rPr lang="en-US" dirty="0" smtClean="0"/>
              <a:t>development </a:t>
            </a:r>
            <a:r>
              <a:rPr lang="en-US" dirty="0" smtClean="0"/>
              <a:t>and testing time</a:t>
            </a:r>
          </a:p>
          <a:p>
            <a:pPr lvl="1"/>
            <a:r>
              <a:rPr lang="en-US" dirty="0" smtClean="0"/>
              <a:t>Superclass code has been tested and is reliable</a:t>
            </a:r>
          </a:p>
          <a:p>
            <a:pPr lvl="1"/>
            <a:r>
              <a:rPr lang="en-US" dirty="0" smtClean="0"/>
              <a:t>Programmers who create or use new subclasses already understand how the superclass works</a:t>
            </a:r>
          </a:p>
          <a:p>
            <a:pPr lvl="1"/>
            <a:r>
              <a:rPr lang="en-US" dirty="0" smtClean="0"/>
              <a:t>Neither the superclass source code nor the translated superclass code is changed</a:t>
            </a:r>
          </a:p>
        </p:txBody>
      </p:sp>
      <p:sp>
        <p:nvSpPr>
          <p:cNvPr id="9" name="Footer Placeholder 8"/>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6" name="Title 1"/>
          <p:cNvSpPr>
            <a:spLocks noGrp="1"/>
          </p:cNvSpPr>
          <p:nvPr>
            <p:ph type="title"/>
          </p:nvPr>
        </p:nvSpPr>
        <p:spPr>
          <a:xfrm>
            <a:off x="190500" y="240434"/>
            <a:ext cx="8763000" cy="1143000"/>
          </a:xfrm>
        </p:spPr>
        <p:txBody>
          <a:bodyPr/>
          <a:lstStyle/>
          <a:p>
            <a:r>
              <a:rPr lang="en-US" dirty="0"/>
              <a:t>Using Inheritance to Achieve</a:t>
            </a:r>
            <a:br>
              <a:rPr lang="en-US" dirty="0"/>
            </a:br>
            <a:r>
              <a:rPr lang="en-US" dirty="0"/>
              <a:t>Good Software Design</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37</a:t>
            </a:fld>
            <a:endParaRPr lang="en-US" dirty="0"/>
          </a:p>
        </p:txBody>
      </p:sp>
      <p:sp>
        <p:nvSpPr>
          <p:cNvPr id="9" name="Content Placeholder 8"/>
          <p:cNvSpPr>
            <a:spLocks noGrp="1"/>
          </p:cNvSpPr>
          <p:nvPr>
            <p:ph idx="1"/>
          </p:nvPr>
        </p:nvSpPr>
        <p:spPr>
          <a:xfrm>
            <a:off x="533400" y="1676400"/>
            <a:ext cx="8077200" cy="4572000"/>
          </a:xfrm>
        </p:spPr>
        <p:txBody>
          <a:bodyPr/>
          <a:lstStyle/>
          <a:p>
            <a:r>
              <a:rPr lang="en-US" b="1" dirty="0" smtClean="0"/>
              <a:t>Libraries</a:t>
            </a:r>
            <a:r>
              <a:rPr lang="en-US" dirty="0" smtClean="0"/>
              <a:t> or </a:t>
            </a:r>
            <a:r>
              <a:rPr lang="en-US" b="1" dirty="0" smtClean="0"/>
              <a:t>packages</a:t>
            </a:r>
          </a:p>
          <a:p>
            <a:pPr lvl="1"/>
            <a:r>
              <a:rPr lang="en-US" dirty="0" smtClean="0"/>
              <a:t>Collections of classes that serve related purposes</a:t>
            </a:r>
          </a:p>
          <a:p>
            <a:r>
              <a:rPr lang="en-US" dirty="0" smtClean="0"/>
              <a:t>Graphical user interface (GUI) objects</a:t>
            </a:r>
          </a:p>
          <a:p>
            <a:pPr lvl="1"/>
            <a:r>
              <a:rPr lang="en-US" dirty="0" smtClean="0"/>
              <a:t>Created in a </a:t>
            </a:r>
            <a:r>
              <a:rPr lang="en-US" b="1" dirty="0" smtClean="0"/>
              <a:t>visual development environment </a:t>
            </a:r>
            <a:r>
              <a:rPr lang="en-US" dirty="0" smtClean="0"/>
              <a:t>known as an </a:t>
            </a:r>
            <a:r>
              <a:rPr lang="en-US" b="1" dirty="0" smtClean="0"/>
              <a:t>IDE</a:t>
            </a:r>
            <a:r>
              <a:rPr lang="en-US" dirty="0" smtClean="0"/>
              <a:t> (integrated development environment)</a:t>
            </a:r>
          </a:p>
          <a:p>
            <a:pPr lvl="1"/>
            <a:r>
              <a:rPr lang="en-US" dirty="0" smtClean="0"/>
              <a:t>Frames, buttons, labels, and text boxes</a:t>
            </a:r>
          </a:p>
          <a:p>
            <a:pPr lvl="1"/>
            <a:r>
              <a:rPr lang="en-US" dirty="0" smtClean="0"/>
              <a:t>Place within interactive programs so that users can manipulate them using input devices</a:t>
            </a:r>
            <a:endParaRPr lang="en-US" dirty="0" smtClean="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6" name="Title 1"/>
          <p:cNvSpPr>
            <a:spLocks noGrp="1"/>
          </p:cNvSpPr>
          <p:nvPr>
            <p:ph type="title"/>
          </p:nvPr>
        </p:nvSpPr>
        <p:spPr>
          <a:xfrm>
            <a:off x="190500" y="401205"/>
            <a:ext cx="8763000" cy="1143000"/>
          </a:xfrm>
        </p:spPr>
        <p:txBody>
          <a:bodyPr/>
          <a:lstStyle/>
          <a:p>
            <a:r>
              <a:rPr lang="en-US" dirty="0"/>
              <a:t>An Example of Using Predefined</a:t>
            </a:r>
            <a:br>
              <a:rPr lang="en-US" dirty="0"/>
            </a:br>
            <a:r>
              <a:rPr lang="en-US" dirty="0"/>
              <a:t>Classes: Creating GUI Objects</a:t>
            </a:r>
          </a:p>
        </p:txBody>
      </p:sp>
    </p:spTree>
    <p:extLst>
      <p:ext uri="{BB962C8B-B14F-4D97-AF65-F5344CB8AC3E}">
        <p14:creationId xmlns:p14="http://schemas.microsoft.com/office/powerpoint/2010/main" val="223731017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38</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Disadvantages of creating your own GUI object classes:</a:t>
            </a:r>
          </a:p>
          <a:p>
            <a:pPr lvl="1"/>
            <a:r>
              <a:rPr lang="en-US" dirty="0" smtClean="0"/>
              <a:t>Lots of work</a:t>
            </a:r>
          </a:p>
          <a:p>
            <a:pPr lvl="1"/>
            <a:r>
              <a:rPr lang="en-US" dirty="0" smtClean="0"/>
              <a:t>Repetitious</a:t>
            </a:r>
            <a:endParaRPr lang="en-US" dirty="0" smtClean="0"/>
          </a:p>
          <a:p>
            <a:pPr lvl="1"/>
            <a:r>
              <a:rPr lang="en-US" dirty="0" smtClean="0"/>
              <a:t>Components would look different in various applications</a:t>
            </a:r>
          </a:p>
          <a:p>
            <a:r>
              <a:rPr lang="en-US" b="1" dirty="0" smtClean="0"/>
              <a:t>Visual development environment </a:t>
            </a:r>
          </a:p>
          <a:p>
            <a:pPr lvl="1"/>
            <a:r>
              <a:rPr lang="en-US" dirty="0" smtClean="0"/>
              <a:t>Known as an </a:t>
            </a:r>
            <a:r>
              <a:rPr lang="en-US" b="1" dirty="0" smtClean="0"/>
              <a:t>IDE</a:t>
            </a:r>
            <a:r>
              <a:rPr lang="en-US" dirty="0" smtClean="0"/>
              <a:t> (Integrated Development Environment) </a:t>
            </a:r>
          </a:p>
          <a:p>
            <a:pPr lvl="1"/>
            <a:r>
              <a:rPr lang="en-US" dirty="0" smtClean="0"/>
              <a:t>Create programs by dragging components such as buttons and labels onto a screen and arranging them visually</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6" name="Title 1"/>
          <p:cNvSpPr>
            <a:spLocks noGrp="1"/>
          </p:cNvSpPr>
          <p:nvPr>
            <p:ph type="title"/>
          </p:nvPr>
        </p:nvSpPr>
        <p:spPr>
          <a:xfrm>
            <a:off x="190500" y="425450"/>
            <a:ext cx="8763000" cy="1143000"/>
          </a:xfrm>
        </p:spPr>
        <p:txBody>
          <a:bodyPr/>
          <a:lstStyle/>
          <a:p>
            <a:r>
              <a:rPr lang="en-US" dirty="0"/>
              <a:t>An Example of Using Predefined</a:t>
            </a:r>
            <a:br>
              <a:rPr lang="en-US" dirty="0"/>
            </a:br>
            <a:r>
              <a:rPr lang="en-US" dirty="0"/>
              <a:t>Classes: Creating GUI </a:t>
            </a:r>
            <a:r>
              <a:rPr lang="en-US" dirty="0" smtClean="0"/>
              <a:t>Objects </a:t>
            </a:r>
            <a:r>
              <a:rPr lang="en-US" sz="1200" dirty="0"/>
              <a:t>(</a:t>
            </a:r>
            <a:r>
              <a:rPr lang="en-US" sz="1200" dirty="0" smtClean="0"/>
              <a:t>continued)</a:t>
            </a:r>
            <a:endParaRPr lang="en-US" sz="1200" dirty="0"/>
          </a:p>
        </p:txBody>
      </p:sp>
    </p:spTree>
    <p:extLst>
      <p:ext uri="{BB962C8B-B14F-4D97-AF65-F5344CB8AC3E}">
        <p14:creationId xmlns:p14="http://schemas.microsoft.com/office/powerpoint/2010/main" val="4710819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76200"/>
            <a:ext cx="8229600" cy="1249362"/>
          </a:xfrm>
        </p:spPr>
        <p:txBody>
          <a:bodyPr/>
          <a:lstStyle/>
          <a:p>
            <a:r>
              <a:rPr lang="en-US" dirty="0"/>
              <a:t>Understanding Exception Handling</a:t>
            </a:r>
            <a:endParaRPr lang="en-US"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39</a:t>
            </a:fld>
            <a:endParaRPr lang="en-US" dirty="0"/>
          </a:p>
        </p:txBody>
      </p:sp>
      <p:sp>
        <p:nvSpPr>
          <p:cNvPr id="7" name="Content Placeholder 8"/>
          <p:cNvSpPr>
            <a:spLocks noGrp="1"/>
          </p:cNvSpPr>
          <p:nvPr>
            <p:ph idx="1"/>
          </p:nvPr>
        </p:nvSpPr>
        <p:spPr>
          <a:xfrm>
            <a:off x="533400" y="1676400"/>
            <a:ext cx="8077200" cy="4572000"/>
          </a:xfrm>
        </p:spPr>
        <p:txBody>
          <a:bodyPr/>
          <a:lstStyle/>
          <a:p>
            <a:r>
              <a:rPr lang="en-US" dirty="0" smtClean="0"/>
              <a:t>A lot of effort goes into checking data items to make sure they are valid and reasonable</a:t>
            </a:r>
          </a:p>
          <a:p>
            <a:r>
              <a:rPr lang="en-US" dirty="0" smtClean="0"/>
              <a:t>Procedural programs handled errors in various ways that were effective</a:t>
            </a:r>
          </a:p>
          <a:p>
            <a:pPr lvl="1"/>
            <a:r>
              <a:rPr lang="en-US" dirty="0" smtClean="0"/>
              <a:t>Techniques had some drawbacks</a:t>
            </a:r>
          </a:p>
          <a:p>
            <a:r>
              <a:rPr lang="en-US" dirty="0" smtClean="0"/>
              <a:t>Object-oriented programming</a:t>
            </a:r>
          </a:p>
          <a:p>
            <a:pPr lvl="1"/>
            <a:r>
              <a:rPr lang="en-US" dirty="0" smtClean="0"/>
              <a:t>New model called exception handling</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0389370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74638"/>
            <a:ext cx="8229600" cy="1001712"/>
          </a:xfrm>
        </p:spPr>
        <p:txBody>
          <a:bodyPr/>
          <a:lstStyle/>
          <a:p>
            <a:r>
              <a:rPr lang="en-US" dirty="0"/>
              <a:t>Drawbacks to Traditional Error-Handling Techniques</a:t>
            </a:r>
            <a:endParaRPr lang="en-US"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40</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The most often used error-handling outcome in traditional programming was to terminate the program</a:t>
            </a:r>
          </a:p>
          <a:p>
            <a:pPr lvl="1"/>
            <a:r>
              <a:rPr lang="en-US" dirty="0" smtClean="0"/>
              <a:t>Unforgiving</a:t>
            </a:r>
          </a:p>
          <a:p>
            <a:pPr lvl="1"/>
            <a:r>
              <a:rPr lang="en-US" dirty="0" smtClean="0"/>
              <a:t>Unstructured</a:t>
            </a:r>
          </a:p>
          <a:p>
            <a:r>
              <a:rPr lang="en-US" dirty="0"/>
              <a:t>F</a:t>
            </a:r>
            <a:r>
              <a:rPr lang="en-US" dirty="0" smtClean="0"/>
              <a:t>orcing </a:t>
            </a:r>
            <a:r>
              <a:rPr lang="en-US" dirty="0"/>
              <a:t>the user to reenter </a:t>
            </a:r>
            <a:r>
              <a:rPr lang="en-US" dirty="0" smtClean="0"/>
              <a:t>data or limiting </a:t>
            </a:r>
            <a:r>
              <a:rPr lang="en-US" dirty="0"/>
              <a:t>the number of chances the user gets to enter correct </a:t>
            </a:r>
            <a:r>
              <a:rPr lang="en-US" dirty="0" smtClean="0"/>
              <a:t>data</a:t>
            </a:r>
          </a:p>
          <a:p>
            <a:pPr lvl="1"/>
            <a:r>
              <a:rPr lang="en-US" dirty="0" smtClean="0"/>
              <a:t>May </a:t>
            </a:r>
            <a:r>
              <a:rPr lang="en-US" dirty="0"/>
              <a:t>allow no second chance at all</a:t>
            </a:r>
            <a:endParaRPr lang="en-US" dirty="0" smtClean="0"/>
          </a:p>
          <a:p>
            <a:pPr lvl="2"/>
            <a:endParaRPr lang="en-US"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61077856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74638"/>
            <a:ext cx="8229600" cy="1173162"/>
          </a:xfrm>
        </p:spPr>
        <p:txBody>
          <a:bodyPr/>
          <a:lstStyle/>
          <a:p>
            <a:r>
              <a:rPr lang="en-US" dirty="0"/>
              <a:t>Drawbacks to Traditional Error-Handling </a:t>
            </a:r>
            <a:r>
              <a:rPr lang="en-US" dirty="0" smtClean="0"/>
              <a:t>Techniques </a:t>
            </a:r>
            <a:r>
              <a:rPr lang="en-US" sz="1200" dirty="0" smtClean="0"/>
              <a:t>(</a:t>
            </a:r>
            <a:r>
              <a:rPr lang="en-US" sz="1200" dirty="0" smtClean="0"/>
              <a:t>continued -1)</a:t>
            </a:r>
            <a:endParaRPr lang="en-US" sz="1200" dirty="0" smtClean="0"/>
          </a:p>
        </p:txBody>
      </p:sp>
      <p:pic>
        <p:nvPicPr>
          <p:cNvPr id="2" name="Picture 1" descr="This method contains two exit points at the two return statements. A structured method should not have multiple return statements." title="A method that handles an error in an unstructured manne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2218055"/>
            <a:ext cx="7917266" cy="3368040"/>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41</a:t>
            </a:fld>
            <a:endParaRPr lang="en-US" dirty="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8206723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74638"/>
            <a:ext cx="8229600" cy="1249362"/>
          </a:xfrm>
        </p:spPr>
        <p:txBody>
          <a:bodyPr/>
          <a:lstStyle/>
          <a:p>
            <a:r>
              <a:rPr lang="en-US" dirty="0"/>
              <a:t>Drawbacks to Traditional Error-Handling </a:t>
            </a:r>
            <a:r>
              <a:rPr lang="en-US" dirty="0" smtClean="0"/>
              <a:t>Techniques </a:t>
            </a:r>
            <a:r>
              <a:rPr lang="en-US" sz="1200" dirty="0" smtClean="0"/>
              <a:t>(</a:t>
            </a:r>
            <a:r>
              <a:rPr lang="en-US" sz="1200" dirty="0" smtClean="0"/>
              <a:t>continued -2)</a:t>
            </a:r>
            <a:endParaRPr lang="en-US" sz="1200"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42</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More elegant solution </a:t>
            </a:r>
          </a:p>
          <a:p>
            <a:pPr lvl="1"/>
            <a:r>
              <a:rPr lang="en-US" dirty="0" smtClean="0"/>
              <a:t>Looping until the data item becomes valid</a:t>
            </a:r>
          </a:p>
          <a:p>
            <a:r>
              <a:rPr lang="en-US" dirty="0" smtClean="0"/>
              <a:t>Shortcomings</a:t>
            </a:r>
          </a:p>
          <a:p>
            <a:pPr lvl="1"/>
            <a:r>
              <a:rPr lang="en-US" dirty="0" smtClean="0"/>
              <a:t>Method is not very reusable</a:t>
            </a:r>
          </a:p>
          <a:p>
            <a:pPr lvl="1"/>
            <a:r>
              <a:rPr lang="en-US" dirty="0" smtClean="0"/>
              <a:t>Method is not very flexible</a:t>
            </a:r>
          </a:p>
          <a:p>
            <a:pPr lvl="1"/>
            <a:r>
              <a:rPr lang="en-US" dirty="0" smtClean="0"/>
              <a:t>Only works with interactive programs</a:t>
            </a:r>
          </a:p>
          <a:p>
            <a:pPr lvl="2"/>
            <a:endParaRPr lang="en-US"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7978711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74638"/>
            <a:ext cx="8229600" cy="1249362"/>
          </a:xfrm>
        </p:spPr>
        <p:txBody>
          <a:bodyPr/>
          <a:lstStyle/>
          <a:p>
            <a:r>
              <a:rPr lang="en-US" dirty="0"/>
              <a:t>Drawbacks to Traditional Error-Handling </a:t>
            </a:r>
            <a:r>
              <a:rPr lang="en-US" dirty="0" smtClean="0"/>
              <a:t>Techniques </a:t>
            </a:r>
            <a:r>
              <a:rPr lang="en-US" sz="1200" dirty="0" smtClean="0"/>
              <a:t>(</a:t>
            </a:r>
            <a:r>
              <a:rPr lang="en-US" sz="1200" dirty="0" smtClean="0"/>
              <a:t>continued -3)</a:t>
            </a:r>
            <a:endParaRPr lang="en-US" sz="1200" dirty="0" smtClean="0"/>
          </a:p>
        </p:txBody>
      </p:sp>
      <p:pic>
        <p:nvPicPr>
          <p:cNvPr id="2" name="Picture 1" descr="The error-handling logic shown has at least two shortcomings:&#10;1) The method is not as reusable as it could be.&#10;2) The method is not as flexible as it might be." title="A method that handles an error using a loop"/>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2600" y="2114378"/>
            <a:ext cx="6067044" cy="3651593"/>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43</a:t>
            </a:fld>
            <a:endParaRPr lang="en-US" dirty="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70369684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74638"/>
            <a:ext cx="8229600" cy="1001712"/>
          </a:xfrm>
        </p:spPr>
        <p:txBody>
          <a:bodyPr/>
          <a:lstStyle/>
          <a:p>
            <a:r>
              <a:rPr lang="en-US" dirty="0"/>
              <a:t>The Object-Oriented Exception-Handling Model</a:t>
            </a:r>
            <a:endParaRPr lang="en-US"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44</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b="1" dirty="0" smtClean="0"/>
              <a:t>Exception handling</a:t>
            </a:r>
          </a:p>
          <a:p>
            <a:pPr lvl="1"/>
            <a:r>
              <a:rPr lang="en-US" dirty="0" smtClean="0"/>
              <a:t>A specific group of techniques for handling errors in object-oriented programs</a:t>
            </a:r>
          </a:p>
          <a:p>
            <a:r>
              <a:rPr lang="en-US" b="1" dirty="0" smtClean="0"/>
              <a:t>Exceptions</a:t>
            </a:r>
          </a:p>
          <a:p>
            <a:pPr lvl="1"/>
            <a:r>
              <a:rPr lang="en-US" dirty="0" smtClean="0"/>
              <a:t>The generic name used for errors in object-oriented languages</a:t>
            </a:r>
          </a:p>
          <a:p>
            <a:r>
              <a:rPr lang="en-US" b="1" dirty="0" smtClean="0"/>
              <a:t>Try </a:t>
            </a:r>
            <a:r>
              <a:rPr lang="en-US" dirty="0" smtClean="0"/>
              <a:t>some code that might </a:t>
            </a:r>
            <a:r>
              <a:rPr lang="en-US" b="1" dirty="0" smtClean="0"/>
              <a:t>throw an exception</a:t>
            </a:r>
          </a:p>
          <a:p>
            <a:r>
              <a:rPr lang="en-US" dirty="0" smtClean="0"/>
              <a:t>If an exception is thrown, it is passed to a block of code that can </a:t>
            </a:r>
            <a:r>
              <a:rPr lang="en-US" b="1" dirty="0" smtClean="0"/>
              <a:t>catch the exception</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93180396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45</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b="1" dirty="0" smtClean="0">
                <a:latin typeface="Courier New" pitchFamily="49" charset="0"/>
                <a:cs typeface="Courier New" pitchFamily="49" charset="0"/>
              </a:rPr>
              <a:t>throw</a:t>
            </a:r>
            <a:r>
              <a:rPr lang="en-US" b="1" dirty="0" smtClean="0"/>
              <a:t> statement</a:t>
            </a:r>
          </a:p>
          <a:p>
            <a:pPr lvl="1"/>
            <a:r>
              <a:rPr lang="en-US" dirty="0" smtClean="0"/>
              <a:t>Sends an </a:t>
            </a:r>
            <a:r>
              <a:rPr lang="en-US" dirty="0" smtClean="0">
                <a:latin typeface="Courier New" pitchFamily="49" charset="0"/>
                <a:cs typeface="Courier New" pitchFamily="49" charset="0"/>
              </a:rPr>
              <a:t>Exception</a:t>
            </a:r>
            <a:r>
              <a:rPr lang="en-US" dirty="0" smtClean="0"/>
              <a:t> object out of the current code block or method so it can be handled elsewhere</a:t>
            </a:r>
          </a:p>
          <a:p>
            <a:r>
              <a:rPr lang="en-US" b="1" dirty="0" smtClean="0">
                <a:latin typeface="Courier New" pitchFamily="49" charset="0"/>
                <a:cs typeface="Courier New" pitchFamily="49" charset="0"/>
              </a:rPr>
              <a:t>try</a:t>
            </a:r>
            <a:r>
              <a:rPr lang="en-US" b="1" dirty="0" smtClean="0"/>
              <a:t> block</a:t>
            </a:r>
          </a:p>
          <a:p>
            <a:pPr lvl="1"/>
            <a:r>
              <a:rPr lang="en-US" dirty="0" smtClean="0"/>
              <a:t>A block of code you attempt to execute while acknowledging that an exception might occur</a:t>
            </a:r>
          </a:p>
          <a:p>
            <a:pPr lvl="1"/>
            <a:r>
              <a:rPr lang="en-US" dirty="0" smtClean="0"/>
              <a:t>The keyword </a:t>
            </a:r>
            <a:r>
              <a:rPr lang="en-US" dirty="0" smtClean="0">
                <a:latin typeface="Courier New" pitchFamily="49" charset="0"/>
                <a:cs typeface="Courier New" pitchFamily="49" charset="0"/>
              </a:rPr>
              <a:t>try</a:t>
            </a:r>
            <a:r>
              <a:rPr lang="en-US" dirty="0" smtClean="0"/>
              <a:t>, followed by any number of statements</a:t>
            </a:r>
          </a:p>
          <a:p>
            <a:pPr lvl="1"/>
            <a:r>
              <a:rPr lang="en-US" dirty="0" smtClean="0"/>
              <a:t>If a statement in the block causes an exception, the remaining statements in the </a:t>
            </a:r>
            <a:r>
              <a:rPr lang="en-US" dirty="0" smtClean="0">
                <a:latin typeface="Courier New" pitchFamily="49" charset="0"/>
                <a:cs typeface="Courier New" pitchFamily="49" charset="0"/>
              </a:rPr>
              <a:t>try</a:t>
            </a:r>
            <a:r>
              <a:rPr lang="en-US" dirty="0" smtClean="0"/>
              <a:t> block do not execute and the </a:t>
            </a:r>
            <a:r>
              <a:rPr lang="en-US" dirty="0" smtClean="0">
                <a:latin typeface="Courier New" pitchFamily="49" charset="0"/>
                <a:cs typeface="Courier New" pitchFamily="49" charset="0"/>
              </a:rPr>
              <a:t>try</a:t>
            </a:r>
            <a:r>
              <a:rPr lang="en-US" dirty="0" smtClean="0"/>
              <a:t> block is abandoned</a:t>
            </a:r>
          </a:p>
        </p:txBody>
      </p:sp>
      <p:sp>
        <p:nvSpPr>
          <p:cNvPr id="11" name="Title 1"/>
          <p:cNvSpPr>
            <a:spLocks noGrp="1"/>
          </p:cNvSpPr>
          <p:nvPr>
            <p:ph type="title"/>
          </p:nvPr>
        </p:nvSpPr>
        <p:spPr>
          <a:xfrm>
            <a:off x="457200" y="274638"/>
            <a:ext cx="8229600" cy="1173162"/>
          </a:xfrm>
        </p:spPr>
        <p:txBody>
          <a:bodyPr/>
          <a:lstStyle/>
          <a:p>
            <a:r>
              <a:rPr lang="en-US" dirty="0"/>
              <a:t>The Object-Oriented Exception-Handling </a:t>
            </a:r>
            <a:r>
              <a:rPr lang="en-US" dirty="0" smtClean="0"/>
              <a:t>Model </a:t>
            </a:r>
            <a:r>
              <a:rPr lang="en-US" sz="1200" dirty="0" smtClean="0"/>
              <a:t>(</a:t>
            </a:r>
            <a:r>
              <a:rPr lang="en-US" sz="1200" dirty="0" smtClean="0"/>
              <a:t>continued -1)</a:t>
            </a:r>
            <a:endParaRPr lang="en-US" sz="1200" dirty="0" smtClean="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810040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46</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b="1" dirty="0" smtClean="0">
                <a:latin typeface="Courier New" pitchFamily="49" charset="0"/>
                <a:cs typeface="Courier New" pitchFamily="49" charset="0"/>
              </a:rPr>
              <a:t>catch</a:t>
            </a:r>
            <a:r>
              <a:rPr lang="en-US" b="1" dirty="0" smtClean="0"/>
              <a:t> block</a:t>
            </a:r>
          </a:p>
          <a:p>
            <a:pPr lvl="1"/>
            <a:r>
              <a:rPr lang="en-US" dirty="0" smtClean="0"/>
              <a:t>A segment of code that can handle an exception</a:t>
            </a:r>
          </a:p>
          <a:p>
            <a:pPr lvl="1"/>
            <a:r>
              <a:rPr lang="en-US" dirty="0" smtClean="0"/>
              <a:t>The keyword </a:t>
            </a:r>
            <a:r>
              <a:rPr lang="en-US" dirty="0" smtClean="0">
                <a:latin typeface="Courier New" pitchFamily="49" charset="0"/>
                <a:cs typeface="Courier New" pitchFamily="49" charset="0"/>
              </a:rPr>
              <a:t>catch</a:t>
            </a:r>
            <a:r>
              <a:rPr lang="en-US" dirty="0" smtClean="0"/>
              <a:t>, followed by parentheses that contain an </a:t>
            </a:r>
            <a:r>
              <a:rPr lang="en-US" dirty="0" smtClean="0">
                <a:latin typeface="Courier New" pitchFamily="49" charset="0"/>
                <a:cs typeface="Courier New" pitchFamily="49" charset="0"/>
              </a:rPr>
              <a:t>Exception</a:t>
            </a:r>
            <a:r>
              <a:rPr lang="en-US" dirty="0" smtClean="0"/>
              <a:t> type and an identifier</a:t>
            </a:r>
          </a:p>
          <a:p>
            <a:pPr lvl="1"/>
            <a:r>
              <a:rPr lang="en-US" dirty="0" smtClean="0"/>
              <a:t>Statements that take the action </a:t>
            </a:r>
            <a:r>
              <a:rPr lang="en-US" dirty="0" smtClean="0"/>
              <a:t>to </a:t>
            </a:r>
            <a:r>
              <a:rPr lang="en-US" dirty="0" smtClean="0"/>
              <a:t>handle the error condition</a:t>
            </a:r>
          </a:p>
          <a:p>
            <a:pPr lvl="1"/>
            <a:r>
              <a:rPr lang="en-US" dirty="0" smtClean="0"/>
              <a:t>The </a:t>
            </a:r>
            <a:r>
              <a:rPr lang="en-US" dirty="0" err="1" smtClean="0">
                <a:latin typeface="Courier New" pitchFamily="49" charset="0"/>
                <a:cs typeface="Courier New" pitchFamily="49" charset="0"/>
              </a:rPr>
              <a:t>endcatch</a:t>
            </a:r>
            <a:r>
              <a:rPr lang="en-US" dirty="0" smtClean="0"/>
              <a:t> </a:t>
            </a:r>
            <a:r>
              <a:rPr lang="en-US" dirty="0" smtClean="0"/>
              <a:t>keyword </a:t>
            </a:r>
            <a:r>
              <a:rPr lang="en-US" dirty="0" smtClean="0"/>
              <a:t>indicates the end of the catch block in the pseudocode	</a:t>
            </a:r>
          </a:p>
        </p:txBody>
      </p:sp>
      <p:sp>
        <p:nvSpPr>
          <p:cNvPr id="9" name="Title 1"/>
          <p:cNvSpPr>
            <a:spLocks noGrp="1"/>
          </p:cNvSpPr>
          <p:nvPr>
            <p:ph type="title"/>
          </p:nvPr>
        </p:nvSpPr>
        <p:spPr>
          <a:xfrm>
            <a:off x="457200" y="274638"/>
            <a:ext cx="8229600" cy="1293812"/>
          </a:xfrm>
        </p:spPr>
        <p:txBody>
          <a:bodyPr/>
          <a:lstStyle/>
          <a:p>
            <a:r>
              <a:rPr lang="en-US" dirty="0"/>
              <a:t>The Object-Oriented Exception-Handling </a:t>
            </a:r>
            <a:r>
              <a:rPr lang="en-US" dirty="0" smtClean="0"/>
              <a:t>Model </a:t>
            </a:r>
            <a:r>
              <a:rPr lang="en-US" sz="1200" dirty="0" smtClean="0"/>
              <a:t>(</a:t>
            </a:r>
            <a:r>
              <a:rPr lang="en-US" sz="1200" dirty="0" smtClean="0"/>
              <a:t>continued -2)</a:t>
            </a:r>
            <a:endParaRPr lang="en-US" sz="1200" dirty="0" smtClean="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5625649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95A5FCC0-5251-4FC4-B646-20B416B8B42D}" type="slidenum">
              <a:rPr lang="en-US"/>
              <a:pPr>
                <a:defRPr/>
              </a:pPr>
              <a:t>47</a:t>
            </a:fld>
            <a:endParaRPr lang="en-US" dirty="0"/>
          </a:p>
        </p:txBody>
      </p:sp>
      <p:sp>
        <p:nvSpPr>
          <p:cNvPr id="13" name="Content Placeholder 2"/>
          <p:cNvSpPr>
            <a:spLocks noGrp="1"/>
          </p:cNvSpPr>
          <p:nvPr>
            <p:ph idx="1"/>
          </p:nvPr>
        </p:nvSpPr>
        <p:spPr>
          <a:xfrm>
            <a:off x="533400" y="1676400"/>
            <a:ext cx="8077200" cy="4572000"/>
          </a:xfrm>
        </p:spPr>
        <p:txBody>
          <a:bodyPr/>
          <a:lstStyle/>
          <a:p>
            <a:r>
              <a:rPr lang="en-US" dirty="0" smtClean="0"/>
              <a:t>General principle of exception handling: </a:t>
            </a:r>
          </a:p>
          <a:p>
            <a:pPr lvl="1"/>
            <a:r>
              <a:rPr lang="en-US" dirty="0" smtClean="0"/>
              <a:t>The method that uses the data should be able to detect errors, but not be required to handle them</a:t>
            </a:r>
          </a:p>
          <a:p>
            <a:pPr lvl="1"/>
            <a:r>
              <a:rPr lang="en-US" dirty="0" smtClean="0"/>
              <a:t>Handling should be left to the application that uses the object</a:t>
            </a:r>
          </a:p>
          <a:p>
            <a:r>
              <a:rPr lang="en-US" b="1" dirty="0" smtClean="0"/>
              <a:t>Sunny </a:t>
            </a:r>
            <a:r>
              <a:rPr lang="en-US" b="1" dirty="0" smtClean="0"/>
              <a:t>day case</a:t>
            </a:r>
            <a:endParaRPr lang="en-US" b="1" dirty="0" smtClean="0"/>
          </a:p>
          <a:p>
            <a:pPr lvl="1"/>
            <a:r>
              <a:rPr lang="en-US" dirty="0" smtClean="0"/>
              <a:t>When there are no exceptions and nothing goes wrong with a program</a:t>
            </a:r>
          </a:p>
        </p:txBody>
      </p:sp>
      <p:sp>
        <p:nvSpPr>
          <p:cNvPr id="8" name="Title 1"/>
          <p:cNvSpPr>
            <a:spLocks noGrp="1"/>
          </p:cNvSpPr>
          <p:nvPr>
            <p:ph type="title"/>
          </p:nvPr>
        </p:nvSpPr>
        <p:spPr>
          <a:xfrm>
            <a:off x="457200" y="274638"/>
            <a:ext cx="8229600" cy="1293812"/>
          </a:xfrm>
        </p:spPr>
        <p:txBody>
          <a:bodyPr/>
          <a:lstStyle/>
          <a:p>
            <a:r>
              <a:rPr lang="en-US" dirty="0"/>
              <a:t>The Object-Oriented Exception-Handling </a:t>
            </a:r>
            <a:r>
              <a:rPr lang="en-US" dirty="0" smtClean="0"/>
              <a:t>Model </a:t>
            </a:r>
            <a:r>
              <a:rPr lang="en-US" sz="1200" dirty="0" smtClean="0"/>
              <a:t>(</a:t>
            </a:r>
            <a:r>
              <a:rPr lang="en-US" sz="1200" dirty="0" smtClean="0"/>
              <a:t>continued -3)</a:t>
            </a:r>
            <a:endParaRPr lang="en-US" sz="1200"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457200" y="274638"/>
            <a:ext cx="8229600" cy="1241862"/>
          </a:xfrm>
        </p:spPr>
        <p:txBody>
          <a:bodyPr/>
          <a:lstStyle/>
          <a:p>
            <a:r>
              <a:rPr lang="en-US" dirty="0"/>
              <a:t>The Object-Oriented Exception-Handling </a:t>
            </a:r>
            <a:r>
              <a:rPr lang="en-US" dirty="0" smtClean="0"/>
              <a:t>Model </a:t>
            </a:r>
            <a:r>
              <a:rPr lang="en-US" sz="1200" dirty="0" smtClean="0"/>
              <a:t>(</a:t>
            </a:r>
            <a:r>
              <a:rPr lang="en-US" sz="1200" dirty="0" smtClean="0"/>
              <a:t>continued -4)</a:t>
            </a:r>
            <a:endParaRPr lang="en-US" sz="1200" dirty="0" smtClean="0"/>
          </a:p>
        </p:txBody>
      </p:sp>
      <p:pic>
        <p:nvPicPr>
          <p:cNvPr id="2" name="Picture 1" descr="A determinePremium method that throws an exception only if policyType is neither H nor A. If policyType is invalid, an object of type Exception&#10;named mistake is instantiated and thrown from the method by a throw statement. " title="A method that creates and throws an Exception objec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643466"/>
            <a:ext cx="4294816" cy="2699416"/>
          </a:xfrm>
          <a:prstGeom prst="rect">
            <a:avLst/>
          </a:prstGeom>
        </p:spPr>
      </p:pic>
      <p:pic>
        <p:nvPicPr>
          <p:cNvPr id="3" name="Picture 2" descr="A message is displayed when the exception is thrown." title="A program that contains a try…catch pai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0" y="4469848"/>
            <a:ext cx="3962400" cy="2013467"/>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48</a:t>
            </a:fld>
            <a:endParaRPr lang="en-US" dirty="0"/>
          </a:p>
        </p:txBody>
      </p:sp>
      <p:sp>
        <p:nvSpPr>
          <p:cNvPr id="11" name="Footer Placeholder 10"/>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52400" y="228600"/>
            <a:ext cx="8839200" cy="1143000"/>
          </a:xfrm>
        </p:spPr>
        <p:txBody>
          <a:bodyPr/>
          <a:lstStyle/>
          <a:p>
            <a:r>
              <a:rPr lang="en-US" dirty="0"/>
              <a:t>Using Built-in Exceptions and Creating</a:t>
            </a:r>
            <a:br>
              <a:rPr lang="en-US" dirty="0"/>
            </a:br>
            <a:r>
              <a:rPr lang="en-US" dirty="0"/>
              <a:t>Your Own Exceptions</a:t>
            </a:r>
            <a:endParaRPr lang="en-US" dirty="0" smtClean="0"/>
          </a:p>
        </p:txBody>
      </p:sp>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49</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Many OO languages provide many built-in </a:t>
            </a:r>
            <a:r>
              <a:rPr lang="en-US" dirty="0" smtClean="0">
                <a:latin typeface="Courier New" pitchFamily="49" charset="0"/>
                <a:cs typeface="Courier New" pitchFamily="49" charset="0"/>
              </a:rPr>
              <a:t>Exception</a:t>
            </a:r>
            <a:r>
              <a:rPr lang="en-US" dirty="0" smtClean="0"/>
              <a:t> types</a:t>
            </a:r>
          </a:p>
          <a:p>
            <a:pPr lvl="1"/>
            <a:r>
              <a:rPr lang="en-US" dirty="0" smtClean="0"/>
              <a:t>Built-in </a:t>
            </a:r>
            <a:r>
              <a:rPr lang="en-US" dirty="0" smtClean="0">
                <a:latin typeface="Courier New" pitchFamily="49" charset="0"/>
                <a:cs typeface="Courier New" pitchFamily="49" charset="0"/>
              </a:rPr>
              <a:t>Exceptions</a:t>
            </a:r>
            <a:r>
              <a:rPr lang="en-US" dirty="0" smtClean="0"/>
              <a:t> in a programming language cannot cover every condition</a:t>
            </a:r>
          </a:p>
          <a:p>
            <a:r>
              <a:rPr lang="en-US" dirty="0" smtClean="0"/>
              <a:t>Create your own throwable </a:t>
            </a:r>
            <a:r>
              <a:rPr lang="en-US" dirty="0" smtClean="0">
                <a:latin typeface="Courier New" pitchFamily="49" charset="0"/>
                <a:cs typeface="Courier New" pitchFamily="49" charset="0"/>
              </a:rPr>
              <a:t>Exception</a:t>
            </a:r>
          </a:p>
          <a:p>
            <a:pPr lvl="1"/>
            <a:r>
              <a:rPr lang="en-US" dirty="0" smtClean="0"/>
              <a:t>Extend a built-in </a:t>
            </a:r>
            <a:r>
              <a:rPr lang="en-US" dirty="0" smtClean="0">
                <a:latin typeface="Courier New" pitchFamily="49" charset="0"/>
                <a:cs typeface="Courier New" pitchFamily="49" charset="0"/>
              </a:rPr>
              <a:t>Exception</a:t>
            </a:r>
            <a:r>
              <a:rPr lang="en-US" dirty="0" smtClean="0"/>
              <a:t> class</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94600356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152400"/>
            <a:ext cx="8229600" cy="1143000"/>
          </a:xfrm>
        </p:spPr>
        <p:txBody>
          <a:bodyPr/>
          <a:lstStyle/>
          <a:p>
            <a:r>
              <a:rPr lang="en-US" dirty="0"/>
              <a:t>Reviewing the Advantages of Object-Oriented Programming</a:t>
            </a:r>
            <a:endParaRPr lang="en-US" dirty="0" smtClean="0"/>
          </a:p>
        </p:txBody>
      </p:sp>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50</a:t>
            </a:fld>
            <a:endParaRPr lang="en-US" dirty="0"/>
          </a:p>
        </p:txBody>
      </p:sp>
      <p:sp>
        <p:nvSpPr>
          <p:cNvPr id="7" name="Content Placeholder 8"/>
          <p:cNvSpPr>
            <a:spLocks noGrp="1"/>
          </p:cNvSpPr>
          <p:nvPr>
            <p:ph idx="1"/>
          </p:nvPr>
        </p:nvSpPr>
        <p:spPr>
          <a:xfrm>
            <a:off x="533400" y="1676400"/>
            <a:ext cx="8077200" cy="4572000"/>
          </a:xfrm>
        </p:spPr>
        <p:txBody>
          <a:bodyPr/>
          <a:lstStyle/>
          <a:p>
            <a:r>
              <a:rPr lang="en-US" dirty="0" smtClean="0"/>
              <a:t>Save development time</a:t>
            </a:r>
          </a:p>
          <a:p>
            <a:pPr lvl="1"/>
            <a:r>
              <a:rPr lang="en-US" dirty="0" smtClean="0"/>
              <a:t>Each object automatically includes appropriate, reliable methods and attributes</a:t>
            </a:r>
          </a:p>
          <a:p>
            <a:r>
              <a:rPr lang="en-US" dirty="0" smtClean="0"/>
              <a:t>Develop new classes more quickly </a:t>
            </a:r>
          </a:p>
          <a:p>
            <a:pPr lvl="1"/>
            <a:r>
              <a:rPr lang="en-US" dirty="0" smtClean="0"/>
              <a:t>By extending classes that already exist and work</a:t>
            </a:r>
          </a:p>
          <a:p>
            <a:r>
              <a:rPr lang="en-US" dirty="0" smtClean="0"/>
              <a:t>Use existing objects</a:t>
            </a:r>
          </a:p>
          <a:p>
            <a:pPr lvl="1"/>
            <a:r>
              <a:rPr lang="en-US" dirty="0" smtClean="0"/>
              <a:t>Concentrate only on the interface to those objects</a:t>
            </a:r>
          </a:p>
          <a:p>
            <a:r>
              <a:rPr lang="en-US" dirty="0" smtClean="0"/>
              <a:t>Polymorphism</a:t>
            </a:r>
          </a:p>
          <a:p>
            <a:pPr lvl="1"/>
            <a:r>
              <a:rPr lang="en-US" dirty="0" smtClean="0"/>
              <a:t>Use reasonable, easy-to-remember names for methods</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7899316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Summary</a:t>
            </a:r>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51</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A constructor establishes objects and a destructor destroys them</a:t>
            </a:r>
          </a:p>
          <a:p>
            <a:r>
              <a:rPr lang="en-US" dirty="0" smtClean="0"/>
              <a:t>Composition or aggregation (has-a relationship)is where a </a:t>
            </a:r>
            <a:r>
              <a:rPr lang="en-US" dirty="0" smtClean="0"/>
              <a:t>class can contain objects of another class as data members</a:t>
            </a:r>
          </a:p>
          <a:p>
            <a:r>
              <a:rPr lang="en-US" dirty="0" smtClean="0"/>
              <a:t>Creating </a:t>
            </a:r>
            <a:r>
              <a:rPr lang="en-US" dirty="0"/>
              <a:t>a class by </a:t>
            </a:r>
            <a:r>
              <a:rPr lang="en-US" dirty="0" smtClean="0"/>
              <a:t>using inheritance provides you with prewritten </a:t>
            </a:r>
            <a:r>
              <a:rPr lang="en-US" dirty="0"/>
              <a:t>and tested data fields and methods automatically. Using inheritance </a:t>
            </a:r>
            <a:r>
              <a:rPr lang="en-US" dirty="0" smtClean="0"/>
              <a:t>helps save </a:t>
            </a:r>
            <a:r>
              <a:rPr lang="en-US" dirty="0"/>
              <a:t>time, reduces the chance of errors and inconsistencies, and makes it easier </a:t>
            </a:r>
            <a:r>
              <a:rPr lang="en-US" dirty="0" smtClean="0"/>
              <a:t>to </a:t>
            </a:r>
            <a:r>
              <a:rPr lang="en-US" dirty="0"/>
              <a:t>understand your classes.</a:t>
            </a:r>
            <a:endParaRPr lang="en-US" dirty="0" smtClean="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Summary </a:t>
            </a:r>
            <a:r>
              <a:rPr lang="en-US" sz="1200" dirty="0" smtClean="0"/>
              <a:t>(continued)</a:t>
            </a:r>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52</a:t>
            </a:fld>
            <a:endParaRPr lang="en-US" dirty="0"/>
          </a:p>
        </p:txBody>
      </p:sp>
      <p:sp>
        <p:nvSpPr>
          <p:cNvPr id="9" name="Content Placeholder 2"/>
          <p:cNvSpPr>
            <a:spLocks noGrp="1"/>
          </p:cNvSpPr>
          <p:nvPr>
            <p:ph idx="1"/>
          </p:nvPr>
        </p:nvSpPr>
        <p:spPr>
          <a:xfrm>
            <a:off x="533400" y="1676400"/>
            <a:ext cx="8077200" cy="4572000"/>
          </a:xfrm>
        </p:spPr>
        <p:txBody>
          <a:bodyPr/>
          <a:lstStyle/>
          <a:p>
            <a:r>
              <a:rPr lang="en-US" dirty="0" smtClean="0"/>
              <a:t>Libraries contain the </a:t>
            </a:r>
            <a:r>
              <a:rPr lang="en-US" dirty="0" smtClean="0"/>
              <a:t>some of the most </a:t>
            </a:r>
            <a:r>
              <a:rPr lang="en-US" dirty="0" smtClean="0"/>
              <a:t>useful </a:t>
            </a:r>
            <a:r>
              <a:rPr lang="en-US" dirty="0" smtClean="0"/>
              <a:t>classes to create </a:t>
            </a:r>
            <a:r>
              <a:rPr lang="en-US" dirty="0"/>
              <a:t>graphical user interface</a:t>
            </a:r>
            <a:r>
              <a:rPr lang="en-US" dirty="0" smtClean="0"/>
              <a:t> (GUI) objects</a:t>
            </a:r>
            <a:endParaRPr lang="en-US" dirty="0" smtClean="0"/>
          </a:p>
          <a:p>
            <a:r>
              <a:rPr lang="en-US" dirty="0" smtClean="0"/>
              <a:t>Exception-handling techniques are used to handle errors in object-oriented programs</a:t>
            </a:r>
          </a:p>
          <a:p>
            <a:r>
              <a:rPr lang="en-US" dirty="0" smtClean="0"/>
              <a:t>Object-oriented programming saves development time</a:t>
            </a:r>
          </a:p>
          <a:p>
            <a:r>
              <a:rPr lang="en-US" dirty="0" smtClean="0"/>
              <a:t>Efficiency </a:t>
            </a:r>
            <a:r>
              <a:rPr lang="en-US" dirty="0" smtClean="0"/>
              <a:t>is achieved </a:t>
            </a:r>
            <a:r>
              <a:rPr lang="en-US" dirty="0" smtClean="0"/>
              <a:t>through </a:t>
            </a:r>
            <a:r>
              <a:rPr lang="en-US" dirty="0"/>
              <a:t>b</a:t>
            </a:r>
            <a:r>
              <a:rPr lang="en-US" dirty="0" smtClean="0"/>
              <a:t>oth inheritance and polymorphism</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60233196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Farrell_PL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2358</Words>
  <Application>Microsoft Office PowerPoint</Application>
  <PresentationFormat>On-screen Show (4:3)</PresentationFormat>
  <Paragraphs>401</Paragraphs>
  <Slides>52</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Courier New</vt:lpstr>
      <vt:lpstr>Times New Roman</vt:lpstr>
      <vt:lpstr>1_Farrell_PLD</vt:lpstr>
      <vt:lpstr>Programming Logic and Design Ninth Edition</vt:lpstr>
      <vt:lpstr>Objectives</vt:lpstr>
      <vt:lpstr>Understanding Constructors</vt:lpstr>
      <vt:lpstr>Understanding Constructors (continued)</vt:lpstr>
      <vt:lpstr>Default Constructors</vt:lpstr>
      <vt:lpstr>Default Constructors (continued -1)</vt:lpstr>
      <vt:lpstr>Default Constructors (continued -2)</vt:lpstr>
      <vt:lpstr>Nondefault Constructors</vt:lpstr>
      <vt:lpstr>Nondefault Constructors (continued)</vt:lpstr>
      <vt:lpstr>Overloading Instance Methods and Constructors</vt:lpstr>
      <vt:lpstr>Overloading Instance Methods and Constructors (continued -1)</vt:lpstr>
      <vt:lpstr>Overloading Instance Methods and Constructors (continued -2)</vt:lpstr>
      <vt:lpstr>Understanding Destructors</vt:lpstr>
      <vt:lpstr>Understanding Destructors (continued -1)</vt:lpstr>
      <vt:lpstr>Understanding Destructors (continued -2)</vt:lpstr>
      <vt:lpstr>Understanding Composition</vt:lpstr>
      <vt:lpstr>Understanding Composition (continued)</vt:lpstr>
      <vt:lpstr>Understanding Inheritance</vt:lpstr>
      <vt:lpstr>Understanding Inheritance (continued -1)</vt:lpstr>
      <vt:lpstr>Understanding Inheritance (continued -2)</vt:lpstr>
      <vt:lpstr>Understanding Inheritance (continued -3)</vt:lpstr>
      <vt:lpstr>Understanding Inheritance (continued -4)</vt:lpstr>
      <vt:lpstr>Understanding Inheritance Terminology</vt:lpstr>
      <vt:lpstr>Understanding Inheritance Terminology (continued -1)</vt:lpstr>
      <vt:lpstr>Understanding Inheritance Terminology (continued -2)</vt:lpstr>
      <vt:lpstr>Understanding Inheritance Terminology (continued -3)</vt:lpstr>
      <vt:lpstr>Accessing Private Fields and Methods of a Parent Class</vt:lpstr>
      <vt:lpstr>Accessing Private Fields and  Methods of a Parent Class (continued -1)</vt:lpstr>
      <vt:lpstr>Accessing Private Fields and  Methods of a Parent Class (continued -2)</vt:lpstr>
      <vt:lpstr>Accessing Private Fields and  Methods of a Parent Class (continued -3)</vt:lpstr>
      <vt:lpstr>Accessing Private Fields and  Methods of a Parent Class (continued -4)</vt:lpstr>
      <vt:lpstr>Accessing Private Fields and  Methods of a Parent Class (continued -5)</vt:lpstr>
      <vt:lpstr>Accessing Private Fields and  Methods of a Parent Class (continued -6)</vt:lpstr>
      <vt:lpstr>Accessing Private Fields and  Methods of a Parent Class (continued -7)</vt:lpstr>
      <vt:lpstr>Overriding Parent Class Methods  in a Child Class</vt:lpstr>
      <vt:lpstr>Using Inheritance to Achieve Good Software Design</vt:lpstr>
      <vt:lpstr>An Example of Using Predefined Classes: Creating GUI Objects</vt:lpstr>
      <vt:lpstr>An Example of Using Predefined Classes: Creating GUI Objects (continued)</vt:lpstr>
      <vt:lpstr>Understanding Exception Handling</vt:lpstr>
      <vt:lpstr>Drawbacks to Traditional Error-Handling Techniques</vt:lpstr>
      <vt:lpstr>Drawbacks to Traditional Error-Handling Techniques (continued -1)</vt:lpstr>
      <vt:lpstr>Drawbacks to Traditional Error-Handling Techniques (continued -2)</vt:lpstr>
      <vt:lpstr>Drawbacks to Traditional Error-Handling Techniques (continued -3)</vt:lpstr>
      <vt:lpstr>The Object-Oriented Exception-Handling Model</vt:lpstr>
      <vt:lpstr>The Object-Oriented Exception-Handling Model (continued -1)</vt:lpstr>
      <vt:lpstr>The Object-Oriented Exception-Handling Model (continued -2)</vt:lpstr>
      <vt:lpstr>The Object-Oriented Exception-Handling Model (continued -3)</vt:lpstr>
      <vt:lpstr>The Object-Oriented Exception-Handling Model (continued -4)</vt:lpstr>
      <vt:lpstr>Using Built-in Exceptions and Creating Your Own Exceptions</vt:lpstr>
      <vt:lpstr>Reviewing the Advantages of Object-Oriented Programming</vt:lpstr>
      <vt:lpstr>Summary</vt:lpstr>
      <vt:lpstr>Summary (continued)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1006</cp:revision>
  <dcterms:created xsi:type="dcterms:W3CDTF">2002-09-27T23:29:22Z</dcterms:created>
  <dcterms:modified xsi:type="dcterms:W3CDTF">2016-11-28T18:19:39Z</dcterms:modified>
</cp:coreProperties>
</file>