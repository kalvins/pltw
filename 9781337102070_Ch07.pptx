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882" r:id="rId1"/>
  </p:sldMasterIdLst>
  <p:notesMasterIdLst>
    <p:notesMasterId r:id="rId52"/>
  </p:notesMasterIdLst>
  <p:handoutMasterIdLst>
    <p:handoutMasterId r:id="rId53"/>
  </p:handoutMasterIdLst>
  <p:sldIdLst>
    <p:sldId id="908" r:id="rId2"/>
    <p:sldId id="257" r:id="rId3"/>
    <p:sldId id="849" r:id="rId4"/>
    <p:sldId id="909" r:id="rId5"/>
    <p:sldId id="910" r:id="rId6"/>
    <p:sldId id="899" r:id="rId7"/>
    <p:sldId id="859" r:id="rId8"/>
    <p:sldId id="860" r:id="rId9"/>
    <p:sldId id="915" r:id="rId10"/>
    <p:sldId id="861" r:id="rId11"/>
    <p:sldId id="911" r:id="rId12"/>
    <p:sldId id="850" r:id="rId13"/>
    <p:sldId id="900" r:id="rId14"/>
    <p:sldId id="851" r:id="rId15"/>
    <p:sldId id="912" r:id="rId16"/>
    <p:sldId id="913" r:id="rId17"/>
    <p:sldId id="862" r:id="rId18"/>
    <p:sldId id="884" r:id="rId19"/>
    <p:sldId id="853" r:id="rId20"/>
    <p:sldId id="886" r:id="rId21"/>
    <p:sldId id="887" r:id="rId22"/>
    <p:sldId id="885" r:id="rId23"/>
    <p:sldId id="888" r:id="rId24"/>
    <p:sldId id="889" r:id="rId25"/>
    <p:sldId id="890" r:id="rId26"/>
    <p:sldId id="854" r:id="rId27"/>
    <p:sldId id="855" r:id="rId28"/>
    <p:sldId id="916" r:id="rId29"/>
    <p:sldId id="923" r:id="rId30"/>
    <p:sldId id="917" r:id="rId31"/>
    <p:sldId id="919" r:id="rId32"/>
    <p:sldId id="918" r:id="rId33"/>
    <p:sldId id="920" r:id="rId34"/>
    <p:sldId id="921" r:id="rId35"/>
    <p:sldId id="922" r:id="rId36"/>
    <p:sldId id="857" r:id="rId37"/>
    <p:sldId id="858" r:id="rId38"/>
    <p:sldId id="894" r:id="rId39"/>
    <p:sldId id="875" r:id="rId40"/>
    <p:sldId id="904" r:id="rId41"/>
    <p:sldId id="905" r:id="rId42"/>
    <p:sldId id="895" r:id="rId43"/>
    <p:sldId id="896" r:id="rId44"/>
    <p:sldId id="906" r:id="rId45"/>
    <p:sldId id="867" r:id="rId46"/>
    <p:sldId id="897" r:id="rId47"/>
    <p:sldId id="907" r:id="rId48"/>
    <p:sldId id="848" r:id="rId49"/>
    <p:sldId id="914" r:id="rId50"/>
    <p:sldId id="898" r:id="rId51"/>
  </p:sldIdLst>
  <p:sldSz cx="9144000" cy="6858000" type="screen4x3"/>
  <p:notesSz cx="6858000" cy="9144000"/>
  <p:defaultTextStyle>
    <a:defPPr>
      <a:defRPr lang="en-US"/>
    </a:defPPr>
    <a:lvl1pPr algn="l" rtl="0" fontAlgn="base">
      <a:spcBef>
        <a:spcPct val="0"/>
      </a:spcBef>
      <a:spcAft>
        <a:spcPct val="0"/>
      </a:spcAft>
      <a:defRPr sz="2000" kern="1200">
        <a:solidFill>
          <a:srgbClr val="FFFFFF"/>
        </a:solidFill>
        <a:latin typeface="Times New Roman" pitchFamily="18" charset="0"/>
        <a:ea typeface="+mn-ea"/>
        <a:cs typeface="Arial" pitchFamily="34" charset="0"/>
      </a:defRPr>
    </a:lvl1pPr>
    <a:lvl2pPr marL="457200" algn="l" rtl="0" fontAlgn="base">
      <a:spcBef>
        <a:spcPct val="0"/>
      </a:spcBef>
      <a:spcAft>
        <a:spcPct val="0"/>
      </a:spcAft>
      <a:defRPr sz="2000" kern="1200">
        <a:solidFill>
          <a:srgbClr val="FFFFFF"/>
        </a:solidFill>
        <a:latin typeface="Times New Roman" pitchFamily="18" charset="0"/>
        <a:ea typeface="+mn-ea"/>
        <a:cs typeface="Arial" pitchFamily="34" charset="0"/>
      </a:defRPr>
    </a:lvl2pPr>
    <a:lvl3pPr marL="914400" algn="l" rtl="0" fontAlgn="base">
      <a:spcBef>
        <a:spcPct val="0"/>
      </a:spcBef>
      <a:spcAft>
        <a:spcPct val="0"/>
      </a:spcAft>
      <a:defRPr sz="2000" kern="1200">
        <a:solidFill>
          <a:srgbClr val="FFFFFF"/>
        </a:solidFill>
        <a:latin typeface="Times New Roman" pitchFamily="18" charset="0"/>
        <a:ea typeface="+mn-ea"/>
        <a:cs typeface="Arial" pitchFamily="34" charset="0"/>
      </a:defRPr>
    </a:lvl3pPr>
    <a:lvl4pPr marL="1371600" algn="l" rtl="0" fontAlgn="base">
      <a:spcBef>
        <a:spcPct val="0"/>
      </a:spcBef>
      <a:spcAft>
        <a:spcPct val="0"/>
      </a:spcAft>
      <a:defRPr sz="2000" kern="1200">
        <a:solidFill>
          <a:srgbClr val="FFFFFF"/>
        </a:solidFill>
        <a:latin typeface="Times New Roman" pitchFamily="18" charset="0"/>
        <a:ea typeface="+mn-ea"/>
        <a:cs typeface="Arial" pitchFamily="34" charset="0"/>
      </a:defRPr>
    </a:lvl4pPr>
    <a:lvl5pPr marL="1828800" algn="l" rtl="0" fontAlgn="base">
      <a:spcBef>
        <a:spcPct val="0"/>
      </a:spcBef>
      <a:spcAft>
        <a:spcPct val="0"/>
      </a:spcAft>
      <a:defRPr sz="2000" kern="1200">
        <a:solidFill>
          <a:srgbClr val="FFFFFF"/>
        </a:solidFill>
        <a:latin typeface="Times New Roman" pitchFamily="18" charset="0"/>
        <a:ea typeface="+mn-ea"/>
        <a:cs typeface="Arial" pitchFamily="34" charset="0"/>
      </a:defRPr>
    </a:lvl5pPr>
    <a:lvl6pPr marL="2286000" algn="l" defTabSz="914400" rtl="0" eaLnBrk="1" latinLnBrk="0" hangingPunct="1">
      <a:defRPr sz="2000" kern="1200">
        <a:solidFill>
          <a:srgbClr val="FFFFFF"/>
        </a:solidFill>
        <a:latin typeface="Times New Roman" pitchFamily="18" charset="0"/>
        <a:ea typeface="+mn-ea"/>
        <a:cs typeface="Arial" pitchFamily="34" charset="0"/>
      </a:defRPr>
    </a:lvl6pPr>
    <a:lvl7pPr marL="2743200" algn="l" defTabSz="914400" rtl="0" eaLnBrk="1" latinLnBrk="0" hangingPunct="1">
      <a:defRPr sz="2000" kern="1200">
        <a:solidFill>
          <a:srgbClr val="FFFFFF"/>
        </a:solidFill>
        <a:latin typeface="Times New Roman" pitchFamily="18" charset="0"/>
        <a:ea typeface="+mn-ea"/>
        <a:cs typeface="Arial" pitchFamily="34" charset="0"/>
      </a:defRPr>
    </a:lvl7pPr>
    <a:lvl8pPr marL="3200400" algn="l" defTabSz="914400" rtl="0" eaLnBrk="1" latinLnBrk="0" hangingPunct="1">
      <a:defRPr sz="2000" kern="1200">
        <a:solidFill>
          <a:srgbClr val="FFFFFF"/>
        </a:solidFill>
        <a:latin typeface="Times New Roman" pitchFamily="18" charset="0"/>
        <a:ea typeface="+mn-ea"/>
        <a:cs typeface="Arial" pitchFamily="34" charset="0"/>
      </a:defRPr>
    </a:lvl8pPr>
    <a:lvl9pPr marL="3657600" algn="l" defTabSz="914400" rtl="0" eaLnBrk="1" latinLnBrk="0" hangingPunct="1">
      <a:defRPr sz="2000" kern="1200">
        <a:solidFill>
          <a:srgbClr val="FFFFFF"/>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00"/>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1" autoAdjust="0"/>
    <p:restoredTop sz="94485" autoAdjust="0"/>
  </p:normalViewPr>
  <p:slideViewPr>
    <p:cSldViewPr>
      <p:cViewPr varScale="1">
        <p:scale>
          <a:sx n="87" d="100"/>
          <a:sy n="87" d="100"/>
        </p:scale>
        <p:origin x="13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6BA85960-FF8D-4966-AFCE-76588880AEA8}" type="slidenum">
              <a:rPr lang="en-US"/>
              <a:pPr>
                <a:defRPr/>
              </a:pPr>
              <a:t>‹#›</a:t>
            </a:fld>
            <a:endParaRPr lang="en-US" dirty="0"/>
          </a:p>
        </p:txBody>
      </p:sp>
    </p:spTree>
    <p:extLst>
      <p:ext uri="{BB962C8B-B14F-4D97-AF65-F5344CB8AC3E}">
        <p14:creationId xmlns:p14="http://schemas.microsoft.com/office/powerpoint/2010/main" val="3032930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E117145D-B78F-4F40-B0E2-55542D9A63C6}" type="slidenum">
              <a:rPr lang="en-US"/>
              <a:pPr>
                <a:defRPr/>
              </a:pPr>
              <a:t>‹#›</a:t>
            </a:fld>
            <a:endParaRPr lang="en-US" dirty="0"/>
          </a:p>
        </p:txBody>
      </p:sp>
    </p:spTree>
    <p:extLst>
      <p:ext uri="{BB962C8B-B14F-4D97-AF65-F5344CB8AC3E}">
        <p14:creationId xmlns:p14="http://schemas.microsoft.com/office/powerpoint/2010/main" val="1060000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2</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3916325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3</a:t>
            </a:fld>
            <a:endParaRPr lang="en-US" dirty="0"/>
          </a:p>
        </p:txBody>
      </p:sp>
    </p:spTree>
    <p:extLst>
      <p:ext uri="{BB962C8B-B14F-4D97-AF65-F5344CB8AC3E}">
        <p14:creationId xmlns:p14="http://schemas.microsoft.com/office/powerpoint/2010/main" val="2415531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4</a:t>
            </a:fld>
            <a:endParaRPr lang="en-US" dirty="0"/>
          </a:p>
        </p:txBody>
      </p:sp>
    </p:spTree>
    <p:extLst>
      <p:ext uri="{BB962C8B-B14F-4D97-AF65-F5344CB8AC3E}">
        <p14:creationId xmlns:p14="http://schemas.microsoft.com/office/powerpoint/2010/main" val="2465522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5</a:t>
            </a:fld>
            <a:endParaRPr lang="en-US" dirty="0"/>
          </a:p>
        </p:txBody>
      </p:sp>
    </p:spTree>
    <p:extLst>
      <p:ext uri="{BB962C8B-B14F-4D97-AF65-F5344CB8AC3E}">
        <p14:creationId xmlns:p14="http://schemas.microsoft.com/office/powerpoint/2010/main" val="36728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6</a:t>
            </a:fld>
            <a:endParaRPr lang="en-US" dirty="0"/>
          </a:p>
        </p:txBody>
      </p:sp>
    </p:spTree>
    <p:extLst>
      <p:ext uri="{BB962C8B-B14F-4D97-AF65-F5344CB8AC3E}">
        <p14:creationId xmlns:p14="http://schemas.microsoft.com/office/powerpoint/2010/main" val="395729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7</a:t>
            </a:fld>
            <a:endParaRPr lang="en-US" dirty="0"/>
          </a:p>
        </p:txBody>
      </p:sp>
    </p:spTree>
    <p:extLst>
      <p:ext uri="{BB962C8B-B14F-4D97-AF65-F5344CB8AC3E}">
        <p14:creationId xmlns:p14="http://schemas.microsoft.com/office/powerpoint/2010/main" val="4276569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0DD6110-8DEF-4536-A8A8-A7351812BA08}" type="slidenum">
              <a:rPr lang="en-US" smtClean="0"/>
              <a:pPr>
                <a:defRPr/>
              </a:pPr>
              <a:t>8</a:t>
            </a:fld>
            <a:endParaRPr lang="en-US" dirty="0"/>
          </a:p>
        </p:txBody>
      </p:sp>
    </p:spTree>
    <p:extLst>
      <p:ext uri="{BB962C8B-B14F-4D97-AF65-F5344CB8AC3E}">
        <p14:creationId xmlns:p14="http://schemas.microsoft.com/office/powerpoint/2010/main" val="1552390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0DD6110-8DEF-4536-A8A8-A7351812BA08}" type="slidenum">
              <a:rPr lang="en-US" smtClean="0"/>
              <a:pPr>
                <a:defRPr/>
              </a:pPr>
              <a:t>9</a:t>
            </a:fld>
            <a:endParaRPr lang="en-US" dirty="0"/>
          </a:p>
        </p:txBody>
      </p:sp>
    </p:spTree>
    <p:extLst>
      <p:ext uri="{BB962C8B-B14F-4D97-AF65-F5344CB8AC3E}">
        <p14:creationId xmlns:p14="http://schemas.microsoft.com/office/powerpoint/2010/main" val="2737388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3ECACEA-3A71-4EFB-BC72-F34E4F8071A8}" type="slidenum">
              <a:rPr lang="en-US" smtClean="0"/>
              <a:pPr>
                <a:defRPr/>
              </a:pPr>
              <a:t>10</a:t>
            </a:fld>
            <a:endParaRPr lang="en-US" dirty="0"/>
          </a:p>
        </p:txBody>
      </p:sp>
    </p:spTree>
    <p:extLst>
      <p:ext uri="{BB962C8B-B14F-4D97-AF65-F5344CB8AC3E}">
        <p14:creationId xmlns:p14="http://schemas.microsoft.com/office/powerpoint/2010/main" val="1819513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3ECACEA-3A71-4EFB-BC72-F34E4F8071A8}" type="slidenum">
              <a:rPr lang="en-US" smtClean="0"/>
              <a:pPr>
                <a:defRPr/>
              </a:pPr>
              <a:t>11</a:t>
            </a:fld>
            <a:endParaRPr lang="en-US" dirty="0"/>
          </a:p>
        </p:txBody>
      </p:sp>
    </p:spTree>
    <p:extLst>
      <p:ext uri="{BB962C8B-B14F-4D97-AF65-F5344CB8AC3E}">
        <p14:creationId xmlns:p14="http://schemas.microsoft.com/office/powerpoint/2010/main" val="4183646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CB102A0A-9B1B-495B-A692-1695563020A7}" type="slidenum">
              <a:rPr lang="en-US" smtClean="0"/>
              <a:pPr>
                <a:defRPr/>
              </a:pPr>
              <a:t>12</a:t>
            </a:fld>
            <a:endParaRPr lang="en-US" dirty="0"/>
          </a:p>
        </p:txBody>
      </p:sp>
    </p:spTree>
    <p:extLst>
      <p:ext uri="{BB962C8B-B14F-4D97-AF65-F5344CB8AC3E}">
        <p14:creationId xmlns:p14="http://schemas.microsoft.com/office/powerpoint/2010/main" val="3618949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CB102A0A-9B1B-495B-A692-1695563020A7}" type="slidenum">
              <a:rPr lang="en-US" smtClean="0"/>
              <a:pPr>
                <a:defRPr/>
              </a:pPr>
              <a:t>13</a:t>
            </a:fld>
            <a:endParaRPr lang="en-US" dirty="0"/>
          </a:p>
        </p:txBody>
      </p:sp>
    </p:spTree>
    <p:extLst>
      <p:ext uri="{BB962C8B-B14F-4D97-AF65-F5344CB8AC3E}">
        <p14:creationId xmlns:p14="http://schemas.microsoft.com/office/powerpoint/2010/main" val="4074513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14</a:t>
            </a:fld>
            <a:endParaRPr lang="en-US" dirty="0"/>
          </a:p>
        </p:txBody>
      </p:sp>
    </p:spTree>
    <p:extLst>
      <p:ext uri="{BB962C8B-B14F-4D97-AF65-F5344CB8AC3E}">
        <p14:creationId xmlns:p14="http://schemas.microsoft.com/office/powerpoint/2010/main" val="1782879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15</a:t>
            </a:fld>
            <a:endParaRPr lang="en-US" dirty="0"/>
          </a:p>
        </p:txBody>
      </p:sp>
    </p:spTree>
    <p:extLst>
      <p:ext uri="{BB962C8B-B14F-4D97-AF65-F5344CB8AC3E}">
        <p14:creationId xmlns:p14="http://schemas.microsoft.com/office/powerpoint/2010/main" val="3434137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16</a:t>
            </a:fld>
            <a:endParaRPr lang="en-US" dirty="0"/>
          </a:p>
        </p:txBody>
      </p:sp>
    </p:spTree>
    <p:extLst>
      <p:ext uri="{BB962C8B-B14F-4D97-AF65-F5344CB8AC3E}">
        <p14:creationId xmlns:p14="http://schemas.microsoft.com/office/powerpoint/2010/main" val="451234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17</a:t>
            </a:fld>
            <a:endParaRPr lang="en-US" dirty="0"/>
          </a:p>
        </p:txBody>
      </p:sp>
    </p:spTree>
    <p:extLst>
      <p:ext uri="{BB962C8B-B14F-4D97-AF65-F5344CB8AC3E}">
        <p14:creationId xmlns:p14="http://schemas.microsoft.com/office/powerpoint/2010/main" val="376830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18</a:t>
            </a:fld>
            <a:endParaRPr lang="en-US" dirty="0"/>
          </a:p>
        </p:txBody>
      </p:sp>
    </p:spTree>
    <p:extLst>
      <p:ext uri="{BB962C8B-B14F-4D97-AF65-F5344CB8AC3E}">
        <p14:creationId xmlns:p14="http://schemas.microsoft.com/office/powerpoint/2010/main" val="1980555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19</a:t>
            </a:fld>
            <a:endParaRPr lang="en-US" dirty="0"/>
          </a:p>
        </p:txBody>
      </p:sp>
    </p:spTree>
    <p:extLst>
      <p:ext uri="{BB962C8B-B14F-4D97-AF65-F5344CB8AC3E}">
        <p14:creationId xmlns:p14="http://schemas.microsoft.com/office/powerpoint/2010/main" val="1460604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20</a:t>
            </a:fld>
            <a:endParaRPr lang="en-US" dirty="0"/>
          </a:p>
        </p:txBody>
      </p:sp>
    </p:spTree>
    <p:extLst>
      <p:ext uri="{BB962C8B-B14F-4D97-AF65-F5344CB8AC3E}">
        <p14:creationId xmlns:p14="http://schemas.microsoft.com/office/powerpoint/2010/main" val="2389684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21</a:t>
            </a:fld>
            <a:endParaRPr lang="en-US" dirty="0"/>
          </a:p>
        </p:txBody>
      </p:sp>
    </p:spTree>
    <p:extLst>
      <p:ext uri="{BB962C8B-B14F-4D97-AF65-F5344CB8AC3E}">
        <p14:creationId xmlns:p14="http://schemas.microsoft.com/office/powerpoint/2010/main" val="1384889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22</a:t>
            </a:fld>
            <a:endParaRPr lang="en-US" dirty="0"/>
          </a:p>
        </p:txBody>
      </p:sp>
    </p:spTree>
    <p:extLst>
      <p:ext uri="{BB962C8B-B14F-4D97-AF65-F5344CB8AC3E}">
        <p14:creationId xmlns:p14="http://schemas.microsoft.com/office/powerpoint/2010/main" val="2736394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23</a:t>
            </a:fld>
            <a:endParaRPr lang="en-US" dirty="0"/>
          </a:p>
        </p:txBody>
      </p:sp>
    </p:spTree>
    <p:extLst>
      <p:ext uri="{BB962C8B-B14F-4D97-AF65-F5344CB8AC3E}">
        <p14:creationId xmlns:p14="http://schemas.microsoft.com/office/powerpoint/2010/main" val="1509518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24</a:t>
            </a:fld>
            <a:endParaRPr lang="en-US" dirty="0"/>
          </a:p>
        </p:txBody>
      </p:sp>
    </p:spTree>
    <p:extLst>
      <p:ext uri="{BB962C8B-B14F-4D97-AF65-F5344CB8AC3E}">
        <p14:creationId xmlns:p14="http://schemas.microsoft.com/office/powerpoint/2010/main" val="2275387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25</a:t>
            </a:fld>
            <a:endParaRPr lang="en-US" dirty="0"/>
          </a:p>
        </p:txBody>
      </p:sp>
    </p:spTree>
    <p:extLst>
      <p:ext uri="{BB962C8B-B14F-4D97-AF65-F5344CB8AC3E}">
        <p14:creationId xmlns:p14="http://schemas.microsoft.com/office/powerpoint/2010/main" val="1668636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8FD64B0-96AF-4CB5-992A-45FE8538DD2A}" type="slidenum">
              <a:rPr lang="en-US" smtClean="0"/>
              <a:pPr>
                <a:defRPr/>
              </a:pPr>
              <a:t>26</a:t>
            </a:fld>
            <a:endParaRPr lang="en-US" dirty="0"/>
          </a:p>
        </p:txBody>
      </p:sp>
    </p:spTree>
    <p:extLst>
      <p:ext uri="{BB962C8B-B14F-4D97-AF65-F5344CB8AC3E}">
        <p14:creationId xmlns:p14="http://schemas.microsoft.com/office/powerpoint/2010/main" val="839382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27</a:t>
            </a:fld>
            <a:endParaRPr lang="en-US" dirty="0"/>
          </a:p>
        </p:txBody>
      </p:sp>
    </p:spTree>
    <p:extLst>
      <p:ext uri="{BB962C8B-B14F-4D97-AF65-F5344CB8AC3E}">
        <p14:creationId xmlns:p14="http://schemas.microsoft.com/office/powerpoint/2010/main" val="21023238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28</a:t>
            </a:fld>
            <a:endParaRPr lang="en-US" dirty="0"/>
          </a:p>
        </p:txBody>
      </p:sp>
    </p:spTree>
    <p:extLst>
      <p:ext uri="{BB962C8B-B14F-4D97-AF65-F5344CB8AC3E}">
        <p14:creationId xmlns:p14="http://schemas.microsoft.com/office/powerpoint/2010/main" val="3042484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29</a:t>
            </a:fld>
            <a:endParaRPr lang="en-US" dirty="0"/>
          </a:p>
        </p:txBody>
      </p:sp>
    </p:spTree>
    <p:extLst>
      <p:ext uri="{BB962C8B-B14F-4D97-AF65-F5344CB8AC3E}">
        <p14:creationId xmlns:p14="http://schemas.microsoft.com/office/powerpoint/2010/main" val="2508285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30</a:t>
            </a:fld>
            <a:endParaRPr lang="en-US" dirty="0"/>
          </a:p>
        </p:txBody>
      </p:sp>
    </p:spTree>
    <p:extLst>
      <p:ext uri="{BB962C8B-B14F-4D97-AF65-F5344CB8AC3E}">
        <p14:creationId xmlns:p14="http://schemas.microsoft.com/office/powerpoint/2010/main" val="1577007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31</a:t>
            </a:fld>
            <a:endParaRPr lang="en-US" dirty="0"/>
          </a:p>
        </p:txBody>
      </p:sp>
    </p:spTree>
    <p:extLst>
      <p:ext uri="{BB962C8B-B14F-4D97-AF65-F5344CB8AC3E}">
        <p14:creationId xmlns:p14="http://schemas.microsoft.com/office/powerpoint/2010/main" val="9801111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32</a:t>
            </a:fld>
            <a:endParaRPr lang="en-US" dirty="0"/>
          </a:p>
        </p:txBody>
      </p:sp>
    </p:spTree>
    <p:extLst>
      <p:ext uri="{BB962C8B-B14F-4D97-AF65-F5344CB8AC3E}">
        <p14:creationId xmlns:p14="http://schemas.microsoft.com/office/powerpoint/2010/main" val="9323092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33</a:t>
            </a:fld>
            <a:endParaRPr lang="en-US" dirty="0"/>
          </a:p>
        </p:txBody>
      </p:sp>
    </p:spTree>
    <p:extLst>
      <p:ext uri="{BB962C8B-B14F-4D97-AF65-F5344CB8AC3E}">
        <p14:creationId xmlns:p14="http://schemas.microsoft.com/office/powerpoint/2010/main" val="10472677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34</a:t>
            </a:fld>
            <a:endParaRPr lang="en-US" dirty="0"/>
          </a:p>
        </p:txBody>
      </p:sp>
    </p:spTree>
    <p:extLst>
      <p:ext uri="{BB962C8B-B14F-4D97-AF65-F5344CB8AC3E}">
        <p14:creationId xmlns:p14="http://schemas.microsoft.com/office/powerpoint/2010/main" val="33658086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A184AD86-3E7B-41A0-98A6-192380ADB5F9}" type="slidenum">
              <a:rPr lang="en-US" smtClean="0"/>
              <a:pPr>
                <a:defRPr/>
              </a:pPr>
              <a:t>35</a:t>
            </a:fld>
            <a:endParaRPr lang="en-US" dirty="0"/>
          </a:p>
        </p:txBody>
      </p:sp>
    </p:spTree>
    <p:extLst>
      <p:ext uri="{BB962C8B-B14F-4D97-AF65-F5344CB8AC3E}">
        <p14:creationId xmlns:p14="http://schemas.microsoft.com/office/powerpoint/2010/main" val="11398045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D06A2AE2-2D03-47C4-BF09-3CC560EBA9C3}" type="slidenum">
              <a:rPr lang="en-US" smtClean="0"/>
              <a:pPr>
                <a:defRPr/>
              </a:pPr>
              <a:t>36</a:t>
            </a:fld>
            <a:endParaRPr lang="en-US" dirty="0"/>
          </a:p>
        </p:txBody>
      </p:sp>
    </p:spTree>
    <p:extLst>
      <p:ext uri="{BB962C8B-B14F-4D97-AF65-F5344CB8AC3E}">
        <p14:creationId xmlns:p14="http://schemas.microsoft.com/office/powerpoint/2010/main" val="32895039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561D4328-9C42-4AE9-BB34-921CE164215A}" type="slidenum">
              <a:rPr lang="en-US" smtClean="0"/>
              <a:pPr>
                <a:defRPr/>
              </a:pPr>
              <a:t>37</a:t>
            </a:fld>
            <a:endParaRPr lang="en-US" dirty="0"/>
          </a:p>
        </p:txBody>
      </p:sp>
    </p:spTree>
    <p:extLst>
      <p:ext uri="{BB962C8B-B14F-4D97-AF65-F5344CB8AC3E}">
        <p14:creationId xmlns:p14="http://schemas.microsoft.com/office/powerpoint/2010/main" val="1451697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561D4328-9C42-4AE9-BB34-921CE164215A}" type="slidenum">
              <a:rPr lang="en-US" smtClean="0"/>
              <a:pPr>
                <a:defRPr/>
              </a:pPr>
              <a:t>38</a:t>
            </a:fld>
            <a:endParaRPr lang="en-US" dirty="0"/>
          </a:p>
        </p:txBody>
      </p:sp>
    </p:spTree>
    <p:extLst>
      <p:ext uri="{BB962C8B-B14F-4D97-AF65-F5344CB8AC3E}">
        <p14:creationId xmlns:p14="http://schemas.microsoft.com/office/powerpoint/2010/main" val="959402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8FD42653-4CAB-4810-AD55-8E4FD5452DD4}" type="slidenum">
              <a:rPr lang="en-US" smtClean="0"/>
              <a:pPr>
                <a:defRPr/>
              </a:pPr>
              <a:t>39</a:t>
            </a:fld>
            <a:endParaRPr lang="en-US" dirty="0"/>
          </a:p>
        </p:txBody>
      </p:sp>
    </p:spTree>
    <p:extLst>
      <p:ext uri="{BB962C8B-B14F-4D97-AF65-F5344CB8AC3E}">
        <p14:creationId xmlns:p14="http://schemas.microsoft.com/office/powerpoint/2010/main" val="33086140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8FD42653-4CAB-4810-AD55-8E4FD5452DD4}" type="slidenum">
              <a:rPr lang="en-US" smtClean="0"/>
              <a:pPr>
                <a:defRPr/>
              </a:pPr>
              <a:t>40</a:t>
            </a:fld>
            <a:endParaRPr lang="en-US" dirty="0"/>
          </a:p>
        </p:txBody>
      </p:sp>
    </p:spTree>
    <p:extLst>
      <p:ext uri="{BB962C8B-B14F-4D97-AF65-F5344CB8AC3E}">
        <p14:creationId xmlns:p14="http://schemas.microsoft.com/office/powerpoint/2010/main" val="40292033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8FD42653-4CAB-4810-AD55-8E4FD5452DD4}" type="slidenum">
              <a:rPr lang="en-US" smtClean="0"/>
              <a:pPr>
                <a:defRPr/>
              </a:pPr>
              <a:t>41</a:t>
            </a:fld>
            <a:endParaRPr lang="en-US" dirty="0"/>
          </a:p>
        </p:txBody>
      </p:sp>
    </p:spTree>
    <p:extLst>
      <p:ext uri="{BB962C8B-B14F-4D97-AF65-F5344CB8AC3E}">
        <p14:creationId xmlns:p14="http://schemas.microsoft.com/office/powerpoint/2010/main" val="591937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8FD42653-4CAB-4810-AD55-8E4FD5452DD4}" type="slidenum">
              <a:rPr lang="en-US" smtClean="0"/>
              <a:pPr>
                <a:defRPr/>
              </a:pPr>
              <a:t>42</a:t>
            </a:fld>
            <a:endParaRPr lang="en-US" dirty="0"/>
          </a:p>
        </p:txBody>
      </p:sp>
    </p:spTree>
    <p:extLst>
      <p:ext uri="{BB962C8B-B14F-4D97-AF65-F5344CB8AC3E}">
        <p14:creationId xmlns:p14="http://schemas.microsoft.com/office/powerpoint/2010/main" val="4190862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561D4328-9C42-4AE9-BB34-921CE164215A}" type="slidenum">
              <a:rPr lang="en-US" smtClean="0"/>
              <a:pPr>
                <a:defRPr/>
              </a:pPr>
              <a:t>43</a:t>
            </a:fld>
            <a:endParaRPr lang="en-US" dirty="0"/>
          </a:p>
        </p:txBody>
      </p:sp>
    </p:spTree>
    <p:extLst>
      <p:ext uri="{BB962C8B-B14F-4D97-AF65-F5344CB8AC3E}">
        <p14:creationId xmlns:p14="http://schemas.microsoft.com/office/powerpoint/2010/main" val="24934292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561D4328-9C42-4AE9-BB34-921CE164215A}" type="slidenum">
              <a:rPr lang="en-US" smtClean="0"/>
              <a:pPr>
                <a:defRPr/>
              </a:pPr>
              <a:t>44</a:t>
            </a:fld>
            <a:endParaRPr lang="en-US" dirty="0"/>
          </a:p>
        </p:txBody>
      </p:sp>
    </p:spTree>
    <p:extLst>
      <p:ext uri="{BB962C8B-B14F-4D97-AF65-F5344CB8AC3E}">
        <p14:creationId xmlns:p14="http://schemas.microsoft.com/office/powerpoint/2010/main" val="37266474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C28029B6-3449-4690-BA2E-01D3BBDEFDD3}" type="slidenum">
              <a:rPr lang="en-US" smtClean="0"/>
              <a:pPr>
                <a:defRPr/>
              </a:pPr>
              <a:t>45</a:t>
            </a:fld>
            <a:endParaRPr lang="en-US" dirty="0"/>
          </a:p>
        </p:txBody>
      </p:sp>
    </p:spTree>
    <p:extLst>
      <p:ext uri="{BB962C8B-B14F-4D97-AF65-F5344CB8AC3E}">
        <p14:creationId xmlns:p14="http://schemas.microsoft.com/office/powerpoint/2010/main" val="27303399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C28029B6-3449-4690-BA2E-01D3BBDEFDD3}" type="slidenum">
              <a:rPr lang="en-US" smtClean="0"/>
              <a:pPr>
                <a:defRPr/>
              </a:pPr>
              <a:t>46</a:t>
            </a:fld>
            <a:endParaRPr lang="en-US" dirty="0"/>
          </a:p>
        </p:txBody>
      </p:sp>
    </p:spTree>
    <p:extLst>
      <p:ext uri="{BB962C8B-B14F-4D97-AF65-F5344CB8AC3E}">
        <p14:creationId xmlns:p14="http://schemas.microsoft.com/office/powerpoint/2010/main" val="34587868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C28029B6-3449-4690-BA2E-01D3BBDEFDD3}" type="slidenum">
              <a:rPr lang="en-US" smtClean="0"/>
              <a:pPr>
                <a:defRPr/>
              </a:pPr>
              <a:t>47</a:t>
            </a:fld>
            <a:endParaRPr lang="en-US" dirty="0"/>
          </a:p>
        </p:txBody>
      </p:sp>
    </p:spTree>
    <p:extLst>
      <p:ext uri="{BB962C8B-B14F-4D97-AF65-F5344CB8AC3E}">
        <p14:creationId xmlns:p14="http://schemas.microsoft.com/office/powerpoint/2010/main" val="30517263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48</a:t>
            </a:fld>
            <a:endParaRPr lang="en-US" dirty="0"/>
          </a:p>
        </p:txBody>
      </p:sp>
    </p:spTree>
    <p:extLst>
      <p:ext uri="{BB962C8B-B14F-4D97-AF65-F5344CB8AC3E}">
        <p14:creationId xmlns:p14="http://schemas.microsoft.com/office/powerpoint/2010/main" val="39102479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49</a:t>
            </a:fld>
            <a:endParaRPr lang="en-US" dirty="0"/>
          </a:p>
        </p:txBody>
      </p:sp>
    </p:spTree>
    <p:extLst>
      <p:ext uri="{BB962C8B-B14F-4D97-AF65-F5344CB8AC3E}">
        <p14:creationId xmlns:p14="http://schemas.microsoft.com/office/powerpoint/2010/main" val="14095196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50</a:t>
            </a:fld>
            <a:endParaRPr lang="en-US" dirty="0"/>
          </a:p>
        </p:txBody>
      </p:sp>
    </p:spTree>
    <p:extLst>
      <p:ext uri="{BB962C8B-B14F-4D97-AF65-F5344CB8AC3E}">
        <p14:creationId xmlns:p14="http://schemas.microsoft.com/office/powerpoint/2010/main" val="25064155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30163"/>
            <a:ext cx="9144000" cy="2906712"/>
          </a:xfrm>
          <a:prstGeom prst="rect">
            <a:avLst/>
          </a:prstGeom>
          <a:noFill/>
          <a:ln w="9525">
            <a:noFill/>
            <a:miter lim="800000"/>
            <a:headEnd/>
            <a:tailEnd/>
          </a:ln>
        </p:spPr>
      </p:pic>
      <p:sp>
        <p:nvSpPr>
          <p:cNvPr id="2" name="Title 1"/>
          <p:cNvSpPr>
            <a:spLocks noGrp="1"/>
          </p:cNvSpPr>
          <p:nvPr>
            <p:ph type="ctrTitle"/>
          </p:nvPr>
        </p:nvSpPr>
        <p:spPr>
          <a:xfrm>
            <a:off x="685800" y="2968625"/>
            <a:ext cx="7772400" cy="1470025"/>
          </a:xfrm>
        </p:spPr>
        <p:txBody>
          <a:bodyPr/>
          <a:lstStyle>
            <a:lvl1pPr>
              <a:defRPr>
                <a:solidFill>
                  <a:schemeClr val="tx2">
                    <a:lumMod val="60000"/>
                    <a:lumOff val="4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4724400"/>
            <a:ext cx="6400800"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3F00AF05-15F3-48AB-A909-437515DB97CC}" type="slidenum">
              <a:rPr lang="en-US"/>
              <a:pPr>
                <a:defRPr/>
              </a:pPr>
              <a:t>‹#›</a:t>
            </a:fld>
            <a:endParaRPr lang="en-US" dirty="0"/>
          </a:p>
        </p:txBody>
      </p:sp>
      <p:sp>
        <p:nvSpPr>
          <p:cNvPr id="5" name="Footer Placeholder 10"/>
          <p:cNvSpPr>
            <a:spLocks noGrp="1"/>
          </p:cNvSpPr>
          <p:nvPr>
            <p:ph type="ftr" sz="quarter" idx="11"/>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304D9CCC-5717-4F7A-8350-CCDF597FD56C}"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7381D191-2F63-47D7-B430-7050E83CCD6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8" name="Slide Number Placeholder 10"/>
          <p:cNvSpPr>
            <a:spLocks noGrp="1"/>
          </p:cNvSpPr>
          <p:nvPr>
            <p:ph type="sldNum" sz="quarter" idx="11"/>
          </p:nvPr>
        </p:nvSpPr>
        <p:spPr/>
        <p:txBody>
          <a:bodyPr/>
          <a:lstStyle>
            <a:lvl1pPr>
              <a:defRPr/>
            </a:lvl1pPr>
          </a:lstStyle>
          <a:p>
            <a:pPr>
              <a:defRPr/>
            </a:pPr>
            <a:fld id="{B14B6C1F-85BA-43D0-8199-249FC72844AE}" type="slidenum">
              <a:rPr lang="en-US"/>
              <a:pPr>
                <a:defRPr/>
              </a:pPr>
              <a:t>‹#›</a:t>
            </a:fld>
            <a:endParaRPr lang="en-US" dirty="0"/>
          </a:p>
        </p:txBody>
      </p:sp>
      <p:sp>
        <p:nvSpPr>
          <p:cNvPr id="9" name="Footer Placeholder 11"/>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4" name="Slide Number Placeholder 6"/>
          <p:cNvSpPr>
            <a:spLocks noGrp="1"/>
          </p:cNvSpPr>
          <p:nvPr>
            <p:ph type="sldNum" sz="quarter" idx="11"/>
          </p:nvPr>
        </p:nvSpPr>
        <p:spPr/>
        <p:txBody>
          <a:bodyPr/>
          <a:lstStyle>
            <a:lvl1pPr>
              <a:defRPr/>
            </a:lvl1pPr>
          </a:lstStyle>
          <a:p>
            <a:pPr>
              <a:defRPr/>
            </a:pPr>
            <a:fld id="{56554F68-CA65-421A-9FB3-B6B76451E6FA}" type="slidenum">
              <a:rPr lang="en-US"/>
              <a:pPr>
                <a:defRPr/>
              </a:pPr>
              <a:t>‹#›</a:t>
            </a:fld>
            <a:endParaRPr lang="en-US" dirty="0"/>
          </a:p>
        </p:txBody>
      </p:sp>
      <p:sp>
        <p:nvSpPr>
          <p:cNvPr id="5" name="Footer Placeholder 7"/>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3" name="Slide Number Placeholder 5"/>
          <p:cNvSpPr>
            <a:spLocks noGrp="1"/>
          </p:cNvSpPr>
          <p:nvPr>
            <p:ph type="sldNum" sz="quarter" idx="11"/>
          </p:nvPr>
        </p:nvSpPr>
        <p:spPr/>
        <p:txBody>
          <a:bodyPr/>
          <a:lstStyle>
            <a:lvl1pPr>
              <a:defRPr/>
            </a:lvl1pPr>
          </a:lstStyle>
          <a:p>
            <a:pPr>
              <a:defRPr/>
            </a:pPr>
            <a:fld id="{E2A9A62B-65AC-4837-8A2D-56C9A4CD6349}" type="slidenum">
              <a:rPr lang="en-US"/>
              <a:pPr>
                <a:defRPr/>
              </a:pPr>
              <a:t>‹#›</a:t>
            </a:fld>
            <a:endParaRPr lang="en-US" dirty="0"/>
          </a:p>
        </p:txBody>
      </p:sp>
      <p:sp>
        <p:nvSpPr>
          <p:cNvPr id="4" name="Footer Placeholder 6"/>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A10BA6C7-BA7F-48F1-B3AE-EF81C61B39D1}"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9CEF07C1-47FC-4251-AEF7-899AC023328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7A40A4A9-46CC-49A6-8980-AEC2300E98BA}"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5CAA3C1D-55C6-40AA-B1E0-05265743EB45}"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8" descr="DECOLORED2.jpg"/>
          <p:cNvPicPr>
            <a:picLocks noChangeAspect="1"/>
          </p:cNvPicPr>
          <p:nvPr userDrawn="1"/>
        </p:nvPicPr>
        <p:blipFill>
          <a:blip r:embed="rId13" cstate="print"/>
          <a:srcRect/>
          <a:stretch>
            <a:fillRect/>
          </a:stretch>
        </p:blipFill>
        <p:spPr bwMode="auto">
          <a:xfrm>
            <a:off x="0" y="0"/>
            <a:ext cx="9144000" cy="1600200"/>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accent6">
                    <a:lumMod val="75000"/>
                  </a:schemeClr>
                </a:solidFill>
                <a:latin typeface="+mj-lt"/>
              </a:defRPr>
            </a:lvl1pPr>
          </a:lstStyle>
          <a:p>
            <a:pPr>
              <a:defRPr/>
            </a:pPr>
            <a:fld id="{91DB0802-8C73-4FE0-B249-A6FB9C5E4C8C}" type="slidenum">
              <a:rPr lang="en-US"/>
              <a:pPr>
                <a:defRPr/>
              </a:pPr>
              <a:t>‹#›</a:t>
            </a:fld>
            <a:endParaRPr lang="en-US" dirty="0"/>
          </a:p>
        </p:txBody>
      </p:sp>
      <p:sp>
        <p:nvSpPr>
          <p:cNvPr id="7" name="Footer Placeholder 6"/>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a:defRPr sz="1200" dirty="0" smtClean="0">
                <a:solidFill>
                  <a:schemeClr val="accent6">
                    <a:lumMod val="75000"/>
                  </a:schemeClr>
                </a:solidFill>
                <a:latin typeface="+mj-lt"/>
              </a:defRPr>
            </a:lvl1pPr>
          </a:lstStyle>
          <a:p>
            <a:pPr>
              <a:defRPr/>
            </a:pPr>
            <a:r>
              <a:rPr lang="en-US" dirty="0" smtClean="0"/>
              <a:t>Programming Logic and Design, Ninth Edition</a:t>
            </a:r>
            <a:endParaRPr lang="en-US" dirty="0"/>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Lst>
  <p:hf hdr="0" dt="0"/>
  <p:txStyles>
    <p:titleStyle>
      <a:lvl1pPr algn="ctr" rtl="0" fontAlgn="base">
        <a:spcBef>
          <a:spcPct val="0"/>
        </a:spcBef>
        <a:spcAft>
          <a:spcPct val="0"/>
        </a:spcAft>
        <a:defRPr sz="4400" kern="1200">
          <a:solidFill>
            <a:srgbClr val="558ED5"/>
          </a:solidFill>
          <a:latin typeface="+mj-lt"/>
          <a:ea typeface="+mj-ea"/>
          <a:cs typeface="+mj-cs"/>
        </a:defRPr>
      </a:lvl1pPr>
      <a:lvl2pPr algn="ctr" rtl="0" fontAlgn="base">
        <a:spcBef>
          <a:spcPct val="0"/>
        </a:spcBef>
        <a:spcAft>
          <a:spcPct val="0"/>
        </a:spcAft>
        <a:defRPr sz="4400">
          <a:solidFill>
            <a:srgbClr val="558ED5"/>
          </a:solidFill>
          <a:latin typeface="Calibri" pitchFamily="34" charset="0"/>
        </a:defRPr>
      </a:lvl2pPr>
      <a:lvl3pPr algn="ctr" rtl="0" fontAlgn="base">
        <a:spcBef>
          <a:spcPct val="0"/>
        </a:spcBef>
        <a:spcAft>
          <a:spcPct val="0"/>
        </a:spcAft>
        <a:defRPr sz="4400">
          <a:solidFill>
            <a:srgbClr val="558ED5"/>
          </a:solidFill>
          <a:latin typeface="Calibri" pitchFamily="34" charset="0"/>
        </a:defRPr>
      </a:lvl3pPr>
      <a:lvl4pPr algn="ctr" rtl="0" fontAlgn="base">
        <a:spcBef>
          <a:spcPct val="0"/>
        </a:spcBef>
        <a:spcAft>
          <a:spcPct val="0"/>
        </a:spcAft>
        <a:defRPr sz="4400">
          <a:solidFill>
            <a:srgbClr val="558ED5"/>
          </a:solidFill>
          <a:latin typeface="Calibri" pitchFamily="34" charset="0"/>
        </a:defRPr>
      </a:lvl4pPr>
      <a:lvl5pPr algn="ctr" rtl="0" fontAlgn="base">
        <a:spcBef>
          <a:spcPct val="0"/>
        </a:spcBef>
        <a:spcAft>
          <a:spcPct val="0"/>
        </a:spcAft>
        <a:defRPr sz="4400">
          <a:solidFill>
            <a:srgbClr val="558ED5"/>
          </a:solidFill>
          <a:latin typeface="Calibri" pitchFamily="34" charset="0"/>
        </a:defRPr>
      </a:lvl5pPr>
      <a:lvl6pPr marL="457200" algn="ctr" rtl="0" eaLnBrk="1" fontAlgn="base" hangingPunct="1">
        <a:spcBef>
          <a:spcPct val="0"/>
        </a:spcBef>
        <a:spcAft>
          <a:spcPct val="0"/>
        </a:spcAft>
        <a:defRPr sz="4400">
          <a:solidFill>
            <a:srgbClr val="558ED5"/>
          </a:solidFill>
          <a:latin typeface="Calibri" pitchFamily="34" charset="0"/>
        </a:defRPr>
      </a:lvl6pPr>
      <a:lvl7pPr marL="914400" algn="ctr" rtl="0" eaLnBrk="1" fontAlgn="base" hangingPunct="1">
        <a:spcBef>
          <a:spcPct val="0"/>
        </a:spcBef>
        <a:spcAft>
          <a:spcPct val="0"/>
        </a:spcAft>
        <a:defRPr sz="4400">
          <a:solidFill>
            <a:srgbClr val="558ED5"/>
          </a:solidFill>
          <a:latin typeface="Calibri" pitchFamily="34" charset="0"/>
        </a:defRPr>
      </a:lvl7pPr>
      <a:lvl8pPr marL="1371600" algn="ctr" rtl="0" eaLnBrk="1" fontAlgn="base" hangingPunct="1">
        <a:spcBef>
          <a:spcPct val="0"/>
        </a:spcBef>
        <a:spcAft>
          <a:spcPct val="0"/>
        </a:spcAft>
        <a:defRPr sz="4400">
          <a:solidFill>
            <a:srgbClr val="558ED5"/>
          </a:solidFill>
          <a:latin typeface="Calibri" pitchFamily="34" charset="0"/>
        </a:defRPr>
      </a:lvl8pPr>
      <a:lvl9pPr marL="1828800" algn="ctr" rtl="0" eaLnBrk="1" fontAlgn="base" hangingPunct="1">
        <a:spcBef>
          <a:spcPct val="0"/>
        </a:spcBef>
        <a:spcAft>
          <a:spcPct val="0"/>
        </a:spcAft>
        <a:defRPr sz="4400">
          <a:solidFill>
            <a:srgbClr val="558ED5"/>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86" y="608807"/>
            <a:ext cx="8229600" cy="1143000"/>
          </a:xfrm>
        </p:spPr>
        <p:txBody>
          <a:bodyPr/>
          <a:lstStyle/>
          <a:p>
            <a:r>
              <a:rPr lang="en-US" b="1" dirty="0"/>
              <a:t>Programming Logic and Design</a:t>
            </a:r>
            <a:br>
              <a:rPr lang="en-US" b="1" dirty="0"/>
            </a:br>
            <a:r>
              <a:rPr lang="en-US" b="1" i="1" dirty="0"/>
              <a:t>Ninth Edition</a:t>
            </a:r>
            <a:endParaRPr lang="en-US" b="1" dirty="0"/>
          </a:p>
        </p:txBody>
      </p:sp>
      <p:sp>
        <p:nvSpPr>
          <p:cNvPr id="3" name="Content Placeholder 2"/>
          <p:cNvSpPr>
            <a:spLocks noGrp="1"/>
          </p:cNvSpPr>
          <p:nvPr>
            <p:ph idx="1"/>
          </p:nvPr>
        </p:nvSpPr>
        <p:spPr>
          <a:xfrm>
            <a:off x="457200" y="2438400"/>
            <a:ext cx="8229600" cy="3687763"/>
          </a:xfrm>
        </p:spPr>
        <p:txBody>
          <a:bodyPr/>
          <a:lstStyle/>
          <a:p>
            <a:pPr algn="ctr" eaLnBrk="1" hangingPunct="1">
              <a:lnSpc>
                <a:spcPct val="90000"/>
              </a:lnSpc>
              <a:buFont typeface="Arial" pitchFamily="34" charset="0"/>
              <a:buNone/>
              <a:defRPr/>
            </a:pPr>
            <a:r>
              <a:rPr lang="en-US" sz="3400" i="1" dirty="0"/>
              <a:t>Chapter </a:t>
            </a:r>
            <a:r>
              <a:rPr lang="en-US" sz="3400" i="1" dirty="0" smtClean="0"/>
              <a:t>7</a:t>
            </a:r>
            <a:endParaRPr lang="en-US" sz="3400" i="1" dirty="0" smtClean="0"/>
          </a:p>
          <a:p>
            <a:pPr marL="0" indent="0" algn="ctr">
              <a:buNone/>
              <a:defRPr/>
            </a:pPr>
            <a:r>
              <a:rPr lang="en-US" sz="3200" i="1" dirty="0"/>
              <a:t>File Handling and Applications</a:t>
            </a:r>
          </a:p>
        </p:txBody>
      </p:sp>
      <p:sp>
        <p:nvSpPr>
          <p:cNvPr id="4" name="Slide Number Placeholder 3"/>
          <p:cNvSpPr>
            <a:spLocks noGrp="1"/>
          </p:cNvSpPr>
          <p:nvPr>
            <p:ph type="sldNum" sz="quarter" idx="10"/>
          </p:nvPr>
        </p:nvSpPr>
        <p:spPr/>
        <p:txBody>
          <a:bodyPr/>
          <a:lstStyle/>
          <a:p>
            <a:pPr>
              <a:defRPr/>
            </a:pPr>
            <a:fld id="{0F66439E-C25C-4026-841B-CBBDFA57E0D0}" type="slidenum">
              <a:rPr lang="en-US">
                <a:solidFill>
                  <a:srgbClr val="F79646">
                    <a:lumMod val="75000"/>
                  </a:srgbClr>
                </a:solidFill>
              </a:rPr>
              <a:pPr>
                <a:defRPr/>
              </a:pPr>
              <a:t>1</a:t>
            </a:fld>
            <a:endParaRPr lang="en-US" dirty="0">
              <a:solidFill>
                <a:srgbClr val="F79646">
                  <a:lumMod val="75000"/>
                </a:srgbClr>
              </a:solidFill>
            </a:endParaRPr>
          </a:p>
        </p:txBody>
      </p:sp>
      <p:sp>
        <p:nvSpPr>
          <p:cNvPr id="5" name="Footer Placeholder 4"/>
          <p:cNvSpPr>
            <a:spLocks noGrp="1"/>
          </p:cNvSpPr>
          <p:nvPr>
            <p:ph type="ftr" sz="quarter" idx="11"/>
          </p:nvPr>
        </p:nvSpPr>
        <p:spPr/>
        <p:txBody>
          <a:bodyPr/>
          <a:lstStyle/>
          <a:p>
            <a:pPr>
              <a:defRPr/>
            </a:pPr>
            <a:r>
              <a:rPr lang="en-US" dirty="0">
                <a:solidFill>
                  <a:srgbClr val="F79646">
                    <a:lumMod val="75000"/>
                  </a:srgbClr>
                </a:solidFill>
              </a:rPr>
              <a:t>Programming Logic and Design, Ninth Edition</a:t>
            </a:r>
          </a:p>
        </p:txBody>
      </p:sp>
    </p:spTree>
    <p:extLst>
      <p:ext uri="{BB962C8B-B14F-4D97-AF65-F5344CB8AC3E}">
        <p14:creationId xmlns:p14="http://schemas.microsoft.com/office/powerpoint/2010/main" val="585045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smtClean="0"/>
              <a:t>Objectives</a:t>
            </a:r>
          </a:p>
        </p:txBody>
      </p:sp>
      <p:sp>
        <p:nvSpPr>
          <p:cNvPr id="14339" name="Rectangle 3"/>
          <p:cNvSpPr>
            <a:spLocks noGrp="1" noChangeArrowheads="1"/>
          </p:cNvSpPr>
          <p:nvPr>
            <p:ph idx="1"/>
          </p:nvPr>
        </p:nvSpPr>
        <p:spPr/>
        <p:txBody>
          <a:bodyPr/>
          <a:lstStyle/>
          <a:p>
            <a:pPr>
              <a:buFontTx/>
              <a:buNone/>
            </a:pPr>
            <a:r>
              <a:rPr lang="en-US" dirty="0" smtClean="0"/>
              <a:t>In this chapter, you will learn about:</a:t>
            </a:r>
          </a:p>
          <a:p>
            <a:r>
              <a:rPr lang="en-US" dirty="0" smtClean="0"/>
              <a:t>Computer files</a:t>
            </a:r>
          </a:p>
          <a:p>
            <a:r>
              <a:rPr lang="en-US" dirty="0" smtClean="0"/>
              <a:t>The data hierarchy</a:t>
            </a:r>
          </a:p>
          <a:p>
            <a:r>
              <a:rPr lang="en-US" dirty="0" smtClean="0"/>
              <a:t>Performing file operations</a:t>
            </a:r>
          </a:p>
          <a:p>
            <a:r>
              <a:rPr lang="en-US" dirty="0" smtClean="0"/>
              <a:t>Control break logic</a:t>
            </a:r>
          </a:p>
          <a:p>
            <a:r>
              <a:rPr lang="en-US" dirty="0" smtClean="0"/>
              <a:t>Merging files</a:t>
            </a:r>
          </a:p>
          <a:p>
            <a:r>
              <a:rPr lang="en-US" dirty="0" smtClean="0"/>
              <a:t>Master and transaction file processing</a:t>
            </a:r>
          </a:p>
          <a:p>
            <a:r>
              <a:rPr lang="en-US" dirty="0" smtClean="0"/>
              <a:t>Random access files</a:t>
            </a:r>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Understanding Computer Files</a:t>
            </a:r>
          </a:p>
        </p:txBody>
      </p:sp>
      <p:sp>
        <p:nvSpPr>
          <p:cNvPr id="15363" name="Content Placeholder 8"/>
          <p:cNvSpPr>
            <a:spLocks noGrp="1"/>
          </p:cNvSpPr>
          <p:nvPr>
            <p:ph idx="1"/>
          </p:nvPr>
        </p:nvSpPr>
        <p:spPr/>
        <p:txBody>
          <a:bodyPr/>
          <a:lstStyle/>
          <a:p>
            <a:r>
              <a:rPr lang="en-US" b="1" dirty="0" smtClean="0"/>
              <a:t>Computer file</a:t>
            </a:r>
          </a:p>
          <a:p>
            <a:pPr lvl="1"/>
            <a:r>
              <a:rPr lang="en-US" dirty="0" smtClean="0"/>
              <a:t>A collection of data stored on </a:t>
            </a:r>
            <a:r>
              <a:rPr lang="en-US" b="1" dirty="0" smtClean="0"/>
              <a:t>permanent storage devices </a:t>
            </a:r>
            <a:r>
              <a:rPr lang="en-US" dirty="0" smtClean="0"/>
              <a:t>such as your computer’s hard drive, a hard drive on the cloud,  DVDs, USB drives, and reels of magnetic tape</a:t>
            </a:r>
          </a:p>
          <a:p>
            <a:pPr lvl="1"/>
            <a:r>
              <a:rPr lang="en-US" b="1" dirty="0" smtClean="0"/>
              <a:t>Text files </a:t>
            </a:r>
            <a:r>
              <a:rPr lang="en-US" dirty="0" smtClean="0"/>
              <a:t>(numbers, names, salaries) that can be read by a text editor</a:t>
            </a:r>
          </a:p>
          <a:p>
            <a:pPr lvl="1"/>
            <a:r>
              <a:rPr lang="en-US" b="1" dirty="0" smtClean="0"/>
              <a:t>Binary files </a:t>
            </a:r>
            <a:r>
              <a:rPr lang="en-US" dirty="0" smtClean="0"/>
              <a:t>(images and music) </a:t>
            </a:r>
            <a:r>
              <a:rPr lang="en-US" dirty="0" smtClean="0"/>
              <a:t>not encoded as text</a:t>
            </a:r>
            <a:endParaRPr lang="en-US"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Understanding Computer </a:t>
            </a:r>
            <a:r>
              <a:rPr lang="en-US" dirty="0"/>
              <a:t>Files </a:t>
            </a:r>
            <a:r>
              <a:rPr lang="en-US" sz="1200" dirty="0"/>
              <a:t>(</a:t>
            </a:r>
            <a:r>
              <a:rPr lang="en-US" sz="1200" dirty="0" smtClean="0"/>
              <a:t>continued -1)</a:t>
            </a:r>
            <a:endParaRPr lang="en-US" sz="1200" dirty="0" smtClean="0"/>
          </a:p>
        </p:txBody>
      </p:sp>
      <p:sp>
        <p:nvSpPr>
          <p:cNvPr id="15363" name="Content Placeholder 8"/>
          <p:cNvSpPr>
            <a:spLocks noGrp="1"/>
          </p:cNvSpPr>
          <p:nvPr>
            <p:ph idx="1"/>
          </p:nvPr>
        </p:nvSpPr>
        <p:spPr/>
        <p:txBody>
          <a:bodyPr/>
          <a:lstStyle/>
          <a:p>
            <a:r>
              <a:rPr lang="en-US" dirty="0" smtClean="0"/>
              <a:t>Computer </a:t>
            </a:r>
            <a:r>
              <a:rPr lang="en-US" dirty="0" smtClean="0"/>
              <a:t>files have:</a:t>
            </a:r>
            <a:endParaRPr lang="en-US" dirty="0" smtClean="0"/>
          </a:p>
          <a:p>
            <a:pPr lvl="1"/>
            <a:r>
              <a:rPr lang="en-US" dirty="0" smtClean="0"/>
              <a:t>A </a:t>
            </a:r>
            <a:r>
              <a:rPr lang="en-US" b="1" dirty="0" smtClean="0"/>
              <a:t>filename  - </a:t>
            </a:r>
            <a:r>
              <a:rPr lang="en-US" dirty="0" smtClean="0"/>
              <a:t>an identifying name given to a computer file that frequently describes the contents </a:t>
            </a:r>
          </a:p>
          <a:p>
            <a:pPr lvl="2"/>
            <a:r>
              <a:rPr lang="en-US" sz="2200" dirty="0" err="1" smtClean="0"/>
              <a:t>JanuaryPayroll</a:t>
            </a:r>
            <a:endParaRPr lang="en-US" sz="2200" dirty="0" smtClean="0"/>
          </a:p>
          <a:p>
            <a:pPr lvl="2"/>
            <a:r>
              <a:rPr lang="en-US" sz="2200" dirty="0" err="1" smtClean="0"/>
              <a:t>PreviousMonthSales</a:t>
            </a:r>
            <a:endParaRPr lang="en-US" sz="2200" dirty="0" smtClean="0"/>
          </a:p>
          <a:p>
            <a:pPr lvl="1"/>
            <a:r>
              <a:rPr lang="en-US" dirty="0" smtClean="0"/>
              <a:t>A </a:t>
            </a:r>
            <a:r>
              <a:rPr lang="en-US" b="1" dirty="0" smtClean="0"/>
              <a:t>filename extension </a:t>
            </a:r>
            <a:r>
              <a:rPr lang="en-US" dirty="0" smtClean="0"/>
              <a:t>-</a:t>
            </a:r>
            <a:r>
              <a:rPr lang="en-US" dirty="0"/>
              <a:t> a </a:t>
            </a:r>
            <a:r>
              <a:rPr lang="en-US" dirty="0"/>
              <a:t>group of </a:t>
            </a:r>
            <a:r>
              <a:rPr lang="en-US" dirty="0" smtClean="0"/>
              <a:t>characters added </a:t>
            </a:r>
            <a:r>
              <a:rPr lang="en-US" dirty="0"/>
              <a:t>to the end of a filename that describes the type of the </a:t>
            </a:r>
            <a:r>
              <a:rPr lang="en-US" dirty="0" smtClean="0"/>
              <a:t>file</a:t>
            </a:r>
          </a:p>
          <a:p>
            <a:pPr lvl="2"/>
            <a:r>
              <a:rPr lang="en-US" sz="2200" dirty="0" smtClean="0"/>
              <a:t>.txt</a:t>
            </a:r>
          </a:p>
          <a:p>
            <a:pPr lvl="2"/>
            <a:r>
              <a:rPr lang="en-US" sz="2200" dirty="0" smtClean="0"/>
              <a:t>.</a:t>
            </a:r>
            <a:r>
              <a:rPr lang="en-US" sz="2200" dirty="0" err="1" smtClean="0"/>
              <a:t>dat</a:t>
            </a:r>
            <a:endParaRPr lang="en-US" sz="2200" dirty="0" smtClean="0"/>
          </a:p>
          <a:p>
            <a:pPr lvl="2"/>
            <a:r>
              <a:rPr lang="en-US" sz="2200" dirty="0" smtClean="0"/>
              <a:t>.</a:t>
            </a:r>
            <a:r>
              <a:rPr lang="en-US" sz="2200" dirty="0" err="1" smtClean="0"/>
              <a:t>docx</a:t>
            </a:r>
            <a:endParaRPr lang="en-US" sz="2200"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267889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Understanding Computer </a:t>
            </a:r>
            <a:r>
              <a:rPr lang="en-US" dirty="0" smtClean="0"/>
              <a:t>Files </a:t>
            </a:r>
            <a:r>
              <a:rPr lang="en-US" sz="1200" dirty="0" smtClean="0"/>
              <a:t>(continued -2)</a:t>
            </a:r>
            <a:endParaRPr lang="en-US" sz="1200" dirty="0" smtClean="0"/>
          </a:p>
        </p:txBody>
      </p:sp>
      <p:sp>
        <p:nvSpPr>
          <p:cNvPr id="15363" name="Content Placeholder 8"/>
          <p:cNvSpPr>
            <a:spLocks noGrp="1"/>
          </p:cNvSpPr>
          <p:nvPr>
            <p:ph idx="1"/>
          </p:nvPr>
        </p:nvSpPr>
        <p:spPr/>
        <p:txBody>
          <a:bodyPr/>
          <a:lstStyle/>
          <a:p>
            <a:r>
              <a:rPr lang="en-US" dirty="0" smtClean="0"/>
              <a:t>Computer </a:t>
            </a:r>
            <a:r>
              <a:rPr lang="en-US" dirty="0" smtClean="0"/>
              <a:t>files have:</a:t>
            </a:r>
            <a:endParaRPr lang="en-US" dirty="0" smtClean="0"/>
          </a:p>
          <a:p>
            <a:pPr lvl="1"/>
            <a:r>
              <a:rPr lang="en-US" dirty="0" smtClean="0"/>
              <a:t>A </a:t>
            </a:r>
            <a:r>
              <a:rPr lang="en-US" dirty="0"/>
              <a:t>specific creation time and modification </a:t>
            </a:r>
            <a:r>
              <a:rPr lang="en-US" dirty="0" smtClean="0"/>
              <a:t>date</a:t>
            </a:r>
            <a:endParaRPr lang="en-US" dirty="0"/>
          </a:p>
          <a:p>
            <a:pPr lvl="1"/>
            <a:r>
              <a:rPr lang="en-US" dirty="0" smtClean="0"/>
              <a:t>A file </a:t>
            </a:r>
            <a:r>
              <a:rPr lang="en-US" dirty="0" smtClean="0"/>
              <a:t>size measured in bytes</a:t>
            </a:r>
          </a:p>
          <a:p>
            <a:pPr lvl="2"/>
            <a:r>
              <a:rPr lang="en-US" sz="2200" b="1" dirty="0" smtClean="0"/>
              <a:t>byte</a:t>
            </a:r>
            <a:r>
              <a:rPr lang="en-US" sz="2200" dirty="0"/>
              <a:t> – one </a:t>
            </a:r>
            <a:r>
              <a:rPr lang="en-US" sz="2200" dirty="0" smtClean="0"/>
              <a:t>character </a:t>
            </a:r>
          </a:p>
          <a:p>
            <a:pPr lvl="2"/>
            <a:r>
              <a:rPr lang="en-US" sz="2200" b="1" dirty="0" smtClean="0"/>
              <a:t>kilobyte</a:t>
            </a:r>
            <a:r>
              <a:rPr lang="en-US" sz="2200" dirty="0"/>
              <a:t> – thousands </a:t>
            </a:r>
            <a:r>
              <a:rPr lang="en-US" sz="2200" dirty="0" smtClean="0"/>
              <a:t>of </a:t>
            </a:r>
            <a:r>
              <a:rPr lang="en-US" sz="2200" dirty="0" smtClean="0"/>
              <a:t>bytes </a:t>
            </a:r>
          </a:p>
          <a:p>
            <a:pPr lvl="2"/>
            <a:r>
              <a:rPr lang="en-US" sz="2200" b="1" dirty="0" smtClean="0"/>
              <a:t>megabyte</a:t>
            </a:r>
            <a:r>
              <a:rPr lang="en-US" sz="2200" dirty="0"/>
              <a:t> – millions </a:t>
            </a:r>
            <a:r>
              <a:rPr lang="en-US" sz="2200" dirty="0" smtClean="0"/>
              <a:t>of </a:t>
            </a:r>
            <a:r>
              <a:rPr lang="en-US" sz="2200" dirty="0" smtClean="0"/>
              <a:t>bytes </a:t>
            </a:r>
          </a:p>
          <a:p>
            <a:pPr lvl="2"/>
            <a:r>
              <a:rPr lang="en-US" sz="2200" b="1" dirty="0" smtClean="0"/>
              <a:t>gigabyte</a:t>
            </a:r>
            <a:r>
              <a:rPr lang="en-US" sz="2200" dirty="0"/>
              <a:t> – billions </a:t>
            </a:r>
            <a:r>
              <a:rPr lang="en-US" sz="2200" dirty="0" smtClean="0"/>
              <a:t>of </a:t>
            </a:r>
            <a:r>
              <a:rPr lang="en-US" sz="2200" dirty="0" smtClean="0"/>
              <a:t>bytes</a:t>
            </a:r>
          </a:p>
          <a:p>
            <a:pPr lvl="2"/>
            <a:r>
              <a:rPr lang="en-US" sz="2200" dirty="0"/>
              <a:t>terabyte – trillions </a:t>
            </a:r>
            <a:r>
              <a:rPr lang="en-US" sz="2200" dirty="0" smtClean="0"/>
              <a:t>of </a:t>
            </a:r>
            <a:r>
              <a:rPr lang="en-US" sz="2200" dirty="0" smtClean="0"/>
              <a:t>bytes</a:t>
            </a:r>
            <a:r>
              <a:rPr lang="en-US" dirty="0" smtClean="0"/>
              <a:t> </a:t>
            </a:r>
            <a:endParaRPr lang="en-US"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3710595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Understanding Computer Files </a:t>
            </a:r>
            <a:r>
              <a:rPr lang="en-US" sz="1200" dirty="0" smtClean="0"/>
              <a:t>(</a:t>
            </a:r>
            <a:r>
              <a:rPr lang="en-US" sz="1200" dirty="0" smtClean="0"/>
              <a:t>continued -3)</a:t>
            </a:r>
            <a:endParaRPr lang="en-US" sz="1200" dirty="0" smtClean="0"/>
          </a:p>
        </p:txBody>
      </p:sp>
      <p:pic>
        <p:nvPicPr>
          <p:cNvPr id="4" name="Picture 3" descr="Three stored files showing their names, dates of modification, types, and sizes." title="Three stored files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58033" y="1752601"/>
            <a:ext cx="4847567" cy="2590800"/>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1870002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Understanding Computer Files </a:t>
            </a:r>
            <a:r>
              <a:rPr lang="en-US" sz="1200" dirty="0" smtClean="0"/>
              <a:t>(</a:t>
            </a:r>
            <a:r>
              <a:rPr lang="en-US" sz="1200" dirty="0" smtClean="0"/>
              <a:t>continued -4)</a:t>
            </a:r>
            <a:endParaRPr lang="en-US" sz="1200" dirty="0" smtClean="0"/>
          </a:p>
        </p:txBody>
      </p:sp>
      <p:sp>
        <p:nvSpPr>
          <p:cNvPr id="16387" name="Content Placeholder 8"/>
          <p:cNvSpPr>
            <a:spLocks noGrp="1"/>
          </p:cNvSpPr>
          <p:nvPr>
            <p:ph idx="1"/>
          </p:nvPr>
        </p:nvSpPr>
        <p:spPr/>
        <p:txBody>
          <a:bodyPr/>
          <a:lstStyle/>
          <a:p>
            <a:r>
              <a:rPr lang="en-US" b="1" dirty="0" smtClean="0"/>
              <a:t>Organizing files</a:t>
            </a:r>
          </a:p>
          <a:p>
            <a:pPr lvl="1"/>
            <a:r>
              <a:rPr lang="en-US" b="1" dirty="0" smtClean="0"/>
              <a:t>Directories and folders</a:t>
            </a:r>
          </a:p>
          <a:p>
            <a:pPr lvl="2"/>
            <a:r>
              <a:rPr lang="en-US" sz="2200" dirty="0" smtClean="0"/>
              <a:t>Organization units on storage devices</a:t>
            </a:r>
          </a:p>
          <a:p>
            <a:pPr lvl="1"/>
            <a:r>
              <a:rPr lang="en-US" b="1" dirty="0" smtClean="0"/>
              <a:t>Path</a:t>
            </a:r>
          </a:p>
          <a:p>
            <a:pPr lvl="2"/>
            <a:r>
              <a:rPr lang="en-US" sz="2200" dirty="0" smtClean="0"/>
              <a:t>Combination of disk drive plus the complete hierarchy of directories</a:t>
            </a:r>
          </a:p>
          <a:p>
            <a:pPr lvl="2"/>
            <a:r>
              <a:rPr lang="en-US" sz="2200" dirty="0" smtClean="0"/>
              <a:t>Example:  </a:t>
            </a:r>
            <a:r>
              <a:rPr lang="en-US" sz="2200" dirty="0" smtClean="0">
                <a:latin typeface="Courier New" pitchFamily="49" charset="0"/>
                <a:cs typeface="Courier New" pitchFamily="49" charset="0"/>
              </a:rPr>
              <a:t>C:\Logic\SampleFiles\PayrollData.dat</a:t>
            </a:r>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Understanding the Data Hierarchy</a:t>
            </a:r>
          </a:p>
        </p:txBody>
      </p:sp>
      <p:sp>
        <p:nvSpPr>
          <p:cNvPr id="17411" name="Content Placeholder 2"/>
          <p:cNvSpPr>
            <a:spLocks noGrp="1"/>
          </p:cNvSpPr>
          <p:nvPr>
            <p:ph idx="1"/>
          </p:nvPr>
        </p:nvSpPr>
        <p:spPr/>
        <p:txBody>
          <a:bodyPr/>
          <a:lstStyle/>
          <a:p>
            <a:r>
              <a:rPr lang="en-US" b="1" dirty="0" smtClean="0"/>
              <a:t>Data hierarchy</a:t>
            </a:r>
          </a:p>
          <a:p>
            <a:pPr lvl="1"/>
            <a:r>
              <a:rPr lang="en-US" dirty="0"/>
              <a:t>Describes the relationships between data components</a:t>
            </a:r>
          </a:p>
          <a:p>
            <a:pPr lvl="1"/>
            <a:r>
              <a:rPr lang="en-US" dirty="0"/>
              <a:t>Consists of: </a:t>
            </a:r>
          </a:p>
          <a:p>
            <a:pPr lvl="2"/>
            <a:r>
              <a:rPr lang="en-US" sz="2200" b="1" dirty="0" smtClean="0"/>
              <a:t>Characters </a:t>
            </a:r>
            <a:r>
              <a:rPr lang="en-US" sz="2200" dirty="0" smtClean="0"/>
              <a:t>–</a:t>
            </a:r>
            <a:r>
              <a:rPr lang="en-US" sz="2200" b="1" dirty="0" smtClean="0"/>
              <a:t> </a:t>
            </a:r>
            <a:r>
              <a:rPr lang="en-US" sz="2200" dirty="0" smtClean="0"/>
              <a:t>letters </a:t>
            </a:r>
            <a:r>
              <a:rPr lang="en-US" sz="2200" dirty="0" smtClean="0"/>
              <a:t>number and special symbols</a:t>
            </a:r>
            <a:endParaRPr lang="en-US" sz="2200" dirty="0"/>
          </a:p>
          <a:p>
            <a:pPr lvl="2"/>
            <a:r>
              <a:rPr lang="en-US" sz="2200" b="1" dirty="0" smtClean="0"/>
              <a:t>Fields </a:t>
            </a:r>
            <a:r>
              <a:rPr lang="en-US" sz="2200" dirty="0" smtClean="0"/>
              <a:t>– </a:t>
            </a:r>
            <a:r>
              <a:rPr lang="en-US" sz="2200" dirty="0" smtClean="0"/>
              <a:t>data </a:t>
            </a:r>
            <a:r>
              <a:rPr lang="en-US" sz="2200" dirty="0" smtClean="0"/>
              <a:t>items representing a single attribute of a record</a:t>
            </a:r>
            <a:endParaRPr lang="en-US" sz="2200" dirty="0"/>
          </a:p>
          <a:p>
            <a:pPr lvl="2"/>
            <a:r>
              <a:rPr lang="en-US" sz="2200" b="1" dirty="0" smtClean="0"/>
              <a:t>Records </a:t>
            </a:r>
            <a:r>
              <a:rPr lang="en-US" sz="2200" dirty="0" smtClean="0"/>
              <a:t>– </a:t>
            </a:r>
            <a:r>
              <a:rPr lang="en-US" sz="2200" dirty="0" smtClean="0"/>
              <a:t>groups </a:t>
            </a:r>
            <a:r>
              <a:rPr lang="en-US" sz="2200" dirty="0" smtClean="0"/>
              <a:t>of fields that go together for some logical reason</a:t>
            </a:r>
            <a:endParaRPr lang="en-US" sz="2200" dirty="0"/>
          </a:p>
          <a:p>
            <a:pPr lvl="2"/>
            <a:r>
              <a:rPr lang="en-US" sz="2200" b="1" dirty="0" smtClean="0"/>
              <a:t>Files </a:t>
            </a:r>
            <a:r>
              <a:rPr lang="en-US" sz="2200" dirty="0" smtClean="0"/>
              <a:t>– </a:t>
            </a:r>
            <a:r>
              <a:rPr lang="en-US" sz="2200" dirty="0" smtClean="0"/>
              <a:t>groups </a:t>
            </a:r>
            <a:r>
              <a:rPr lang="en-US" sz="2200" dirty="0" smtClean="0"/>
              <a:t>of related </a:t>
            </a:r>
            <a:r>
              <a:rPr lang="en-US" sz="2200" dirty="0" smtClean="0"/>
              <a:t>records</a:t>
            </a:r>
          </a:p>
          <a:p>
            <a:pPr lvl="2"/>
            <a:r>
              <a:rPr lang="en-US" sz="2200" b="1" dirty="0" smtClean="0"/>
              <a:t>Database</a:t>
            </a:r>
            <a:r>
              <a:rPr lang="en-US" sz="2200" dirty="0" smtClean="0"/>
              <a:t> </a:t>
            </a:r>
            <a:r>
              <a:rPr lang="en-US" sz="2200" dirty="0"/>
              <a:t>– </a:t>
            </a:r>
            <a:r>
              <a:rPr lang="en-US" sz="2200" dirty="0" smtClean="0"/>
              <a:t> holds related file data in tables</a:t>
            </a:r>
            <a:endParaRPr lang="en-US" sz="2200" dirty="0"/>
          </a:p>
        </p:txBody>
      </p:sp>
      <p:sp>
        <p:nvSpPr>
          <p:cNvPr id="5" name="Slide Number Placeholder 4"/>
          <p:cNvSpPr>
            <a:spLocks noGrp="1"/>
          </p:cNvSpPr>
          <p:nvPr>
            <p:ph type="sldNum" sz="quarter" idx="10"/>
          </p:nvPr>
        </p:nvSpPr>
        <p:spPr/>
        <p:txBody>
          <a:bodyPr/>
          <a:lstStyle/>
          <a:p>
            <a:pPr>
              <a:defRPr/>
            </a:pPr>
            <a:fld id="{3911938A-5CE3-496C-AE15-A335223BA717}" type="slidenum">
              <a:rPr lang="en-US"/>
              <a:pPr>
                <a:defRPr/>
              </a:pPr>
              <a:t>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Understanding the Data </a:t>
            </a:r>
            <a:r>
              <a:rPr lang="en-US" dirty="0"/>
              <a:t>Hierarchy </a:t>
            </a:r>
            <a:r>
              <a:rPr lang="en-US" sz="1200" dirty="0"/>
              <a:t>(</a:t>
            </a:r>
            <a:r>
              <a:rPr lang="en-US" sz="1200" dirty="0" smtClean="0"/>
              <a:t>continued)</a:t>
            </a:r>
            <a:endParaRPr lang="en-US" sz="1200" dirty="0" smtClean="0"/>
          </a:p>
        </p:txBody>
      </p:sp>
      <p:pic>
        <p:nvPicPr>
          <p:cNvPr id="3" name="Picture 2" descr="A file can contain many records.&#10;A record can contain many fields.&#10;A field can contain many characters." title="Components of the Data Hierarch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90800" y="1752600"/>
            <a:ext cx="4339590" cy="3705062"/>
          </a:xfrm>
          <a:prstGeom prst="rect">
            <a:avLst/>
          </a:prstGeom>
        </p:spPr>
      </p:pic>
      <p:sp>
        <p:nvSpPr>
          <p:cNvPr id="5" name="Slide Number Placeholder 4"/>
          <p:cNvSpPr>
            <a:spLocks noGrp="1"/>
          </p:cNvSpPr>
          <p:nvPr>
            <p:ph type="sldNum" sz="quarter" idx="10"/>
          </p:nvPr>
        </p:nvSpPr>
        <p:spPr/>
        <p:txBody>
          <a:bodyPr/>
          <a:lstStyle/>
          <a:p>
            <a:pPr>
              <a:defRPr/>
            </a:pPr>
            <a:fld id="{3911938A-5CE3-496C-AE15-A335223BA717}" type="slidenum">
              <a:rPr lang="en-US"/>
              <a:pPr>
                <a:defRPr/>
              </a:pPr>
              <a:t>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9800883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Performing File Operations</a:t>
            </a:r>
          </a:p>
        </p:txBody>
      </p:sp>
      <p:sp>
        <p:nvSpPr>
          <p:cNvPr id="18435" name="Content Placeholder 2"/>
          <p:cNvSpPr>
            <a:spLocks noGrp="1"/>
          </p:cNvSpPr>
          <p:nvPr>
            <p:ph idx="1"/>
          </p:nvPr>
        </p:nvSpPr>
        <p:spPr/>
        <p:txBody>
          <a:bodyPr/>
          <a:lstStyle/>
          <a:p>
            <a:r>
              <a:rPr lang="en-US" dirty="0" smtClean="0"/>
              <a:t>File operations to </a:t>
            </a:r>
            <a:r>
              <a:rPr lang="en-US" dirty="0" smtClean="0"/>
              <a:t>u</a:t>
            </a:r>
            <a:r>
              <a:rPr lang="en-US" dirty="0" smtClean="0"/>
              <a:t>se </a:t>
            </a:r>
            <a:r>
              <a:rPr lang="en-US" dirty="0"/>
              <a:t>data files in your programs</a:t>
            </a:r>
          </a:p>
          <a:p>
            <a:pPr lvl="1"/>
            <a:r>
              <a:rPr lang="en-US" dirty="0" smtClean="0"/>
              <a:t>Declare </a:t>
            </a:r>
            <a:r>
              <a:rPr lang="en-US" dirty="0"/>
              <a:t>a </a:t>
            </a:r>
            <a:r>
              <a:rPr lang="en-US" dirty="0" smtClean="0"/>
              <a:t>file identifier</a:t>
            </a:r>
            <a:endParaRPr lang="en-US" dirty="0"/>
          </a:p>
          <a:p>
            <a:pPr lvl="2">
              <a:buFontTx/>
              <a:buNone/>
            </a:pPr>
            <a:r>
              <a:rPr lang="en-US" sz="2200" dirty="0">
                <a:latin typeface="Courier New" pitchFamily="49" charset="0"/>
                <a:cs typeface="Courier New" pitchFamily="49" charset="0"/>
              </a:rPr>
              <a:t>InputFile employeeData</a:t>
            </a:r>
          </a:p>
          <a:p>
            <a:pPr lvl="2">
              <a:buFontTx/>
              <a:buNone/>
            </a:pPr>
            <a:r>
              <a:rPr lang="en-US" sz="2200" dirty="0">
                <a:latin typeface="Courier New" pitchFamily="49" charset="0"/>
                <a:cs typeface="Courier New" pitchFamily="49" charset="0"/>
              </a:rPr>
              <a:t>OutputFile updatedData</a:t>
            </a:r>
          </a:p>
          <a:p>
            <a:pPr lvl="1"/>
            <a:r>
              <a:rPr lang="en-US" b="1" dirty="0" smtClean="0"/>
              <a:t>Open the </a:t>
            </a:r>
            <a:r>
              <a:rPr lang="en-US" b="1" dirty="0"/>
              <a:t>file</a:t>
            </a:r>
          </a:p>
          <a:p>
            <a:pPr lvl="2">
              <a:buFontTx/>
              <a:buNone/>
            </a:pPr>
            <a:r>
              <a:rPr lang="en-US" sz="2200" dirty="0">
                <a:latin typeface="Courier New" pitchFamily="49" charset="0"/>
                <a:cs typeface="Courier New" pitchFamily="49" charset="0"/>
              </a:rPr>
              <a:t>open employeeData "</a:t>
            </a:r>
            <a:r>
              <a:rPr lang="en-US" sz="2200" dirty="0" smtClean="0">
                <a:latin typeface="Courier New" pitchFamily="49" charset="0"/>
                <a:cs typeface="Courier New" pitchFamily="49" charset="0"/>
              </a:rPr>
              <a:t>EmployeeData.dat"</a:t>
            </a:r>
            <a:endParaRPr lang="en-US" sz="2200" dirty="0">
              <a:latin typeface="Courier New" pitchFamily="49" charset="0"/>
              <a:cs typeface="Courier New" pitchFamily="49" charset="0"/>
            </a:endParaRPr>
          </a:p>
          <a:p>
            <a:pPr lvl="1"/>
            <a:r>
              <a:rPr lang="en-US" b="1" dirty="0"/>
              <a:t>Reading </a:t>
            </a:r>
            <a:r>
              <a:rPr lang="en-US" b="1" dirty="0" smtClean="0"/>
              <a:t>from </a:t>
            </a:r>
            <a:r>
              <a:rPr lang="en-US" b="1" dirty="0"/>
              <a:t>a </a:t>
            </a:r>
            <a:r>
              <a:rPr lang="en-US" b="1" dirty="0" smtClean="0"/>
              <a:t>file </a:t>
            </a:r>
            <a:r>
              <a:rPr lang="en-US" dirty="0" smtClean="0"/>
              <a:t>and processing the data</a:t>
            </a:r>
            <a:endParaRPr lang="en-US" dirty="0"/>
          </a:p>
          <a:p>
            <a:pPr lvl="2">
              <a:buFontTx/>
              <a:buNone/>
            </a:pPr>
            <a:r>
              <a:rPr lang="en-US" sz="2200" dirty="0">
                <a:latin typeface="Courier New" pitchFamily="49" charset="0"/>
                <a:cs typeface="Courier New" pitchFamily="49" charset="0"/>
              </a:rPr>
              <a:t>input name from employeeData</a:t>
            </a:r>
          </a:p>
          <a:p>
            <a:pPr lvl="2">
              <a:buFontTx/>
              <a:buNone/>
            </a:pPr>
            <a:r>
              <a:rPr lang="en-US" sz="2200" dirty="0">
                <a:latin typeface="Courier New" pitchFamily="49" charset="0"/>
                <a:cs typeface="Courier New" pitchFamily="49" charset="0"/>
              </a:rPr>
              <a:t>input address from employeeData</a:t>
            </a:r>
          </a:p>
          <a:p>
            <a:pPr lvl="2">
              <a:buFontTx/>
              <a:buNone/>
            </a:pPr>
            <a:r>
              <a:rPr lang="en-US" sz="2200" dirty="0">
                <a:latin typeface="Courier New" pitchFamily="49" charset="0"/>
                <a:cs typeface="Courier New" pitchFamily="49" charset="0"/>
              </a:rPr>
              <a:t>input payRate from employeeData</a:t>
            </a:r>
          </a:p>
        </p:txBody>
      </p:sp>
      <p:sp>
        <p:nvSpPr>
          <p:cNvPr id="5" name="Slide Number Placeholder 4"/>
          <p:cNvSpPr>
            <a:spLocks noGrp="1"/>
          </p:cNvSpPr>
          <p:nvPr>
            <p:ph type="sldNum" sz="quarter" idx="10"/>
          </p:nvPr>
        </p:nvSpPr>
        <p:spPr/>
        <p:txBody>
          <a:bodyPr/>
          <a:lstStyle/>
          <a:p>
            <a:pPr>
              <a:defRPr/>
            </a:pPr>
            <a:fld id="{228E112E-0EE9-4EBD-95CB-B5BDEC86FD54}" type="slidenum">
              <a:rPr lang="en-US"/>
              <a:pPr>
                <a:defRPr/>
              </a:pPr>
              <a:t>10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Performing File </a:t>
            </a:r>
            <a:r>
              <a:rPr lang="en-US" dirty="0"/>
              <a:t>Operations </a:t>
            </a:r>
            <a:r>
              <a:rPr lang="en-US" sz="1200" dirty="0"/>
              <a:t>(</a:t>
            </a:r>
            <a:r>
              <a:rPr lang="en-US" sz="1200" dirty="0" smtClean="0"/>
              <a:t>continued -1)</a:t>
            </a:r>
            <a:endParaRPr lang="en-US" sz="1200" dirty="0" smtClean="0"/>
          </a:p>
        </p:txBody>
      </p:sp>
      <p:sp>
        <p:nvSpPr>
          <p:cNvPr id="18435" name="Content Placeholder 2"/>
          <p:cNvSpPr>
            <a:spLocks noGrp="1"/>
          </p:cNvSpPr>
          <p:nvPr>
            <p:ph idx="1"/>
          </p:nvPr>
        </p:nvSpPr>
        <p:spPr/>
        <p:txBody>
          <a:bodyPr/>
          <a:lstStyle/>
          <a:p>
            <a:r>
              <a:rPr lang="en-US" b="1" dirty="0" smtClean="0"/>
              <a:t>Reading </a:t>
            </a:r>
            <a:r>
              <a:rPr lang="en-US" b="1" dirty="0" smtClean="0"/>
              <a:t>from </a:t>
            </a:r>
            <a:r>
              <a:rPr lang="en-US" b="1" dirty="0"/>
              <a:t>a </a:t>
            </a:r>
            <a:r>
              <a:rPr lang="en-US" b="1" dirty="0" smtClean="0"/>
              <a:t>file </a:t>
            </a:r>
            <a:r>
              <a:rPr lang="en-US" dirty="0" smtClean="0"/>
              <a:t>and processing the </a:t>
            </a:r>
            <a:r>
              <a:rPr lang="en-US" dirty="0" smtClean="0"/>
              <a:t>data</a:t>
            </a:r>
          </a:p>
          <a:p>
            <a:pPr lvl="1"/>
            <a:r>
              <a:rPr lang="en-US" dirty="0"/>
              <a:t>Programming languages have different ways of determining how much data to </a:t>
            </a:r>
            <a:r>
              <a:rPr lang="en-US" dirty="0" smtClean="0"/>
              <a:t>input</a:t>
            </a:r>
          </a:p>
          <a:p>
            <a:pPr lvl="1"/>
            <a:r>
              <a:rPr lang="en-US" dirty="0"/>
              <a:t>In </a:t>
            </a:r>
            <a:r>
              <a:rPr lang="en-US" dirty="0"/>
              <a:t>many </a:t>
            </a:r>
            <a:r>
              <a:rPr lang="en-US" dirty="0"/>
              <a:t>languages, a </a:t>
            </a:r>
            <a:r>
              <a:rPr lang="en-US" b="1" dirty="0"/>
              <a:t>delimiter</a:t>
            </a:r>
            <a:r>
              <a:rPr lang="en-US" dirty="0"/>
              <a:t> </a:t>
            </a:r>
            <a:r>
              <a:rPr lang="en-US" dirty="0"/>
              <a:t>such as a comma, semicolon, or tab character is stored between data </a:t>
            </a:r>
            <a:r>
              <a:rPr lang="en-US" dirty="0"/>
              <a:t>fields</a:t>
            </a:r>
            <a:endParaRPr lang="en-US" dirty="0"/>
          </a:p>
        </p:txBody>
      </p:sp>
      <p:sp>
        <p:nvSpPr>
          <p:cNvPr id="5" name="Slide Number Placeholder 4"/>
          <p:cNvSpPr>
            <a:spLocks noGrp="1"/>
          </p:cNvSpPr>
          <p:nvPr>
            <p:ph type="sldNum" sz="quarter" idx="10"/>
          </p:nvPr>
        </p:nvSpPr>
        <p:spPr/>
        <p:txBody>
          <a:bodyPr/>
          <a:lstStyle/>
          <a:p>
            <a:pPr>
              <a:defRPr/>
            </a:pPr>
            <a:fld id="{228E112E-0EE9-4EBD-95CB-B5BDEC86FD54}" type="slidenum">
              <a:rPr lang="en-US"/>
              <a:pPr>
                <a:defRPr/>
              </a:pPr>
              <a:t>11</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581265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Performing File </a:t>
            </a:r>
            <a:r>
              <a:rPr lang="en-US" dirty="0" smtClean="0"/>
              <a:t>Operations </a:t>
            </a:r>
            <a:r>
              <a:rPr lang="en-US" sz="1200" dirty="0" smtClean="0"/>
              <a:t>(</a:t>
            </a:r>
            <a:r>
              <a:rPr lang="en-US" sz="1200" dirty="0" smtClean="0"/>
              <a:t>continued -2)</a:t>
            </a:r>
            <a:endParaRPr lang="en-US" sz="1200" dirty="0" smtClean="0"/>
          </a:p>
        </p:txBody>
      </p:sp>
      <p:pic>
        <p:nvPicPr>
          <p:cNvPr id="7" name="Picture 6" descr="In many languages, a delimiter such as a comma, semicolon, or tab character is stored between data fields.&#10;Records might be separated by commas, or by some other character such as a line break." title="How employee data in a readable comma-delimited file might appear in a text reade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600" y="1828800"/>
            <a:ext cx="5741515" cy="3029976"/>
          </a:xfrm>
          <a:prstGeom prst="rect">
            <a:avLst/>
          </a:prstGeom>
        </p:spPr>
      </p:pic>
      <p:sp>
        <p:nvSpPr>
          <p:cNvPr id="5" name="Slide Number Placeholder 4"/>
          <p:cNvSpPr>
            <a:spLocks noGrp="1"/>
          </p:cNvSpPr>
          <p:nvPr>
            <p:ph type="sldNum" sz="quarter" idx="10"/>
          </p:nvPr>
        </p:nvSpPr>
        <p:spPr/>
        <p:txBody>
          <a:bodyPr/>
          <a:lstStyle/>
          <a:p>
            <a:pPr>
              <a:defRPr/>
            </a:pPr>
            <a:fld id="{96F2168F-10EC-43A2-9B98-69FC96EC86C8}" type="slidenum">
              <a:rPr lang="en-US"/>
              <a:pPr>
                <a:defRPr/>
              </a:pPr>
              <a:t>12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Performing File </a:t>
            </a:r>
            <a:r>
              <a:rPr lang="en-US" dirty="0" smtClean="0"/>
              <a:t>Operations </a:t>
            </a:r>
            <a:r>
              <a:rPr lang="en-US" sz="1200" dirty="0" smtClean="0"/>
              <a:t>(</a:t>
            </a:r>
            <a:r>
              <a:rPr lang="en-US" sz="1200" dirty="0" smtClean="0"/>
              <a:t>continued -3)</a:t>
            </a:r>
            <a:endParaRPr lang="en-US" sz="1200" dirty="0" smtClean="0"/>
          </a:p>
        </p:txBody>
      </p:sp>
      <p:pic>
        <p:nvPicPr>
          <p:cNvPr id="4" name="Picture 3" descr="When the input statement executes, each field stored in the file is copied and placed in the appropriate variable in computer memory." title="Reading three data items from a storage device into memor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5000" y="1905000"/>
            <a:ext cx="5181600" cy="3274423"/>
          </a:xfrm>
          <a:prstGeom prst="rect">
            <a:avLst/>
          </a:prstGeom>
        </p:spPr>
      </p:pic>
      <p:sp>
        <p:nvSpPr>
          <p:cNvPr id="5" name="Slide Number Placeholder 4"/>
          <p:cNvSpPr>
            <a:spLocks noGrp="1"/>
          </p:cNvSpPr>
          <p:nvPr>
            <p:ph type="sldNum" sz="quarter" idx="10"/>
          </p:nvPr>
        </p:nvSpPr>
        <p:spPr/>
        <p:txBody>
          <a:bodyPr/>
          <a:lstStyle/>
          <a:p>
            <a:pPr>
              <a:defRPr/>
            </a:pPr>
            <a:fld id="{96F2168F-10EC-43A2-9B98-69FC96EC86C8}" type="slidenum">
              <a:rPr lang="en-US"/>
              <a:pPr>
                <a:defRPr/>
              </a:pPr>
              <a:t>13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997880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Performing File Operations </a:t>
            </a:r>
            <a:r>
              <a:rPr lang="en-US" sz="1200" dirty="0"/>
              <a:t>(</a:t>
            </a:r>
            <a:r>
              <a:rPr lang="en-US" sz="1200" dirty="0" smtClean="0"/>
              <a:t>continued -4)</a:t>
            </a:r>
            <a:endParaRPr lang="en-US" sz="1200" dirty="0" smtClean="0"/>
          </a:p>
        </p:txBody>
      </p:sp>
      <p:sp>
        <p:nvSpPr>
          <p:cNvPr id="20483" name="Content Placeholder 8"/>
          <p:cNvSpPr>
            <a:spLocks noGrp="1"/>
          </p:cNvSpPr>
          <p:nvPr>
            <p:ph idx="1"/>
          </p:nvPr>
        </p:nvSpPr>
        <p:spPr/>
        <p:txBody>
          <a:bodyPr/>
          <a:lstStyle/>
          <a:p>
            <a:r>
              <a:rPr lang="en-US" b="1" dirty="0" smtClean="0"/>
              <a:t>Sequential file</a:t>
            </a:r>
          </a:p>
          <a:p>
            <a:pPr lvl="1"/>
            <a:r>
              <a:rPr lang="en-US" dirty="0"/>
              <a:t>Program reads all the records in this file from beginning to end, processing them one t a time</a:t>
            </a:r>
          </a:p>
          <a:p>
            <a:r>
              <a:rPr lang="en-US" b="1" dirty="0" smtClean="0"/>
              <a:t>Sorting</a:t>
            </a:r>
          </a:p>
          <a:p>
            <a:pPr lvl="1"/>
            <a:r>
              <a:rPr lang="en-US" dirty="0" smtClean="0"/>
              <a:t>The process of placing records in order by the value in a specific field or </a:t>
            </a:r>
            <a:r>
              <a:rPr lang="en-US" dirty="0" smtClean="0"/>
              <a:t>fields</a:t>
            </a:r>
          </a:p>
          <a:p>
            <a:pPr lvl="2"/>
            <a:r>
              <a:rPr lang="en-US" sz="2200" b="1" dirty="0" smtClean="0"/>
              <a:t>Ascending </a:t>
            </a:r>
            <a:r>
              <a:rPr lang="en-US" sz="2200" b="1" dirty="0"/>
              <a:t>order </a:t>
            </a:r>
            <a:r>
              <a:rPr lang="en-US" sz="2200" dirty="0"/>
              <a:t>– </a:t>
            </a:r>
            <a:r>
              <a:rPr lang="en-US" sz="2200" dirty="0"/>
              <a:t>records sorted in order from lowest to highest </a:t>
            </a:r>
            <a:r>
              <a:rPr lang="en-US" sz="2200" dirty="0" smtClean="0"/>
              <a:t>values</a:t>
            </a:r>
          </a:p>
          <a:p>
            <a:pPr lvl="2"/>
            <a:r>
              <a:rPr lang="en-US" sz="2200" b="1" dirty="0"/>
              <a:t>Descending order </a:t>
            </a:r>
            <a:r>
              <a:rPr lang="en-US" sz="2200" dirty="0"/>
              <a:t>– </a:t>
            </a:r>
            <a:r>
              <a:rPr lang="en-US" sz="2200" dirty="0"/>
              <a:t>records sorted in order from </a:t>
            </a:r>
            <a:r>
              <a:rPr lang="en-US" sz="2200" dirty="0"/>
              <a:t>highest </a:t>
            </a:r>
            <a:r>
              <a:rPr lang="en-US" sz="2200" dirty="0" smtClean="0"/>
              <a:t>to lowest values</a:t>
            </a:r>
            <a:endParaRPr lang="en-US" sz="2200"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Performing File Operations </a:t>
            </a:r>
            <a:r>
              <a:rPr lang="en-US" sz="1200" dirty="0"/>
              <a:t>(</a:t>
            </a:r>
            <a:r>
              <a:rPr lang="en-US" sz="1200" dirty="0" smtClean="0"/>
              <a:t>continued -5)</a:t>
            </a:r>
            <a:endParaRPr lang="en-US" sz="1200" dirty="0" smtClean="0"/>
          </a:p>
        </p:txBody>
      </p:sp>
      <p:sp>
        <p:nvSpPr>
          <p:cNvPr id="20483" name="Content Placeholder 8"/>
          <p:cNvSpPr>
            <a:spLocks noGrp="1"/>
          </p:cNvSpPr>
          <p:nvPr>
            <p:ph idx="1"/>
          </p:nvPr>
        </p:nvSpPr>
        <p:spPr/>
        <p:txBody>
          <a:bodyPr/>
          <a:lstStyle/>
          <a:p>
            <a:r>
              <a:rPr lang="en-US" dirty="0" smtClean="0"/>
              <a:t>Writing </a:t>
            </a:r>
            <a:r>
              <a:rPr lang="en-US" dirty="0" smtClean="0"/>
              <a:t>data to </a:t>
            </a:r>
            <a:r>
              <a:rPr lang="en-US" dirty="0"/>
              <a:t>a </a:t>
            </a:r>
            <a:r>
              <a:rPr lang="en-US" dirty="0" smtClean="0"/>
              <a:t>file</a:t>
            </a:r>
          </a:p>
          <a:p>
            <a:pPr lvl="1"/>
            <a:r>
              <a:rPr lang="en-US" dirty="0"/>
              <a:t>When you store data in a computer file on a persistent storage device, you </a:t>
            </a:r>
            <a:r>
              <a:rPr lang="en-US" b="1" dirty="0"/>
              <a:t>write to the </a:t>
            </a:r>
            <a:r>
              <a:rPr lang="en-US" b="1" dirty="0" smtClean="0"/>
              <a:t>file</a:t>
            </a:r>
          </a:p>
          <a:p>
            <a:pPr lvl="2"/>
            <a:r>
              <a:rPr lang="en-US" dirty="0" smtClean="0">
                <a:latin typeface="Courier New" pitchFamily="49" charset="0"/>
                <a:cs typeface="Courier New" pitchFamily="49" charset="0"/>
              </a:rPr>
              <a:t>output </a:t>
            </a:r>
            <a:r>
              <a:rPr lang="en-US" dirty="0">
                <a:latin typeface="Courier New" pitchFamily="49" charset="0"/>
                <a:cs typeface="Courier New" pitchFamily="49" charset="0"/>
              </a:rPr>
              <a:t>name, address, payRate to </a:t>
            </a:r>
            <a:r>
              <a:rPr lang="en-US" dirty="0" smtClean="0">
                <a:latin typeface="Courier New" pitchFamily="49" charset="0"/>
                <a:cs typeface="Courier New" pitchFamily="49" charset="0"/>
              </a:rPr>
              <a:t>employeeData</a:t>
            </a:r>
            <a:endParaRPr lang="en-US" b="1" dirty="0">
              <a:latin typeface="Courier New" pitchFamily="49" charset="0"/>
              <a:cs typeface="Courier New" pitchFamily="49" charset="0"/>
            </a:endParaRPr>
          </a:p>
          <a:p>
            <a:r>
              <a:rPr lang="en-US" b="1" dirty="0"/>
              <a:t>Closing a </a:t>
            </a:r>
            <a:r>
              <a:rPr lang="en-US" b="1" dirty="0" smtClean="0"/>
              <a:t>file</a:t>
            </a:r>
          </a:p>
          <a:p>
            <a:pPr lvl="1"/>
            <a:r>
              <a:rPr lang="en-US" dirty="0"/>
              <a:t>When you finish using a file, the program should </a:t>
            </a:r>
            <a:r>
              <a:rPr lang="en-US" b="1" dirty="0"/>
              <a:t>close the file </a:t>
            </a:r>
            <a:r>
              <a:rPr lang="en-US" b="1" dirty="0"/>
              <a:t>	</a:t>
            </a:r>
            <a:endParaRPr lang="en-US" b="1" dirty="0" smtClean="0"/>
          </a:p>
          <a:p>
            <a:pPr lvl="1"/>
            <a:r>
              <a:rPr lang="en-US" dirty="0"/>
              <a:t>Always close every file you </a:t>
            </a:r>
            <a:r>
              <a:rPr lang="en-US" dirty="0" smtClean="0"/>
              <a:t>open</a:t>
            </a:r>
          </a:p>
          <a:p>
            <a:r>
              <a:rPr lang="en-US" b="1" dirty="0"/>
              <a:t>Default input and output devices </a:t>
            </a:r>
            <a:r>
              <a:rPr lang="en-US" dirty="0"/>
              <a:t>(keyboard and monitor</a:t>
            </a:r>
            <a:r>
              <a:rPr lang="en-US" dirty="0" smtClean="0"/>
              <a:t>) do </a:t>
            </a:r>
            <a:r>
              <a:rPr lang="en-US" dirty="0"/>
              <a:t>not require </a:t>
            </a:r>
            <a:r>
              <a:rPr lang="en-US" dirty="0" smtClean="0"/>
              <a:t>opening or closing</a:t>
            </a:r>
            <a:endParaRPr lang="en-US" dirty="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15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319610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A Program that Performs File Operations</a:t>
            </a:r>
            <a:endParaRPr lang="en-US" dirty="0" smtClean="0"/>
          </a:p>
        </p:txBody>
      </p:sp>
      <p:sp>
        <p:nvSpPr>
          <p:cNvPr id="23555" name="Content Placeholder 2"/>
          <p:cNvSpPr>
            <a:spLocks noGrp="1"/>
          </p:cNvSpPr>
          <p:nvPr>
            <p:ph idx="1"/>
          </p:nvPr>
        </p:nvSpPr>
        <p:spPr/>
        <p:txBody>
          <a:bodyPr/>
          <a:lstStyle/>
          <a:p>
            <a:pPr marL="38100" marR="73025">
              <a:lnSpc>
                <a:spcPct val="150000"/>
              </a:lnSpc>
              <a:spcBef>
                <a:spcPts val="700"/>
              </a:spcBef>
              <a:spcAft>
                <a:spcPts val="0"/>
              </a:spcAft>
            </a:pPr>
            <a:r>
              <a:rPr lang="en-US" b="1" dirty="0"/>
              <a:t>Backup file </a:t>
            </a:r>
            <a:endParaRPr lang="en-US" b="1" dirty="0" smtClean="0"/>
          </a:p>
          <a:p>
            <a:pPr marL="438150" marR="73025" lvl="1">
              <a:lnSpc>
                <a:spcPct val="150000"/>
              </a:lnSpc>
              <a:spcBef>
                <a:spcPts val="700"/>
              </a:spcBef>
              <a:spcAft>
                <a:spcPts val="0"/>
              </a:spcAft>
            </a:pPr>
            <a:r>
              <a:rPr lang="en-US" dirty="0" smtClean="0"/>
              <a:t> </a:t>
            </a:r>
            <a:r>
              <a:rPr lang="en-US" dirty="0"/>
              <a:t>a copy kept in case values need to </a:t>
            </a:r>
            <a:r>
              <a:rPr lang="en-US" dirty="0" smtClean="0"/>
              <a:t>be restored  to </a:t>
            </a:r>
            <a:r>
              <a:rPr lang="en-US" dirty="0"/>
              <a:t>their original </a:t>
            </a:r>
            <a:r>
              <a:rPr lang="en-US" dirty="0" smtClean="0"/>
              <a:t>state</a:t>
            </a:r>
          </a:p>
          <a:p>
            <a:pPr marL="438150" marR="73025" lvl="1">
              <a:lnSpc>
                <a:spcPct val="150000"/>
              </a:lnSpc>
              <a:spcBef>
                <a:spcPts val="700"/>
              </a:spcBef>
              <a:spcAft>
                <a:spcPts val="0"/>
              </a:spcAft>
            </a:pPr>
            <a:r>
              <a:rPr lang="en-US" sz="2400" dirty="0" smtClean="0"/>
              <a:t>The </a:t>
            </a:r>
            <a:r>
              <a:rPr lang="en-US" sz="2400" dirty="0"/>
              <a:t>backup copy is called a </a:t>
            </a:r>
            <a:r>
              <a:rPr lang="en-US" sz="2400" b="1" dirty="0"/>
              <a:t>parent file </a:t>
            </a:r>
            <a:endParaRPr lang="en-US" sz="2400" b="1" dirty="0" smtClean="0"/>
          </a:p>
          <a:p>
            <a:pPr marL="438150" marR="73025" lvl="1">
              <a:lnSpc>
                <a:spcPct val="150000"/>
              </a:lnSpc>
              <a:spcBef>
                <a:spcPts val="700"/>
              </a:spcBef>
              <a:spcAft>
                <a:spcPts val="0"/>
              </a:spcAft>
            </a:pPr>
            <a:r>
              <a:rPr lang="en-US" sz="2400" dirty="0" smtClean="0"/>
              <a:t>The </a:t>
            </a:r>
            <a:r>
              <a:rPr lang="en-US" sz="2400" dirty="0"/>
              <a:t>newly revised copy is a </a:t>
            </a:r>
            <a:r>
              <a:rPr lang="en-US" sz="2400" b="1" dirty="0"/>
              <a:t>child file</a:t>
            </a:r>
            <a:endParaRPr lang="en-US" sz="2400" dirty="0">
              <a:latin typeface="New York"/>
              <a:ea typeface="Times New Roman" panose="02020603050405020304" pitchFamily="18" charset="0"/>
              <a:cs typeface="Times New Roman" panose="02020603050405020304" pitchFamily="18" charset="0"/>
            </a:endParaRPr>
          </a:p>
          <a:p>
            <a:pPr lvl="1"/>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16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029529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04800" y="609600"/>
            <a:ext cx="3657600" cy="1905000"/>
          </a:xfrm>
        </p:spPr>
        <p:txBody>
          <a:bodyPr/>
          <a:lstStyle/>
          <a:p>
            <a:r>
              <a:rPr lang="en-US" dirty="0" smtClean="0"/>
              <a:t>A Program that Performs </a:t>
            </a:r>
            <a:r>
              <a:rPr lang="en-US" dirty="0"/>
              <a:t>File </a:t>
            </a:r>
            <a:r>
              <a:rPr lang="en-US" dirty="0" smtClean="0"/>
              <a:t>Operations</a:t>
            </a:r>
            <a:r>
              <a:rPr lang="en-US" sz="1200" dirty="0" smtClean="0"/>
              <a:t> </a:t>
            </a:r>
            <a:r>
              <a:rPr lang="en-US" sz="1200" dirty="0" smtClean="0"/>
              <a:t>(continued -1)</a:t>
            </a:r>
            <a:endParaRPr lang="en-US" sz="1200" dirty="0" smtClean="0"/>
          </a:p>
        </p:txBody>
      </p:sp>
      <p:pic>
        <p:nvPicPr>
          <p:cNvPr id="3" name="Picture 2" descr="This program opens two files—an input file and an output file. The program reads each employee record from the input file, alters the employee’s pay rate, and writes the updated record to an output file." title="Flowchart and pseudocode for program that uses files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00" y="609600"/>
            <a:ext cx="4877769" cy="5746750"/>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17</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27168" y="457200"/>
            <a:ext cx="3657600" cy="2286000"/>
          </a:xfrm>
        </p:spPr>
        <p:txBody>
          <a:bodyPr/>
          <a:lstStyle/>
          <a:p>
            <a:r>
              <a:rPr lang="en-US" dirty="0" smtClean="0"/>
              <a:t>A Program that Performs </a:t>
            </a:r>
            <a:r>
              <a:rPr lang="en-US" dirty="0"/>
              <a:t>File </a:t>
            </a:r>
            <a:r>
              <a:rPr lang="en-US" dirty="0" smtClean="0"/>
              <a:t>Operations</a:t>
            </a:r>
            <a:r>
              <a:rPr lang="en-US" sz="1200" dirty="0" smtClean="0"/>
              <a:t> (</a:t>
            </a:r>
            <a:r>
              <a:rPr lang="en-US" sz="1200" dirty="0" smtClean="0"/>
              <a:t>continued -2)</a:t>
            </a:r>
            <a:endParaRPr lang="en-US" sz="1200" dirty="0" smtClean="0"/>
          </a:p>
        </p:txBody>
      </p:sp>
      <p:pic>
        <p:nvPicPr>
          <p:cNvPr id="5" name="Picture 4" descr="After all the records have been&#10;processed, the program closes the files." title="Flowchart and pseudocode for program that uses fil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84768" y="166665"/>
            <a:ext cx="4569309" cy="6189685"/>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18</a:t>
            </a:fld>
            <a:endParaRPr lang="en-US" dirty="0"/>
          </a:p>
        </p:txBody>
      </p:sp>
      <p:sp>
        <p:nvSpPr>
          <p:cNvPr id="7" name="Footer Placeholder 6"/>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871405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Understanding Control Break Logic</a:t>
            </a:r>
          </a:p>
        </p:txBody>
      </p:sp>
      <p:sp>
        <p:nvSpPr>
          <p:cNvPr id="23555" name="Content Placeholder 2"/>
          <p:cNvSpPr>
            <a:spLocks noGrp="1"/>
          </p:cNvSpPr>
          <p:nvPr>
            <p:ph idx="1"/>
          </p:nvPr>
        </p:nvSpPr>
        <p:spPr/>
        <p:txBody>
          <a:bodyPr/>
          <a:lstStyle/>
          <a:p>
            <a:r>
              <a:rPr lang="en-US" dirty="0" smtClean="0"/>
              <a:t>A</a:t>
            </a:r>
            <a:r>
              <a:rPr lang="en-US" b="1" dirty="0" smtClean="0"/>
              <a:t> control break </a:t>
            </a:r>
            <a:r>
              <a:rPr lang="en-US" dirty="0" smtClean="0"/>
              <a:t>is a temporary detour in the logic of a program</a:t>
            </a:r>
          </a:p>
          <a:p>
            <a:pPr lvl="1"/>
            <a:r>
              <a:rPr lang="en-US" dirty="0" smtClean="0"/>
              <a:t>A </a:t>
            </a:r>
            <a:r>
              <a:rPr lang="en-US" b="1" dirty="0" smtClean="0"/>
              <a:t>control break </a:t>
            </a:r>
            <a:r>
              <a:rPr lang="en-US" b="1" dirty="0"/>
              <a:t>p</a:t>
            </a:r>
            <a:r>
              <a:rPr lang="en-US" b="1" dirty="0" smtClean="0"/>
              <a:t>rogram </a:t>
            </a:r>
            <a:r>
              <a:rPr lang="en-US" dirty="0" smtClean="0"/>
              <a:t>uses a change in a value to initiate special actions or processing</a:t>
            </a:r>
          </a:p>
          <a:p>
            <a:pPr lvl="1"/>
            <a:r>
              <a:rPr lang="en-US" dirty="0" smtClean="0"/>
              <a:t>A </a:t>
            </a:r>
            <a:r>
              <a:rPr lang="en-US" b="1" dirty="0" smtClean="0"/>
              <a:t>control break </a:t>
            </a:r>
            <a:r>
              <a:rPr lang="en-US" b="1" dirty="0"/>
              <a:t>r</a:t>
            </a:r>
            <a:r>
              <a:rPr lang="en-US" b="1" dirty="0" smtClean="0"/>
              <a:t>eport </a:t>
            </a:r>
            <a:r>
              <a:rPr lang="en-US" dirty="0" smtClean="0"/>
              <a:t>groups similar data together</a:t>
            </a:r>
          </a:p>
          <a:p>
            <a:pPr lvl="2"/>
            <a:r>
              <a:rPr lang="en-US" dirty="0" smtClean="0"/>
              <a:t>Input records must be in sequential order</a:t>
            </a:r>
            <a:endParaRPr lang="en-US" dirty="0"/>
          </a:p>
          <a:p>
            <a:pPr lvl="1"/>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19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Understanding </a:t>
            </a:r>
            <a:r>
              <a:rPr lang="en-US" dirty="0" smtClean="0"/>
              <a:t>Control </a:t>
            </a:r>
            <a:r>
              <a:rPr lang="en-US" dirty="0" smtClean="0"/>
              <a:t>Break Logic </a:t>
            </a:r>
            <a:r>
              <a:rPr lang="en-US" sz="1200" dirty="0" smtClean="0"/>
              <a:t>(</a:t>
            </a:r>
            <a:r>
              <a:rPr lang="en-US" sz="1200" dirty="0" smtClean="0"/>
              <a:t>continued -1)</a:t>
            </a:r>
            <a:endParaRPr lang="en-US" sz="1200" dirty="0" smtClean="0"/>
          </a:p>
        </p:txBody>
      </p:sp>
      <p:pic>
        <p:nvPicPr>
          <p:cNvPr id="4" name="Picture 3" descr="A control break report showing the total number of clients by state." title="A control break report with totals after each stat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9128" y="1664200"/>
            <a:ext cx="4925744" cy="4445588"/>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0637730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Understanding Control Break Logic </a:t>
            </a:r>
            <a:r>
              <a:rPr lang="en-US" sz="1200" dirty="0" smtClean="0"/>
              <a:t>(</a:t>
            </a:r>
            <a:r>
              <a:rPr lang="en-US" sz="1200" dirty="0" smtClean="0"/>
              <a:t>continued -2)</a:t>
            </a:r>
            <a:endParaRPr lang="en-US" sz="1200"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21</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9" name="Rectangle 3"/>
          <p:cNvSpPr>
            <a:spLocks noGrp="1" noChangeArrowheads="1"/>
          </p:cNvSpPr>
          <p:nvPr>
            <p:ph idx="1"/>
          </p:nvPr>
        </p:nvSpPr>
        <p:spPr>
          <a:xfrm>
            <a:off x="533400" y="1676400"/>
            <a:ext cx="8077200" cy="4572000"/>
          </a:xfrm>
        </p:spPr>
        <p:txBody>
          <a:bodyPr/>
          <a:lstStyle/>
          <a:p>
            <a:r>
              <a:rPr lang="en-US" dirty="0" smtClean="0"/>
              <a:t>Examples of control break reports</a:t>
            </a:r>
          </a:p>
          <a:p>
            <a:pPr lvl="1"/>
            <a:r>
              <a:rPr lang="en-US" dirty="0" smtClean="0"/>
              <a:t>All employees listed in order by department number, with a new page started for each department</a:t>
            </a:r>
          </a:p>
          <a:p>
            <a:pPr lvl="1"/>
            <a:r>
              <a:rPr lang="en-US" dirty="0" smtClean="0"/>
              <a:t>All books for sale in a bookstore listed in order by category (such as reference or self-help), with a count following each category of book</a:t>
            </a:r>
          </a:p>
          <a:p>
            <a:pPr lvl="1"/>
            <a:r>
              <a:rPr lang="en-US" dirty="0" smtClean="0"/>
              <a:t>All items sold in order by date of sale, with a different ink color for each new month</a:t>
            </a:r>
            <a:endParaRPr lang="en-US" b="1" dirty="0" smtClean="0"/>
          </a:p>
        </p:txBody>
      </p:sp>
    </p:spTree>
    <p:extLst>
      <p:ext uri="{BB962C8B-B14F-4D97-AF65-F5344CB8AC3E}">
        <p14:creationId xmlns:p14="http://schemas.microsoft.com/office/powerpoint/2010/main" val="4710819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Understanding Control Break Logic </a:t>
            </a:r>
            <a:r>
              <a:rPr lang="en-US" sz="1200" dirty="0" smtClean="0"/>
              <a:t>(</a:t>
            </a:r>
            <a:r>
              <a:rPr lang="en-US" sz="1200" dirty="0" smtClean="0"/>
              <a:t>continued -3)</a:t>
            </a:r>
            <a:endParaRPr lang="en-US" sz="1200" dirty="0" smtClean="0"/>
          </a:p>
        </p:txBody>
      </p:sp>
      <p:sp>
        <p:nvSpPr>
          <p:cNvPr id="23555" name="Content Placeholder 2"/>
          <p:cNvSpPr>
            <a:spLocks noGrp="1"/>
          </p:cNvSpPr>
          <p:nvPr>
            <p:ph idx="1"/>
          </p:nvPr>
        </p:nvSpPr>
        <p:spPr/>
        <p:txBody>
          <a:bodyPr/>
          <a:lstStyle/>
          <a:p>
            <a:r>
              <a:rPr lang="en-US" sz="3200" b="1" dirty="0"/>
              <a:t>Single-level control break</a:t>
            </a:r>
          </a:p>
          <a:p>
            <a:pPr lvl="1"/>
            <a:r>
              <a:rPr lang="en-US" dirty="0" smtClean="0"/>
              <a:t>A detour based on the value of a single variable</a:t>
            </a:r>
          </a:p>
          <a:p>
            <a:pPr lvl="1"/>
            <a:r>
              <a:rPr lang="en-US" dirty="0" smtClean="0"/>
              <a:t>Uses a </a:t>
            </a:r>
            <a:r>
              <a:rPr lang="en-US" b="1" dirty="0"/>
              <a:t>c</a:t>
            </a:r>
            <a:r>
              <a:rPr lang="en-US" b="1" dirty="0" smtClean="0"/>
              <a:t>ontrol </a:t>
            </a:r>
            <a:r>
              <a:rPr lang="en-US" b="1" dirty="0"/>
              <a:t>break </a:t>
            </a:r>
            <a:r>
              <a:rPr lang="en-US" b="1" dirty="0" smtClean="0"/>
              <a:t>field</a:t>
            </a:r>
            <a:r>
              <a:rPr lang="en-US" dirty="0" smtClean="0"/>
              <a:t> to hold the previous value</a:t>
            </a:r>
            <a:endParaRPr lang="en-US" dirty="0"/>
          </a:p>
          <a:p>
            <a:pPr lvl="1"/>
            <a:endParaRPr lang="en-US"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810040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228600" y="274638"/>
            <a:ext cx="3657600" cy="2011362"/>
          </a:xfrm>
        </p:spPr>
        <p:txBody>
          <a:bodyPr/>
          <a:lstStyle/>
          <a:p>
            <a:r>
              <a:rPr lang="en-US" dirty="0" smtClean="0"/>
              <a:t>Understanding Control Break Logic </a:t>
            </a:r>
            <a:r>
              <a:rPr lang="en-US" sz="1200" dirty="0" smtClean="0"/>
              <a:t>(</a:t>
            </a:r>
            <a:r>
              <a:rPr lang="en-US" sz="1200" dirty="0" smtClean="0"/>
              <a:t>continued -4)</a:t>
            </a:r>
            <a:endParaRPr lang="en-US" sz="1200" dirty="0" smtClean="0"/>
          </a:p>
        </p:txBody>
      </p:sp>
      <p:pic>
        <p:nvPicPr>
          <p:cNvPr id="4" name="Picture 3" descr="In the mainline logic, the control break variable oldState is declared. In the getReady module, the report headings are output, the file is opened, and the first record is read into memory. Then, the state value in the first record is copied to the oldState variable it initialize it." title="Mainline logic and getReady module for the program that produces clients by stat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2410" y="465142"/>
            <a:ext cx="4488180" cy="5891208"/>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3837919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228600" y="274638"/>
            <a:ext cx="3657600" cy="2011362"/>
          </a:xfrm>
        </p:spPr>
        <p:txBody>
          <a:bodyPr/>
          <a:lstStyle/>
          <a:p>
            <a:r>
              <a:rPr lang="en-US" dirty="0" smtClean="0"/>
              <a:t>Understanding Control Break Logic </a:t>
            </a:r>
            <a:r>
              <a:rPr lang="en-US" sz="1200" dirty="0" smtClean="0"/>
              <a:t>(</a:t>
            </a:r>
            <a:r>
              <a:rPr lang="en-US" sz="1200" dirty="0" smtClean="0"/>
              <a:t>continued -5)</a:t>
            </a:r>
            <a:endParaRPr lang="en-US" sz="1200" dirty="0" smtClean="0"/>
          </a:p>
        </p:txBody>
      </p:sp>
      <p:pic>
        <p:nvPicPr>
          <p:cNvPr id="4" name="Picture 3" descr="Within the produceReport module, the first task is to check whether state holds the same value as oldState. &#10;As long as each new record holds the same state value, you continue outputting, counting, and inputting, never pausing to output the count. Eventually, you will read in a client whose state is different from the previous one. That’s when the control break occurs." title="The produceReport() and controlBreak() modules for the program that produc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0" y="1143000"/>
            <a:ext cx="5105400" cy="5002434"/>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5658227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74638"/>
            <a:ext cx="8229600" cy="1143000"/>
          </a:xfrm>
        </p:spPr>
        <p:txBody>
          <a:bodyPr/>
          <a:lstStyle/>
          <a:p>
            <a:r>
              <a:rPr lang="en-US" dirty="0" smtClean="0"/>
              <a:t>Understanding Control Break Logic </a:t>
            </a:r>
            <a:r>
              <a:rPr lang="en-US" sz="1200" dirty="0" smtClean="0"/>
              <a:t>(</a:t>
            </a:r>
            <a:r>
              <a:rPr lang="en-US" sz="1200" dirty="0" smtClean="0"/>
              <a:t>continued -6)</a:t>
            </a:r>
            <a:endParaRPr lang="en-US" sz="1200" dirty="0" smtClean="0"/>
          </a:p>
        </p:txBody>
      </p:sp>
      <p:pic>
        <p:nvPicPr>
          <p:cNvPr id="4" name="Picture 3" descr="This module executes after processing the last record in a control break program. It must complete any required processing for the last group that was handled. In this case, the finishUp module must display the count for the last state that was processed and then close the input file and return to the main program to end." title="The finishUp() module for the program that produces clients by state repor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2057400"/>
            <a:ext cx="5867400" cy="2780852"/>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25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9523660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t>Merging Sequential Files</a:t>
            </a:r>
          </a:p>
        </p:txBody>
      </p:sp>
      <p:sp>
        <p:nvSpPr>
          <p:cNvPr id="24579" name="Content Placeholder 2"/>
          <p:cNvSpPr>
            <a:spLocks noGrp="1"/>
          </p:cNvSpPr>
          <p:nvPr>
            <p:ph idx="1"/>
          </p:nvPr>
        </p:nvSpPr>
        <p:spPr/>
        <p:txBody>
          <a:bodyPr/>
          <a:lstStyle/>
          <a:p>
            <a:r>
              <a:rPr lang="en-US" b="1" dirty="0"/>
              <a:t>Merging files	</a:t>
            </a:r>
          </a:p>
          <a:p>
            <a:pPr lvl="1"/>
            <a:r>
              <a:rPr lang="en-US" dirty="0"/>
              <a:t>Combining two or more files while maintaining the sequential </a:t>
            </a:r>
            <a:r>
              <a:rPr lang="en-US" dirty="0" smtClean="0"/>
              <a:t>order or the records</a:t>
            </a:r>
            <a:endParaRPr lang="en-US" dirty="0"/>
          </a:p>
          <a:p>
            <a:r>
              <a:rPr lang="en-US" dirty="0"/>
              <a:t>Examples </a:t>
            </a:r>
          </a:p>
          <a:p>
            <a:pPr lvl="1"/>
            <a:r>
              <a:rPr lang="en-US" dirty="0" smtClean="0"/>
              <a:t>A file </a:t>
            </a:r>
            <a:r>
              <a:rPr lang="en-US" dirty="0"/>
              <a:t>of current employees in ID number </a:t>
            </a:r>
            <a:r>
              <a:rPr lang="en-US" dirty="0" smtClean="0"/>
              <a:t>order, </a:t>
            </a:r>
            <a:r>
              <a:rPr lang="en-US" dirty="0"/>
              <a:t>and a file of newly hired </a:t>
            </a:r>
            <a:r>
              <a:rPr lang="en-US" dirty="0" smtClean="0"/>
              <a:t>employees </a:t>
            </a:r>
            <a:r>
              <a:rPr lang="en-US" dirty="0"/>
              <a:t>also in ID number order</a:t>
            </a:r>
          </a:p>
          <a:p>
            <a:pPr lvl="1"/>
            <a:r>
              <a:rPr lang="en-US" dirty="0" smtClean="0"/>
              <a:t>A file </a:t>
            </a:r>
            <a:r>
              <a:rPr lang="en-US" dirty="0"/>
              <a:t>of parts manufactured in the Northside factory in part-number </a:t>
            </a:r>
            <a:r>
              <a:rPr lang="en-US" dirty="0" smtClean="0"/>
              <a:t>order, </a:t>
            </a:r>
            <a:r>
              <a:rPr lang="en-US" dirty="0"/>
              <a:t>and a file of parts manufactured in the Southside </a:t>
            </a:r>
            <a:r>
              <a:rPr lang="en-US" dirty="0" smtClean="0"/>
              <a:t>factory </a:t>
            </a:r>
            <a:r>
              <a:rPr lang="en-US" dirty="0"/>
              <a:t>also in part-number order</a:t>
            </a:r>
          </a:p>
        </p:txBody>
      </p:sp>
      <p:sp>
        <p:nvSpPr>
          <p:cNvPr id="5" name="Slide Number Placeholder 4"/>
          <p:cNvSpPr>
            <a:spLocks noGrp="1"/>
          </p:cNvSpPr>
          <p:nvPr>
            <p:ph type="sldNum" sz="quarter" idx="10"/>
          </p:nvPr>
        </p:nvSpPr>
        <p:spPr/>
        <p:txBody>
          <a:bodyPr/>
          <a:lstStyle/>
          <a:p>
            <a:pPr>
              <a:defRPr/>
            </a:pPr>
            <a:fld id="{95A5FCC0-5251-4FC4-B646-20B416B8B42D}" type="slidenum">
              <a:rPr lang="en-US"/>
              <a:pPr>
                <a:defRPr/>
              </a:pPr>
              <a:t>26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8229600" cy="1143000"/>
          </a:xfrm>
        </p:spPr>
        <p:txBody>
          <a:bodyPr/>
          <a:lstStyle/>
          <a:p>
            <a:r>
              <a:rPr lang="en-US" dirty="0"/>
              <a:t>Merging Sequential </a:t>
            </a:r>
            <a:r>
              <a:rPr lang="en-US" dirty="0" smtClean="0"/>
              <a:t>Files </a:t>
            </a:r>
            <a:r>
              <a:rPr lang="en-US" sz="1200" dirty="0" smtClean="0"/>
              <a:t>(</a:t>
            </a:r>
            <a:r>
              <a:rPr lang="en-US" sz="1200" dirty="0" smtClean="0"/>
              <a:t>continued -1)</a:t>
            </a:r>
            <a:endParaRPr lang="en-US" sz="1200" dirty="0" smtClean="0"/>
          </a:p>
        </p:txBody>
      </p:sp>
      <p:sp>
        <p:nvSpPr>
          <p:cNvPr id="25603" name="Content Placeholder 2"/>
          <p:cNvSpPr>
            <a:spLocks noGrp="1"/>
          </p:cNvSpPr>
          <p:nvPr>
            <p:ph idx="1"/>
          </p:nvPr>
        </p:nvSpPr>
        <p:spPr/>
        <p:txBody>
          <a:bodyPr/>
          <a:lstStyle/>
          <a:p>
            <a:r>
              <a:rPr lang="en-US" dirty="0"/>
              <a:t>Two conditions required for merging files</a:t>
            </a:r>
          </a:p>
          <a:p>
            <a:pPr lvl="1"/>
            <a:r>
              <a:rPr lang="en-US" dirty="0"/>
              <a:t>Each file has </a:t>
            </a:r>
            <a:r>
              <a:rPr lang="en-US" dirty="0" smtClean="0"/>
              <a:t>the same </a:t>
            </a:r>
            <a:r>
              <a:rPr lang="en-US" dirty="0"/>
              <a:t>record layout</a:t>
            </a:r>
          </a:p>
          <a:p>
            <a:pPr lvl="1"/>
            <a:r>
              <a:rPr lang="en-US" dirty="0"/>
              <a:t>Sorted in the same order based on the same field</a:t>
            </a:r>
          </a:p>
          <a:p>
            <a:pPr marL="914400" lvl="2" indent="0">
              <a:buNone/>
            </a:pPr>
            <a:endParaRPr lang="en-US" dirty="0" smtClean="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27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8229600" cy="1143000"/>
          </a:xfrm>
        </p:spPr>
        <p:txBody>
          <a:bodyPr/>
          <a:lstStyle/>
          <a:p>
            <a:r>
              <a:rPr lang="en-US" dirty="0"/>
              <a:t>Merging Sequential </a:t>
            </a:r>
            <a:r>
              <a:rPr lang="en-US" dirty="0" smtClean="0"/>
              <a:t>Files </a:t>
            </a:r>
            <a:r>
              <a:rPr lang="en-US" sz="1200" dirty="0" smtClean="0"/>
              <a:t>(</a:t>
            </a:r>
            <a:r>
              <a:rPr lang="en-US" sz="1200" dirty="0" smtClean="0"/>
              <a:t>continued -2)</a:t>
            </a:r>
            <a:endParaRPr lang="en-US" sz="1200" dirty="0" smtClean="0"/>
          </a:p>
        </p:txBody>
      </p:sp>
      <p:pic>
        <p:nvPicPr>
          <p:cNvPr id="3" name="Picture 2" descr="A business has two locations, one on the East Coast and one on the West Coast, and each location maintains a customer file in alphabetical order by&#10;customer name. Each file contains fields for name and customer balance." title="Sample data contained in two customer fil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2242155"/>
            <a:ext cx="4095288" cy="2450290"/>
          </a:xfrm>
          <a:prstGeom prst="rect">
            <a:avLst/>
          </a:prstGeom>
        </p:spPr>
      </p:pic>
      <p:pic>
        <p:nvPicPr>
          <p:cNvPr id="7" name="Picture 6" descr="This is the merged customer file contianing both West Coast and East Coast customer information in aphabetic order by customer name." title="Merged customer file"/>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5400" y="2242155"/>
            <a:ext cx="3429000" cy="3751729"/>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28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2119178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8229600" cy="1143000"/>
          </a:xfrm>
        </p:spPr>
        <p:txBody>
          <a:bodyPr/>
          <a:lstStyle/>
          <a:p>
            <a:r>
              <a:rPr lang="en-US" dirty="0"/>
              <a:t>Merging Sequential </a:t>
            </a:r>
            <a:r>
              <a:rPr lang="en-US" dirty="0" smtClean="0"/>
              <a:t>Files </a:t>
            </a:r>
            <a:r>
              <a:rPr lang="en-US" sz="1200" dirty="0" smtClean="0"/>
              <a:t>(</a:t>
            </a:r>
            <a:r>
              <a:rPr lang="en-US" sz="1200" dirty="0" smtClean="0"/>
              <a:t>continued -3)</a:t>
            </a:r>
            <a:endParaRPr lang="en-US" sz="1200" dirty="0" smtClean="0"/>
          </a:p>
        </p:txBody>
      </p:sp>
      <p:sp>
        <p:nvSpPr>
          <p:cNvPr id="25603" name="Content Placeholder 2"/>
          <p:cNvSpPr>
            <a:spLocks noGrp="1"/>
          </p:cNvSpPr>
          <p:nvPr>
            <p:ph idx="1"/>
          </p:nvPr>
        </p:nvSpPr>
        <p:spPr/>
        <p:txBody>
          <a:bodyPr/>
          <a:lstStyle/>
          <a:p>
            <a:r>
              <a:rPr lang="en-US" dirty="0"/>
              <a:t>Mainline logic similar to other file-processing programs, except for handling two files</a:t>
            </a:r>
          </a:p>
          <a:p>
            <a:r>
              <a:rPr lang="en-US" dirty="0"/>
              <a:t>With two input files, must determine when both files are at </a:t>
            </a:r>
            <a:r>
              <a:rPr lang="en-US" dirty="0" err="1">
                <a:latin typeface="Courier New" pitchFamily="49" charset="0"/>
                <a:cs typeface="Courier New" pitchFamily="49" charset="0"/>
              </a:rPr>
              <a:t>eof</a:t>
            </a:r>
            <a:endParaRPr lang="en-US" dirty="0">
              <a:latin typeface="Courier New" pitchFamily="49" charset="0"/>
              <a:cs typeface="Courier New" pitchFamily="49" charset="0"/>
            </a:endParaRPr>
          </a:p>
          <a:p>
            <a:pPr lvl="1"/>
            <a:r>
              <a:rPr lang="en-US" dirty="0"/>
              <a:t>Define a flag variable to indicate that both files have reached </a:t>
            </a:r>
            <a:r>
              <a:rPr lang="en-US" dirty="0" err="1">
                <a:latin typeface="Courier New" pitchFamily="49" charset="0"/>
                <a:cs typeface="Courier New" pitchFamily="49" charset="0"/>
              </a:rPr>
              <a:t>eof</a:t>
            </a:r>
            <a:endParaRPr lang="en-US" dirty="0">
              <a:latin typeface="Courier New" pitchFamily="49" charset="0"/>
              <a:cs typeface="Courier New" pitchFamily="49" charset="0"/>
            </a:endParaRPr>
          </a:p>
          <a:p>
            <a:pPr lvl="1"/>
            <a:r>
              <a:rPr lang="en-US" dirty="0"/>
              <a:t>Must define two input files</a:t>
            </a:r>
          </a:p>
          <a:p>
            <a:pPr lvl="1"/>
            <a:r>
              <a:rPr lang="en-US" dirty="0"/>
              <a:t>Read one record from each input file</a:t>
            </a:r>
            <a:endParaRPr lang="en-US" dirty="0"/>
          </a:p>
        </p:txBody>
      </p:sp>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29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0325947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8229600" cy="1143000"/>
          </a:xfrm>
        </p:spPr>
        <p:txBody>
          <a:bodyPr/>
          <a:lstStyle/>
          <a:p>
            <a:r>
              <a:rPr lang="en-US" dirty="0"/>
              <a:t>Merging Sequential </a:t>
            </a:r>
            <a:r>
              <a:rPr lang="en-US" dirty="0" smtClean="0"/>
              <a:t>Files </a:t>
            </a:r>
            <a:r>
              <a:rPr lang="en-US" sz="1200" dirty="0" smtClean="0"/>
              <a:t>(</a:t>
            </a:r>
            <a:r>
              <a:rPr lang="en-US" sz="1200" dirty="0" smtClean="0"/>
              <a:t>continued -4)</a:t>
            </a:r>
            <a:endParaRPr lang="en-US" sz="1200" dirty="0" smtClean="0"/>
          </a:p>
        </p:txBody>
      </p:sp>
      <p:pic>
        <p:nvPicPr>
          <p:cNvPr id="2" name="Picture 1" descr="The main logic contains preliminary, housekeeping tasks; a detail module that repeats until the end of the program; and some clean-up, end-of-job tasks.&#10;In a program that merges two input files, the program can’t end until both input files have all their records read." title="Mainline logic of a program that merges fil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3530" y="1417638"/>
            <a:ext cx="4972139" cy="4938712"/>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3077335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3200400" cy="2925762"/>
          </a:xfrm>
        </p:spPr>
        <p:txBody>
          <a:bodyPr/>
          <a:lstStyle/>
          <a:p>
            <a:r>
              <a:rPr lang="en-US" dirty="0"/>
              <a:t>Merging Sequential </a:t>
            </a:r>
            <a:r>
              <a:rPr lang="en-US" dirty="0" smtClean="0"/>
              <a:t>Files </a:t>
            </a:r>
            <a:r>
              <a:rPr lang="en-US" sz="1200" dirty="0" smtClean="0"/>
              <a:t>(</a:t>
            </a:r>
            <a:r>
              <a:rPr lang="en-US" sz="1200" dirty="0" smtClean="0"/>
              <a:t>continued -5)</a:t>
            </a:r>
            <a:endParaRPr lang="en-US" sz="1200" dirty="0" smtClean="0"/>
          </a:p>
        </p:txBody>
      </p:sp>
      <p:pic>
        <p:nvPicPr>
          <p:cNvPr id="3" name="Picture 2" descr="The getReady module for the file merging program opens three files—the input files for the east and west customers, and an output file in which to place the merged records." title="The getReady method for a program that merges files, and the methods it calls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3981" y="504637"/>
            <a:ext cx="4131638" cy="6034275"/>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31</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004386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3200400" cy="2925762"/>
          </a:xfrm>
        </p:spPr>
        <p:txBody>
          <a:bodyPr/>
          <a:lstStyle/>
          <a:p>
            <a:r>
              <a:rPr lang="en-US" dirty="0"/>
              <a:t>Merging Sequential </a:t>
            </a:r>
            <a:r>
              <a:rPr lang="en-US" dirty="0" smtClean="0"/>
              <a:t>Files </a:t>
            </a:r>
            <a:r>
              <a:rPr lang="en-US" sz="1200" dirty="0" smtClean="0"/>
              <a:t>(</a:t>
            </a:r>
            <a:r>
              <a:rPr lang="en-US" sz="1200" dirty="0" smtClean="0"/>
              <a:t>continued -6)</a:t>
            </a:r>
            <a:endParaRPr lang="en-US" sz="1200" dirty="0" smtClean="0"/>
          </a:p>
        </p:txBody>
      </p:sp>
      <p:pic>
        <p:nvPicPr>
          <p:cNvPr id="4" name="Picture 3" descr="The program then reads one record from each input file. If either file has reached its end, the END_NAME constant is assigned to the variable that holds the file’s customer name." title="The getReady method for a program that merges files, and the methods it call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990600"/>
            <a:ext cx="5156438" cy="4688459"/>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32</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973800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7924800" cy="1554162"/>
          </a:xfrm>
        </p:spPr>
        <p:txBody>
          <a:bodyPr/>
          <a:lstStyle/>
          <a:p>
            <a:r>
              <a:rPr lang="en-US" dirty="0"/>
              <a:t>Merging Sequential </a:t>
            </a:r>
            <a:r>
              <a:rPr lang="en-US" dirty="0" smtClean="0"/>
              <a:t>Files </a:t>
            </a:r>
            <a:r>
              <a:rPr lang="en-US" sz="1200" dirty="0" smtClean="0"/>
              <a:t>(</a:t>
            </a:r>
            <a:r>
              <a:rPr lang="en-US" sz="1200" dirty="0" smtClean="0"/>
              <a:t>continued -7)</a:t>
            </a:r>
            <a:endParaRPr lang="en-US" sz="1200" dirty="0" smtClean="0"/>
          </a:p>
        </p:txBody>
      </p:sp>
      <p:pic>
        <p:nvPicPr>
          <p:cNvPr id="4" name="Picture 3" descr="Two records—one from eastFile and one from westFile—are sitting in the memory of the computer. One of these records needs to be written to the new output file&#10;first. Since the new file needs to store records in alphabetical order, first output the input record that has the lower alphabetical value in the name field." title="Start of merging proce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8300" y="1828800"/>
            <a:ext cx="5257800" cy="3994161"/>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8107228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7924800" cy="1554162"/>
          </a:xfrm>
        </p:spPr>
        <p:txBody>
          <a:bodyPr/>
          <a:lstStyle/>
          <a:p>
            <a:r>
              <a:rPr lang="en-US" dirty="0"/>
              <a:t>Merging Sequential </a:t>
            </a:r>
            <a:r>
              <a:rPr lang="en-US" dirty="0" smtClean="0"/>
              <a:t>Files </a:t>
            </a:r>
            <a:r>
              <a:rPr lang="en-US" sz="1200" dirty="0" smtClean="0"/>
              <a:t>(</a:t>
            </a:r>
            <a:r>
              <a:rPr lang="en-US" sz="1200" dirty="0" smtClean="0"/>
              <a:t>continued -8)</a:t>
            </a:r>
            <a:endParaRPr lang="en-US" sz="1200" dirty="0" smtClean="0"/>
          </a:p>
        </p:txBody>
      </p:sp>
      <p:pic>
        <p:nvPicPr>
          <p:cNvPr id="2" name="Picture 1" descr="The merging method proceeds like this: compare two records, write the record with the lower alphabetical name, and read another record from the same input file." title="Continuation of merging proce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5500" y="1600200"/>
            <a:ext cx="4343400" cy="4576995"/>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362086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274638"/>
            <a:ext cx="7924800" cy="1554162"/>
          </a:xfrm>
        </p:spPr>
        <p:txBody>
          <a:bodyPr/>
          <a:lstStyle/>
          <a:p>
            <a:r>
              <a:rPr lang="en-US" dirty="0"/>
              <a:t>Merging Sequential </a:t>
            </a:r>
            <a:r>
              <a:rPr lang="en-US" dirty="0" smtClean="0"/>
              <a:t>Files </a:t>
            </a:r>
            <a:r>
              <a:rPr lang="en-US" sz="1200" dirty="0" smtClean="0"/>
              <a:t>(</a:t>
            </a:r>
            <a:r>
              <a:rPr lang="en-US" sz="1200" dirty="0" smtClean="0"/>
              <a:t>continued -9)</a:t>
            </a:r>
            <a:endParaRPr lang="en-US" sz="1200" dirty="0" smtClean="0"/>
          </a:p>
        </p:txBody>
      </p:sp>
      <p:pic>
        <p:nvPicPr>
          <p:cNvPr id="3" name="Picture 2" descr="When both input files are at their end, the loop is finished, the files are closed, and the program ends." title="The mergeRecords and finishUp modules for the file-merging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00300" y="1600200"/>
            <a:ext cx="3733800" cy="4562139"/>
          </a:xfrm>
          <a:prstGeom prst="rect">
            <a:avLst/>
          </a:prstGeom>
        </p:spPr>
      </p:pic>
      <p:sp>
        <p:nvSpPr>
          <p:cNvPr id="5" name="Slide Number Placeholder 4"/>
          <p:cNvSpPr>
            <a:spLocks noGrp="1"/>
          </p:cNvSpPr>
          <p:nvPr>
            <p:ph type="sldNum" sz="quarter" idx="10"/>
          </p:nvPr>
        </p:nvSpPr>
        <p:spPr/>
        <p:txBody>
          <a:bodyPr/>
          <a:lstStyle/>
          <a:p>
            <a:pPr>
              <a:defRPr/>
            </a:pPr>
            <a:fld id="{C57F26EC-7F26-4657-9EA6-3AFB5094F8DE}" type="slidenum">
              <a:rPr lang="en-US"/>
              <a:pPr>
                <a:defRPr/>
              </a:pPr>
              <a:t>35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149544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smtClean="0"/>
              <a:t>Master and Transaction File Processing</a:t>
            </a:r>
          </a:p>
        </p:txBody>
      </p:sp>
      <p:sp>
        <p:nvSpPr>
          <p:cNvPr id="28675" name="Content Placeholder 2"/>
          <p:cNvSpPr>
            <a:spLocks noGrp="1"/>
          </p:cNvSpPr>
          <p:nvPr>
            <p:ph idx="1"/>
          </p:nvPr>
        </p:nvSpPr>
        <p:spPr/>
        <p:txBody>
          <a:bodyPr/>
          <a:lstStyle/>
          <a:p>
            <a:r>
              <a:rPr lang="en-US" dirty="0"/>
              <a:t>Some related files have a master-transaction relationship </a:t>
            </a:r>
          </a:p>
          <a:p>
            <a:r>
              <a:rPr lang="en-US" b="1" dirty="0"/>
              <a:t>Master file</a:t>
            </a:r>
          </a:p>
          <a:p>
            <a:pPr lvl="1"/>
            <a:r>
              <a:rPr lang="en-US" dirty="0"/>
              <a:t>Holds </a:t>
            </a:r>
            <a:r>
              <a:rPr lang="en-US" dirty="0" smtClean="0"/>
              <a:t>complete and relatively </a:t>
            </a:r>
            <a:r>
              <a:rPr lang="en-US" dirty="0"/>
              <a:t>permanent data</a:t>
            </a:r>
          </a:p>
          <a:p>
            <a:r>
              <a:rPr lang="en-US" b="1" dirty="0"/>
              <a:t>Transaction file</a:t>
            </a:r>
          </a:p>
          <a:p>
            <a:pPr lvl="1"/>
            <a:r>
              <a:rPr lang="en-US" dirty="0"/>
              <a:t>Contains temporary data to be used to update the master file</a:t>
            </a:r>
          </a:p>
          <a:p>
            <a:r>
              <a:rPr lang="en-US" b="1" dirty="0"/>
              <a:t>Update the master </a:t>
            </a:r>
            <a:r>
              <a:rPr lang="en-US" b="1" dirty="0" smtClean="0"/>
              <a:t>file</a:t>
            </a:r>
          </a:p>
          <a:p>
            <a:pPr lvl="1"/>
            <a:r>
              <a:rPr lang="en-US" dirty="0"/>
              <a:t>Changes to values in its fields based on transactions</a:t>
            </a:r>
          </a:p>
        </p:txBody>
      </p:sp>
      <p:sp>
        <p:nvSpPr>
          <p:cNvPr id="5" name="Slide Number Placeholder 4"/>
          <p:cNvSpPr>
            <a:spLocks noGrp="1"/>
          </p:cNvSpPr>
          <p:nvPr>
            <p:ph type="sldNum" sz="quarter" idx="10"/>
          </p:nvPr>
        </p:nvSpPr>
        <p:spPr/>
        <p:txBody>
          <a:bodyPr/>
          <a:lstStyle/>
          <a:p>
            <a:pPr>
              <a:defRPr/>
            </a:pPr>
            <a:fld id="{B55FB7EC-A771-47DB-B891-1538C2AA7AC0}" type="slidenum">
              <a:rPr lang="en-US"/>
              <a:pPr>
                <a:defRPr/>
              </a:pPr>
              <a:t>36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Master and Transaction File </a:t>
            </a:r>
            <a:r>
              <a:rPr lang="en-US" dirty="0" smtClean="0"/>
              <a:t>Processing </a:t>
            </a:r>
            <a:r>
              <a:rPr lang="en-US" sz="1200" dirty="0" smtClean="0"/>
              <a:t>(</a:t>
            </a:r>
            <a:r>
              <a:rPr lang="en-US" sz="1200" dirty="0" smtClean="0"/>
              <a:t>continued -1)</a:t>
            </a:r>
            <a:endParaRPr lang="en-US" sz="1200" dirty="0" smtClean="0"/>
          </a:p>
        </p:txBody>
      </p:sp>
      <p:sp>
        <p:nvSpPr>
          <p:cNvPr id="29699" name="Content Placeholder 2"/>
          <p:cNvSpPr>
            <a:spLocks noGrp="1"/>
          </p:cNvSpPr>
          <p:nvPr>
            <p:ph idx="1"/>
          </p:nvPr>
        </p:nvSpPr>
        <p:spPr/>
        <p:txBody>
          <a:bodyPr/>
          <a:lstStyle/>
          <a:p>
            <a:r>
              <a:rPr lang="en-US" dirty="0"/>
              <a:t>Examples</a:t>
            </a:r>
          </a:p>
          <a:p>
            <a:pPr lvl="1"/>
            <a:r>
              <a:rPr lang="en-US" dirty="0" smtClean="0"/>
              <a:t>A library </a:t>
            </a:r>
            <a:r>
              <a:rPr lang="en-US" dirty="0"/>
              <a:t>maintains a master file of all patrons and a transaction file with information about each book or other items checked out</a:t>
            </a:r>
          </a:p>
          <a:p>
            <a:pPr lvl="1"/>
            <a:r>
              <a:rPr lang="en-US" dirty="0"/>
              <a:t>A college maintains a master file of all students and a transaction file for each course registration</a:t>
            </a:r>
          </a:p>
          <a:p>
            <a:pPr lvl="1"/>
            <a:r>
              <a:rPr lang="en-US" dirty="0"/>
              <a:t>A telephone company maintains a master file </a:t>
            </a:r>
            <a:r>
              <a:rPr lang="en-US" dirty="0" smtClean="0"/>
              <a:t>of </a:t>
            </a:r>
            <a:r>
              <a:rPr lang="en-US" dirty="0"/>
              <a:t>every telephone line (number) and a transaction file with information about every call</a:t>
            </a:r>
          </a:p>
        </p:txBody>
      </p:sp>
      <p:sp>
        <p:nvSpPr>
          <p:cNvPr id="5" name="Slide Number Placeholder 4"/>
          <p:cNvSpPr>
            <a:spLocks noGrp="1"/>
          </p:cNvSpPr>
          <p:nvPr>
            <p:ph type="sldNum" sz="quarter" idx="10"/>
          </p:nvPr>
        </p:nvSpPr>
        <p:spPr/>
        <p:txBody>
          <a:bodyPr/>
          <a:lstStyle/>
          <a:p>
            <a:pPr>
              <a:defRPr/>
            </a:pPr>
            <a:fld id="{3BA96C55-7721-461F-9096-C1AC28E903C0}" type="slidenum">
              <a:rPr lang="en-US"/>
              <a:pPr>
                <a:defRPr/>
              </a:pPr>
              <a:t>37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Master and Transaction File </a:t>
            </a:r>
            <a:r>
              <a:rPr lang="en-US" dirty="0" smtClean="0"/>
              <a:t>Processing </a:t>
            </a:r>
            <a:r>
              <a:rPr lang="en-US" sz="1200" dirty="0" smtClean="0"/>
              <a:t>(</a:t>
            </a:r>
            <a:r>
              <a:rPr lang="en-US" sz="1200" dirty="0" smtClean="0"/>
              <a:t>continued -2)</a:t>
            </a:r>
            <a:endParaRPr lang="en-US" sz="1200" dirty="0" smtClean="0"/>
          </a:p>
        </p:txBody>
      </p:sp>
      <p:sp>
        <p:nvSpPr>
          <p:cNvPr id="29699" name="Content Placeholder 2"/>
          <p:cNvSpPr>
            <a:spLocks noGrp="1"/>
          </p:cNvSpPr>
          <p:nvPr>
            <p:ph idx="1"/>
          </p:nvPr>
        </p:nvSpPr>
        <p:spPr/>
        <p:txBody>
          <a:bodyPr/>
          <a:lstStyle/>
          <a:p>
            <a:r>
              <a:rPr lang="en-US" dirty="0"/>
              <a:t>Updating approaches</a:t>
            </a:r>
          </a:p>
          <a:p>
            <a:pPr lvl="1"/>
            <a:r>
              <a:rPr lang="en-US" dirty="0"/>
              <a:t>Change information in master file</a:t>
            </a:r>
          </a:p>
          <a:p>
            <a:pPr lvl="1"/>
            <a:r>
              <a:rPr lang="en-US" dirty="0"/>
              <a:t>Copy master file and change new version</a:t>
            </a:r>
          </a:p>
          <a:p>
            <a:r>
              <a:rPr lang="en-US" dirty="0"/>
              <a:t>Begin with both files sorted in the same order on the same field</a:t>
            </a:r>
          </a:p>
        </p:txBody>
      </p:sp>
      <p:sp>
        <p:nvSpPr>
          <p:cNvPr id="5" name="Slide Number Placeholder 4"/>
          <p:cNvSpPr>
            <a:spLocks noGrp="1"/>
          </p:cNvSpPr>
          <p:nvPr>
            <p:ph type="sldNum" sz="quarter" idx="10"/>
          </p:nvPr>
        </p:nvSpPr>
        <p:spPr/>
        <p:txBody>
          <a:bodyPr/>
          <a:lstStyle/>
          <a:p>
            <a:pPr>
              <a:defRPr/>
            </a:pPr>
            <a:fld id="{3BA96C55-7721-461F-9096-C1AC28E903C0}" type="slidenum">
              <a:rPr lang="en-US"/>
              <a:pPr>
                <a:defRPr/>
              </a:pPr>
              <a:t>38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1110964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8600" y="457200"/>
            <a:ext cx="2912334" cy="3200400"/>
          </a:xfrm>
        </p:spPr>
        <p:txBody>
          <a:bodyPr/>
          <a:lstStyle/>
          <a:p>
            <a:r>
              <a:rPr lang="en-US" dirty="0"/>
              <a:t>Master and Transaction File </a:t>
            </a:r>
            <a:r>
              <a:rPr lang="en-US" dirty="0" smtClean="0"/>
              <a:t>Processing </a:t>
            </a:r>
            <a:r>
              <a:rPr lang="en-US" sz="1200" dirty="0" smtClean="0"/>
              <a:t>(</a:t>
            </a:r>
            <a:r>
              <a:rPr lang="en-US" sz="1200" dirty="0" smtClean="0"/>
              <a:t>continued -3)</a:t>
            </a:r>
            <a:endParaRPr lang="en-US" sz="1200" dirty="0" smtClean="0"/>
          </a:p>
        </p:txBody>
      </p:sp>
      <p:pic>
        <p:nvPicPr>
          <p:cNvPr id="4" name="Picture 3" descr="The mainline logic for a program that matches a master file and a transaction file." title="Mainline logic for the master-transaction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5200" y="1066800"/>
            <a:ext cx="4796790" cy="4949964"/>
          </a:xfrm>
          <a:prstGeom prst="rect">
            <a:avLst/>
          </a:prstGeom>
        </p:spPr>
      </p:pic>
      <p:sp>
        <p:nvSpPr>
          <p:cNvPr id="5" name="Slide Number Placeholder 4"/>
          <p:cNvSpPr>
            <a:spLocks noGrp="1"/>
          </p:cNvSpPr>
          <p:nvPr>
            <p:ph type="sldNum" sz="quarter" idx="10"/>
          </p:nvPr>
        </p:nvSpPr>
        <p:spPr/>
        <p:txBody>
          <a:bodyPr/>
          <a:lstStyle/>
          <a:p>
            <a:pPr>
              <a:defRPr/>
            </a:pPr>
            <a:fld id="{59272525-3831-405D-96AB-561C576A3D69}" type="slidenum">
              <a:rPr lang="en-US"/>
              <a:pPr>
                <a:defRPr/>
              </a:pPr>
              <a:t>39</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8600" y="457200"/>
            <a:ext cx="2912334" cy="2895600"/>
          </a:xfrm>
        </p:spPr>
        <p:txBody>
          <a:bodyPr/>
          <a:lstStyle/>
          <a:p>
            <a:r>
              <a:rPr lang="en-US" dirty="0"/>
              <a:t>Master and Transaction File </a:t>
            </a:r>
            <a:r>
              <a:rPr lang="en-US" dirty="0" smtClean="0"/>
              <a:t>Processing </a:t>
            </a:r>
            <a:r>
              <a:rPr lang="en-US" sz="1200" dirty="0" smtClean="0"/>
              <a:t>(</a:t>
            </a:r>
            <a:r>
              <a:rPr lang="en-US" sz="1200" dirty="0" smtClean="0"/>
              <a:t>continued -4)</a:t>
            </a:r>
            <a:endParaRPr lang="en-US" sz="1200" dirty="0" smtClean="0"/>
          </a:p>
        </p:txBody>
      </p:sp>
      <p:pic>
        <p:nvPicPr>
          <p:cNvPr id="4" name="Picture 3" descr="When the program begins, one record is read from each file." title="The housekeeping module for the master-transaction program, and the modules it calls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4334" y="454742"/>
            <a:ext cx="4411980" cy="6072961"/>
          </a:xfrm>
          <a:prstGeom prst="rect">
            <a:avLst/>
          </a:prstGeom>
        </p:spPr>
      </p:pic>
      <p:sp>
        <p:nvSpPr>
          <p:cNvPr id="5" name="Slide Number Placeholder 4"/>
          <p:cNvSpPr>
            <a:spLocks noGrp="1"/>
          </p:cNvSpPr>
          <p:nvPr>
            <p:ph type="sldNum" sz="quarter" idx="10"/>
          </p:nvPr>
        </p:nvSpPr>
        <p:spPr/>
        <p:txBody>
          <a:bodyPr/>
          <a:lstStyle/>
          <a:p>
            <a:pPr>
              <a:defRPr/>
            </a:pPr>
            <a:fld id="{59272525-3831-405D-96AB-561C576A3D69}" type="slidenum">
              <a:rPr lang="en-US"/>
              <a:pPr>
                <a:defRPr/>
              </a:pPr>
              <a:t>40</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0752711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8600" y="457200"/>
            <a:ext cx="2912334" cy="2895600"/>
          </a:xfrm>
        </p:spPr>
        <p:txBody>
          <a:bodyPr/>
          <a:lstStyle/>
          <a:p>
            <a:r>
              <a:rPr lang="en-US" dirty="0"/>
              <a:t>Master and Transaction File </a:t>
            </a:r>
            <a:r>
              <a:rPr lang="en-US" dirty="0" smtClean="0"/>
              <a:t>Processing </a:t>
            </a:r>
            <a:r>
              <a:rPr lang="en-US" sz="1200" dirty="0" smtClean="0"/>
              <a:t>(</a:t>
            </a:r>
            <a:r>
              <a:rPr lang="en-US" sz="1200" dirty="0" smtClean="0"/>
              <a:t>continued -5)</a:t>
            </a:r>
            <a:endParaRPr lang="en-US" sz="1200" dirty="0" smtClean="0"/>
          </a:p>
        </p:txBody>
      </p:sp>
      <p:pic>
        <p:nvPicPr>
          <p:cNvPr id="4" name="Picture 3" descr="When any file ends, the field used for matching is set to a high numeric value, 9999, and when both files end, a flag variable is set so the mainline logic can test for the end of processing. The assumption is that 9999 is higher than any valid customer number." title="The housekeeping module for the master-transaction program, and the module it call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24972" y="457200"/>
            <a:ext cx="5389656" cy="5507413"/>
          </a:xfrm>
          <a:prstGeom prst="rect">
            <a:avLst/>
          </a:prstGeom>
        </p:spPr>
      </p:pic>
      <p:sp>
        <p:nvSpPr>
          <p:cNvPr id="5" name="Slide Number Placeholder 4"/>
          <p:cNvSpPr>
            <a:spLocks noGrp="1"/>
          </p:cNvSpPr>
          <p:nvPr>
            <p:ph type="sldNum" sz="quarter" idx="10"/>
          </p:nvPr>
        </p:nvSpPr>
        <p:spPr/>
        <p:txBody>
          <a:bodyPr/>
          <a:lstStyle/>
          <a:p>
            <a:pPr>
              <a:defRPr/>
            </a:pPr>
            <a:fld id="{59272525-3831-405D-96AB-561C576A3D69}" type="slidenum">
              <a:rPr lang="en-US"/>
              <a:pPr>
                <a:defRPr/>
              </a:pPr>
              <a:t>41</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3382755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8600" y="457200"/>
            <a:ext cx="2912334" cy="2895600"/>
          </a:xfrm>
        </p:spPr>
        <p:txBody>
          <a:bodyPr/>
          <a:lstStyle/>
          <a:p>
            <a:r>
              <a:rPr lang="en-US" dirty="0"/>
              <a:t>Master and Transaction File </a:t>
            </a:r>
            <a:r>
              <a:rPr lang="en-US" dirty="0" smtClean="0"/>
              <a:t>Processing </a:t>
            </a:r>
            <a:r>
              <a:rPr lang="en-US" sz="1200" dirty="0" smtClean="0"/>
              <a:t>(</a:t>
            </a:r>
            <a:r>
              <a:rPr lang="en-US" sz="1200" dirty="0" smtClean="0"/>
              <a:t>continued -6)</a:t>
            </a:r>
            <a:endParaRPr lang="en-US" sz="1200" dirty="0" smtClean="0"/>
          </a:p>
        </p:txBody>
      </p:sp>
      <p:pic>
        <p:nvPicPr>
          <p:cNvPr id="4" name="Picture 3" descr="Update the master file record’s masterTotal field only if the&#10;transaction record field transCustNum contains an exact match for the customer number&#10;in the master file record. Therefore,  compare masterCustNum from the master file and transCustNum from the transaction file." title="The updateRecords module for the master-transaction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9020" y="275645"/>
            <a:ext cx="4488858" cy="6080705"/>
          </a:xfrm>
          <a:prstGeom prst="rect">
            <a:avLst/>
          </a:prstGeom>
        </p:spPr>
      </p:pic>
      <p:sp>
        <p:nvSpPr>
          <p:cNvPr id="5" name="Slide Number Placeholder 4"/>
          <p:cNvSpPr>
            <a:spLocks noGrp="1"/>
          </p:cNvSpPr>
          <p:nvPr>
            <p:ph type="sldNum" sz="quarter" idx="10"/>
          </p:nvPr>
        </p:nvSpPr>
        <p:spPr/>
        <p:txBody>
          <a:bodyPr/>
          <a:lstStyle/>
          <a:p>
            <a:pPr>
              <a:defRPr/>
            </a:pPr>
            <a:fld id="{59272525-3831-405D-96AB-561C576A3D69}" type="slidenum">
              <a:rPr lang="en-US"/>
              <a:pPr>
                <a:defRPr/>
              </a:pPr>
              <a:t>42</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9010728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Master and Transaction File </a:t>
            </a:r>
            <a:r>
              <a:rPr lang="en-US" dirty="0" smtClean="0"/>
              <a:t>Processing </a:t>
            </a:r>
            <a:r>
              <a:rPr lang="en-US" sz="1200" dirty="0" smtClean="0"/>
              <a:t>(</a:t>
            </a:r>
            <a:r>
              <a:rPr lang="en-US" sz="1200" dirty="0" smtClean="0"/>
              <a:t>continued -7)</a:t>
            </a:r>
            <a:endParaRPr lang="en-US" sz="1200" dirty="0" smtClean="0"/>
          </a:p>
        </p:txBody>
      </p:sp>
      <p:pic>
        <p:nvPicPr>
          <p:cNvPr id="4" name="Picture 3" descr="One file contains the master file data and the other file is the transaction file data used to update the master file information." title="Sample data for the file-matching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9400" y="2286000"/>
            <a:ext cx="6045199" cy="3048000"/>
          </a:xfrm>
          <a:prstGeom prst="rect">
            <a:avLst/>
          </a:prstGeom>
        </p:spPr>
      </p:pic>
      <p:sp>
        <p:nvSpPr>
          <p:cNvPr id="5" name="Slide Number Placeholder 4"/>
          <p:cNvSpPr>
            <a:spLocks noGrp="1"/>
          </p:cNvSpPr>
          <p:nvPr>
            <p:ph type="sldNum" sz="quarter" idx="10"/>
          </p:nvPr>
        </p:nvSpPr>
        <p:spPr/>
        <p:txBody>
          <a:bodyPr/>
          <a:lstStyle/>
          <a:p>
            <a:pPr>
              <a:defRPr/>
            </a:pPr>
            <a:fld id="{3BA96C55-7721-461F-9096-C1AC28E903C0}" type="slidenum">
              <a:rPr lang="en-US"/>
              <a:pPr>
                <a:defRPr/>
              </a:pPr>
              <a:t>43</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3987754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Master and Transaction File </a:t>
            </a:r>
            <a:r>
              <a:rPr lang="en-US" dirty="0" smtClean="0"/>
              <a:t>Processing </a:t>
            </a:r>
            <a:r>
              <a:rPr lang="en-US" sz="1200" dirty="0" smtClean="0"/>
              <a:t>(</a:t>
            </a:r>
            <a:r>
              <a:rPr lang="en-US" sz="1200" dirty="0" smtClean="0"/>
              <a:t>continued -8)</a:t>
            </a:r>
            <a:endParaRPr lang="en-US" sz="1200" dirty="0" smtClean="0"/>
          </a:p>
        </p:txBody>
      </p:sp>
      <p:pic>
        <p:nvPicPr>
          <p:cNvPr id="4" name="Picture 3" descr="After all the files are closed, the&#10;updated master customer file contains all the customer records it originally contained, and each holds a current total based on the recent group of transactions." title="The finishUp module for the master-transaction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2946" y="2022354"/>
            <a:ext cx="5258107" cy="3729279"/>
          </a:xfrm>
          <a:prstGeom prst="rect">
            <a:avLst/>
          </a:prstGeom>
        </p:spPr>
      </p:pic>
      <p:sp>
        <p:nvSpPr>
          <p:cNvPr id="5" name="Slide Number Placeholder 4"/>
          <p:cNvSpPr>
            <a:spLocks noGrp="1"/>
          </p:cNvSpPr>
          <p:nvPr>
            <p:ph type="sldNum" sz="quarter" idx="10"/>
          </p:nvPr>
        </p:nvSpPr>
        <p:spPr/>
        <p:txBody>
          <a:bodyPr/>
          <a:lstStyle/>
          <a:p>
            <a:pPr>
              <a:defRPr/>
            </a:pPr>
            <a:fld id="{3BA96C55-7721-461F-9096-C1AC28E903C0}" type="slidenum">
              <a:rPr lang="en-US"/>
              <a:pPr>
                <a:defRPr/>
              </a:pPr>
              <a:t>44</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9360483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Random Access Files</a:t>
            </a:r>
          </a:p>
        </p:txBody>
      </p:sp>
      <p:sp>
        <p:nvSpPr>
          <p:cNvPr id="36867" name="Content Placeholder 2"/>
          <p:cNvSpPr>
            <a:spLocks noGrp="1"/>
          </p:cNvSpPr>
          <p:nvPr>
            <p:ph idx="1"/>
          </p:nvPr>
        </p:nvSpPr>
        <p:spPr>
          <a:xfrm>
            <a:off x="533400" y="1447800"/>
            <a:ext cx="8077200" cy="4572000"/>
          </a:xfrm>
        </p:spPr>
        <p:txBody>
          <a:bodyPr/>
          <a:lstStyle/>
          <a:p>
            <a:r>
              <a:rPr lang="en-US" b="1" dirty="0"/>
              <a:t>Batch processing</a:t>
            </a:r>
          </a:p>
          <a:p>
            <a:pPr lvl="1"/>
            <a:r>
              <a:rPr lang="en-US" dirty="0"/>
              <a:t>Involves performing the same tasks with many records, one after the other</a:t>
            </a:r>
          </a:p>
          <a:p>
            <a:pPr lvl="1"/>
            <a:r>
              <a:rPr lang="en-US" dirty="0"/>
              <a:t>Uses sequential files</a:t>
            </a:r>
          </a:p>
          <a:p>
            <a:r>
              <a:rPr lang="en-US" b="1" dirty="0"/>
              <a:t>Real-time </a:t>
            </a:r>
            <a:r>
              <a:rPr lang="en-US" dirty="0"/>
              <a:t>applications</a:t>
            </a:r>
          </a:p>
          <a:p>
            <a:pPr lvl="1"/>
            <a:r>
              <a:rPr lang="en-US" dirty="0"/>
              <a:t>Require that a record be accessed immediately while a client is waiting</a:t>
            </a:r>
          </a:p>
          <a:p>
            <a:r>
              <a:rPr lang="en-US" b="1" dirty="0"/>
              <a:t>Interactive program</a:t>
            </a:r>
          </a:p>
          <a:p>
            <a:pPr lvl="1"/>
            <a:r>
              <a:rPr lang="en-US" dirty="0" smtClean="0"/>
              <a:t>A program </a:t>
            </a:r>
            <a:r>
              <a:rPr lang="en-US" dirty="0"/>
              <a:t>in which the user makes direct requests</a:t>
            </a:r>
          </a:p>
        </p:txBody>
      </p:sp>
      <p:sp>
        <p:nvSpPr>
          <p:cNvPr id="5" name="Slide Number Placeholder 4"/>
          <p:cNvSpPr>
            <a:spLocks noGrp="1"/>
          </p:cNvSpPr>
          <p:nvPr>
            <p:ph type="sldNum" sz="quarter" idx="10"/>
          </p:nvPr>
        </p:nvSpPr>
        <p:spPr/>
        <p:txBody>
          <a:bodyPr/>
          <a:lstStyle/>
          <a:p>
            <a:pPr>
              <a:defRPr/>
            </a:pPr>
            <a:fld id="{5C3D2E04-714F-47A5-BC42-FA6773DA248C}" type="slidenum">
              <a:rPr lang="en-US"/>
              <a:pPr>
                <a:defRPr/>
              </a:pPr>
              <a:t>45</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Random Access Files </a:t>
            </a:r>
            <a:r>
              <a:rPr lang="en-US" sz="1200" dirty="0" smtClean="0"/>
              <a:t>(</a:t>
            </a:r>
            <a:r>
              <a:rPr lang="en-US" sz="1200" dirty="0" smtClean="0"/>
              <a:t>continued -1)</a:t>
            </a:r>
            <a:endParaRPr lang="en-US" sz="1200" dirty="0" smtClean="0"/>
          </a:p>
        </p:txBody>
      </p:sp>
      <p:sp>
        <p:nvSpPr>
          <p:cNvPr id="36867" name="Content Placeholder 2"/>
          <p:cNvSpPr>
            <a:spLocks noGrp="1"/>
          </p:cNvSpPr>
          <p:nvPr>
            <p:ph idx="1"/>
          </p:nvPr>
        </p:nvSpPr>
        <p:spPr>
          <a:xfrm>
            <a:off x="533400" y="1447800"/>
            <a:ext cx="8077200" cy="4572000"/>
          </a:xfrm>
        </p:spPr>
        <p:txBody>
          <a:bodyPr/>
          <a:lstStyle/>
          <a:p>
            <a:r>
              <a:rPr lang="en-US" b="1" dirty="0"/>
              <a:t>Random access files</a:t>
            </a:r>
          </a:p>
          <a:p>
            <a:pPr lvl="1"/>
            <a:r>
              <a:rPr lang="en-US" dirty="0"/>
              <a:t>Records can be </a:t>
            </a:r>
            <a:r>
              <a:rPr lang="en-US" dirty="0" smtClean="0"/>
              <a:t>physically located </a:t>
            </a:r>
            <a:r>
              <a:rPr lang="en-US" dirty="0"/>
              <a:t>in any order</a:t>
            </a:r>
          </a:p>
          <a:p>
            <a:pPr lvl="1"/>
            <a:r>
              <a:rPr lang="en-US" b="1" dirty="0"/>
              <a:t>Instant access </a:t>
            </a:r>
            <a:r>
              <a:rPr lang="en-US" b="1" dirty="0" smtClean="0"/>
              <a:t>files</a:t>
            </a:r>
          </a:p>
          <a:p>
            <a:pPr lvl="2"/>
            <a:r>
              <a:rPr lang="en-US" sz="2200" dirty="0"/>
              <a:t>Files in which records must be accessed </a:t>
            </a:r>
            <a:r>
              <a:rPr lang="en-US" sz="2200" dirty="0" smtClean="0"/>
              <a:t>immediately</a:t>
            </a:r>
          </a:p>
          <a:p>
            <a:pPr lvl="1"/>
            <a:r>
              <a:rPr lang="en-US" dirty="0" smtClean="0"/>
              <a:t>Also </a:t>
            </a:r>
            <a:r>
              <a:rPr lang="en-US" dirty="0" smtClean="0"/>
              <a:t>known as </a:t>
            </a:r>
            <a:r>
              <a:rPr lang="en-US" b="1" dirty="0" smtClean="0"/>
              <a:t>direct </a:t>
            </a:r>
            <a:r>
              <a:rPr lang="en-US" b="1" dirty="0"/>
              <a:t>access </a:t>
            </a:r>
            <a:r>
              <a:rPr lang="en-US" b="1" dirty="0" smtClean="0"/>
              <a:t>files</a:t>
            </a:r>
            <a:endParaRPr lang="en-US" b="1" dirty="0"/>
          </a:p>
        </p:txBody>
      </p:sp>
      <p:sp>
        <p:nvSpPr>
          <p:cNvPr id="5" name="Slide Number Placeholder 4"/>
          <p:cNvSpPr>
            <a:spLocks noGrp="1"/>
          </p:cNvSpPr>
          <p:nvPr>
            <p:ph type="sldNum" sz="quarter" idx="10"/>
          </p:nvPr>
        </p:nvSpPr>
        <p:spPr/>
        <p:txBody>
          <a:bodyPr/>
          <a:lstStyle/>
          <a:p>
            <a:pPr>
              <a:defRPr/>
            </a:pPr>
            <a:fld id="{5C3D2E04-714F-47A5-BC42-FA6773DA248C}" type="slidenum">
              <a:rPr lang="en-US"/>
              <a:pPr>
                <a:defRPr/>
              </a:pPr>
              <a:t>46</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259763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dirty="0" smtClean="0"/>
              <a:t>Random Access Files </a:t>
            </a:r>
            <a:r>
              <a:rPr lang="en-US" sz="1200" dirty="0" smtClean="0"/>
              <a:t>(</a:t>
            </a:r>
            <a:r>
              <a:rPr lang="en-US" sz="1200" dirty="0" smtClean="0"/>
              <a:t>continued -2)</a:t>
            </a:r>
            <a:endParaRPr lang="en-US" sz="1200" dirty="0" smtClean="0"/>
          </a:p>
        </p:txBody>
      </p:sp>
      <p:pic>
        <p:nvPicPr>
          <p:cNvPr id="4" name="Picture 3" descr="Records ares accessed in sequential order when used for batch processing,&#10;For many applications, sequential access is inefficient. In real-time, interactive programs records need to be accessed randomly." title="Accessing a record in a sequential file and in a random access fil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5485" y="2362200"/>
            <a:ext cx="5690320" cy="2362200"/>
          </a:xfrm>
          <a:prstGeom prst="rect">
            <a:avLst/>
          </a:prstGeom>
        </p:spPr>
      </p:pic>
      <p:sp>
        <p:nvSpPr>
          <p:cNvPr id="5" name="Slide Number Placeholder 4"/>
          <p:cNvSpPr>
            <a:spLocks noGrp="1"/>
          </p:cNvSpPr>
          <p:nvPr>
            <p:ph type="sldNum" sz="quarter" idx="10"/>
          </p:nvPr>
        </p:nvSpPr>
        <p:spPr/>
        <p:txBody>
          <a:bodyPr/>
          <a:lstStyle/>
          <a:p>
            <a:pPr>
              <a:defRPr/>
            </a:pPr>
            <a:fld id="{5C3D2E04-714F-47A5-BC42-FA6773DA248C}" type="slidenum">
              <a:rPr lang="en-US"/>
              <a:pPr>
                <a:defRPr/>
              </a:pPr>
              <a:t>47</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213541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a:t>
            </a:r>
          </a:p>
        </p:txBody>
      </p:sp>
      <p:sp>
        <p:nvSpPr>
          <p:cNvPr id="50179" name="Content Placeholder 2"/>
          <p:cNvSpPr>
            <a:spLocks noGrp="1"/>
          </p:cNvSpPr>
          <p:nvPr>
            <p:ph idx="1"/>
          </p:nvPr>
        </p:nvSpPr>
        <p:spPr/>
        <p:txBody>
          <a:bodyPr/>
          <a:lstStyle/>
          <a:p>
            <a:r>
              <a:rPr lang="en-US" dirty="0"/>
              <a:t>Computer file</a:t>
            </a:r>
          </a:p>
          <a:p>
            <a:pPr lvl="1"/>
            <a:r>
              <a:rPr lang="en-US" dirty="0" smtClean="0"/>
              <a:t>A collection </a:t>
            </a:r>
            <a:r>
              <a:rPr lang="en-US" dirty="0"/>
              <a:t>of data stored on a nonvolatile device in a computer system</a:t>
            </a:r>
          </a:p>
          <a:p>
            <a:r>
              <a:rPr lang="en-US" dirty="0"/>
              <a:t>Data items are stored in a hierarchy</a:t>
            </a:r>
          </a:p>
          <a:p>
            <a:r>
              <a:rPr lang="en-US" dirty="0" smtClean="0"/>
              <a:t>To use </a:t>
            </a:r>
            <a:r>
              <a:rPr lang="en-US" dirty="0"/>
              <a:t>a data </a:t>
            </a:r>
            <a:r>
              <a:rPr lang="en-US" dirty="0" smtClean="0"/>
              <a:t>file you must declare</a:t>
            </a:r>
            <a:r>
              <a:rPr lang="en-US" dirty="0"/>
              <a:t>, open, read, write</a:t>
            </a:r>
            <a:r>
              <a:rPr lang="en-US" dirty="0" smtClean="0"/>
              <a:t>, and close the file</a:t>
            </a:r>
          </a:p>
          <a:p>
            <a:r>
              <a:rPr lang="en-US" dirty="0"/>
              <a:t>Sequential file: records </a:t>
            </a:r>
            <a:r>
              <a:rPr lang="en-US" dirty="0" smtClean="0"/>
              <a:t>stored one after another </a:t>
            </a:r>
            <a:r>
              <a:rPr lang="en-US" dirty="0"/>
              <a:t>in some </a:t>
            </a:r>
            <a:r>
              <a:rPr lang="en-US" dirty="0" smtClean="0"/>
              <a:t>order</a:t>
            </a:r>
            <a:endParaRPr lang="en-US" dirty="0"/>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48</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a:t>Summary </a:t>
            </a:r>
            <a:r>
              <a:rPr lang="en-US" sz="1200" dirty="0"/>
              <a:t>(</a:t>
            </a:r>
            <a:r>
              <a:rPr lang="en-US" sz="1200" dirty="0" smtClean="0"/>
              <a:t>continued -1)</a:t>
            </a:r>
            <a:endParaRPr lang="en-US" sz="1200" dirty="0" smtClean="0"/>
          </a:p>
        </p:txBody>
      </p:sp>
      <p:sp>
        <p:nvSpPr>
          <p:cNvPr id="50179" name="Content Placeholder 2"/>
          <p:cNvSpPr>
            <a:spLocks noGrp="1"/>
          </p:cNvSpPr>
          <p:nvPr>
            <p:ph idx="1"/>
          </p:nvPr>
        </p:nvSpPr>
        <p:spPr/>
        <p:txBody>
          <a:bodyPr/>
          <a:lstStyle/>
          <a:p>
            <a:r>
              <a:rPr lang="en-US" dirty="0"/>
              <a:t>Control break program reads a sorted sequential file and performs special processing based on a change in one or more fields in each record in the file</a:t>
            </a:r>
          </a:p>
          <a:p>
            <a:r>
              <a:rPr lang="en-US" dirty="0" smtClean="0"/>
              <a:t>Merging </a:t>
            </a:r>
            <a:r>
              <a:rPr lang="en-US" dirty="0" smtClean="0"/>
              <a:t>files combines two or more files</a:t>
            </a:r>
          </a:p>
          <a:p>
            <a:pPr lvl="1"/>
            <a:r>
              <a:rPr lang="en-US" dirty="0" smtClean="0"/>
              <a:t>Maintains the same sequential </a:t>
            </a:r>
            <a:r>
              <a:rPr lang="en-US" dirty="0" smtClean="0"/>
              <a:t>order</a:t>
            </a:r>
          </a:p>
          <a:p>
            <a:r>
              <a:rPr lang="en-US" dirty="0"/>
              <a:t>Master files</a:t>
            </a:r>
          </a:p>
          <a:p>
            <a:pPr lvl="1"/>
            <a:r>
              <a:rPr lang="en-US" dirty="0"/>
              <a:t>Hold permanent data</a:t>
            </a:r>
          </a:p>
          <a:p>
            <a:pPr lvl="1"/>
            <a:r>
              <a:rPr lang="en-US" dirty="0"/>
              <a:t>Updated by transaction files</a:t>
            </a:r>
          </a:p>
          <a:p>
            <a:pPr marL="57150" indent="0">
              <a:buNone/>
            </a:pPr>
            <a:endParaRPr lang="en-US" dirty="0"/>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49</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4130758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a:t>Summary </a:t>
            </a:r>
            <a:r>
              <a:rPr lang="en-US" sz="1200" dirty="0"/>
              <a:t>(</a:t>
            </a:r>
            <a:r>
              <a:rPr lang="en-US" sz="1200" dirty="0" smtClean="0"/>
              <a:t>continued -2)</a:t>
            </a:r>
            <a:endParaRPr lang="en-US" sz="1200" dirty="0" smtClean="0"/>
          </a:p>
        </p:txBody>
      </p:sp>
      <p:sp>
        <p:nvSpPr>
          <p:cNvPr id="50179" name="Content Placeholder 2"/>
          <p:cNvSpPr>
            <a:spLocks noGrp="1"/>
          </p:cNvSpPr>
          <p:nvPr>
            <p:ph idx="1"/>
          </p:nvPr>
        </p:nvSpPr>
        <p:spPr/>
        <p:txBody>
          <a:bodyPr/>
          <a:lstStyle/>
          <a:p>
            <a:r>
              <a:rPr lang="en-US" dirty="0" smtClean="0"/>
              <a:t>Master </a:t>
            </a:r>
            <a:r>
              <a:rPr lang="en-US" dirty="0" smtClean="0"/>
              <a:t>files</a:t>
            </a:r>
            <a:endParaRPr lang="en-US" dirty="0"/>
          </a:p>
          <a:p>
            <a:pPr lvl="1"/>
            <a:r>
              <a:rPr lang="en-US" dirty="0" smtClean="0"/>
              <a:t>Hold </a:t>
            </a:r>
            <a:r>
              <a:rPr lang="en-US" dirty="0" smtClean="0"/>
              <a:t>relatively permanent </a:t>
            </a:r>
            <a:r>
              <a:rPr lang="en-US" dirty="0" smtClean="0"/>
              <a:t>data</a:t>
            </a:r>
          </a:p>
          <a:p>
            <a:pPr lvl="1"/>
            <a:r>
              <a:rPr lang="en-US" dirty="0" smtClean="0"/>
              <a:t>Updated by transaction files</a:t>
            </a:r>
            <a:endParaRPr lang="en-US" dirty="0"/>
          </a:p>
          <a:p>
            <a:r>
              <a:rPr lang="en-US" dirty="0" smtClean="0"/>
              <a:t>Real-time applications</a:t>
            </a:r>
            <a:endParaRPr lang="en-US" dirty="0"/>
          </a:p>
          <a:p>
            <a:pPr lvl="1"/>
            <a:r>
              <a:rPr lang="en-US" dirty="0" smtClean="0"/>
              <a:t>Require random access </a:t>
            </a:r>
            <a:r>
              <a:rPr lang="en-US" dirty="0" smtClean="0"/>
              <a:t>files where records can be located in </a:t>
            </a:r>
            <a:r>
              <a:rPr lang="en-US" dirty="0" smtClean="0"/>
              <a:t>any order</a:t>
            </a:r>
          </a:p>
          <a:p>
            <a:r>
              <a:rPr lang="en-US" dirty="0" smtClean="0"/>
              <a:t>Instant access files and direct access files are files </a:t>
            </a:r>
            <a:r>
              <a:rPr lang="en-US" dirty="0" smtClean="0"/>
              <a:t>in which records must be </a:t>
            </a:r>
            <a:r>
              <a:rPr lang="en-US" dirty="0" smtClean="0"/>
              <a:t>accessed </a:t>
            </a:r>
            <a:r>
              <a:rPr lang="en-US" dirty="0" smtClean="0"/>
              <a:t>immediately</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50</a:t>
            </a:fld>
            <a:endParaRPr lang="en-US" dirty="0"/>
          </a:p>
        </p:txBody>
      </p:sp>
      <p:sp>
        <p:nvSpPr>
          <p:cNvPr id="6" name="Footer Placeholder 5"/>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60233196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Farrell_P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1874</Words>
  <Application>Microsoft Office PowerPoint</Application>
  <PresentationFormat>On-screen Show (4:3)</PresentationFormat>
  <Paragraphs>341</Paragraphs>
  <Slides>50</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Courier New</vt:lpstr>
      <vt:lpstr>New York</vt:lpstr>
      <vt:lpstr>Times New Roman</vt:lpstr>
      <vt:lpstr>1_Farrell_PLD</vt:lpstr>
      <vt:lpstr>Programming Logic and Design Ninth Edition</vt:lpstr>
      <vt:lpstr>Objectives</vt:lpstr>
      <vt:lpstr>Understanding Computer Files</vt:lpstr>
      <vt:lpstr>Understanding Computer Files (continued -1)</vt:lpstr>
      <vt:lpstr>Understanding Computer Files (continued -2)</vt:lpstr>
      <vt:lpstr>Understanding Computer Files (continued -3)</vt:lpstr>
      <vt:lpstr>Understanding Computer Files (continued -4)</vt:lpstr>
      <vt:lpstr>Understanding the Data Hierarchy</vt:lpstr>
      <vt:lpstr>Understanding the Data Hierarchy (continued)</vt:lpstr>
      <vt:lpstr>Performing File Operations</vt:lpstr>
      <vt:lpstr>Performing File Operations (continued -1)</vt:lpstr>
      <vt:lpstr>Performing File Operations (continued -2)</vt:lpstr>
      <vt:lpstr>Performing File Operations (continued -3)</vt:lpstr>
      <vt:lpstr>Performing File Operations (continued -4)</vt:lpstr>
      <vt:lpstr>Performing File Operations (continued -5)</vt:lpstr>
      <vt:lpstr>A Program that Performs File Operations</vt:lpstr>
      <vt:lpstr>A Program that Performs File Operations (continued -1)</vt:lpstr>
      <vt:lpstr>A Program that Performs File Operations (continued -2)</vt:lpstr>
      <vt:lpstr>Understanding Control Break Logic</vt:lpstr>
      <vt:lpstr>Understanding Control Break Logic (continued -1)</vt:lpstr>
      <vt:lpstr>Understanding Control Break Logic (continued -2)</vt:lpstr>
      <vt:lpstr>Understanding Control Break Logic (continued -3)</vt:lpstr>
      <vt:lpstr>Understanding Control Break Logic (continued -4)</vt:lpstr>
      <vt:lpstr>Understanding Control Break Logic (continued -5)</vt:lpstr>
      <vt:lpstr>Understanding Control Break Logic (continued -6)</vt:lpstr>
      <vt:lpstr>Merging Sequential Files</vt:lpstr>
      <vt:lpstr>Merging Sequential Files (continued -1)</vt:lpstr>
      <vt:lpstr>Merging Sequential Files (continued -2)</vt:lpstr>
      <vt:lpstr>Merging Sequential Files (continued -3)</vt:lpstr>
      <vt:lpstr>Merging Sequential Files (continued -4)</vt:lpstr>
      <vt:lpstr>Merging Sequential Files (continued -5)</vt:lpstr>
      <vt:lpstr>Merging Sequential Files (continued -6)</vt:lpstr>
      <vt:lpstr>Merging Sequential Files (continued -7)</vt:lpstr>
      <vt:lpstr>Merging Sequential Files (continued -8)</vt:lpstr>
      <vt:lpstr>Merging Sequential Files (continued -9)</vt:lpstr>
      <vt:lpstr>Master and Transaction File Processing</vt:lpstr>
      <vt:lpstr>Master and Transaction File Processing (continued -1)</vt:lpstr>
      <vt:lpstr>Master and Transaction File Processing (continued -2)</vt:lpstr>
      <vt:lpstr>Master and Transaction File Processing (continued -3)</vt:lpstr>
      <vt:lpstr>Master and Transaction File Processing (continued -4)</vt:lpstr>
      <vt:lpstr>Master and Transaction File Processing (continued -5)</vt:lpstr>
      <vt:lpstr>Master and Transaction File Processing (continued -6)</vt:lpstr>
      <vt:lpstr>Master and Transaction File Processing (continued -7)</vt:lpstr>
      <vt:lpstr>Master and Transaction File Processing (continued -8)</vt:lpstr>
      <vt:lpstr>Random Access Files</vt:lpstr>
      <vt:lpstr>Random Access Files (continued -1)</vt:lpstr>
      <vt:lpstr>Random Access Files (continued -2)</vt:lpstr>
      <vt:lpstr>Summary</vt:lpstr>
      <vt:lpstr>Summary (continued -1)</vt:lpstr>
      <vt:lpstr>Summary (continued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1006</cp:revision>
  <dcterms:created xsi:type="dcterms:W3CDTF">2002-09-27T23:29:22Z</dcterms:created>
  <dcterms:modified xsi:type="dcterms:W3CDTF">2016-10-30T22:53:36Z</dcterms:modified>
</cp:coreProperties>
</file>